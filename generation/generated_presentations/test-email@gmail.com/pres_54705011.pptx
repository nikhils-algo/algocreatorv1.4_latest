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RightCornerCurveDarkGray"/>
          <p:cNvSpPr/>
          <p:nvPr/>
        </p:nvSpPr>
        <p:spPr>
          <a:xfrm>
            <a:off x="0" y="0"/>
            <a:ext cx="12188952" cy="6858000"/>
          </a:xfrm>
          <a:custGeom>
            <a:avLst/>
            <a:pathLst>
              <a:path w="12188952" h="6858000">
                <a:moveTo>
                  <a:pt x="10360609" y="0"/>
                </a:moveTo>
                <a:cubicBezTo>
                  <a:pt x="10970056" y="2057400"/>
                  <a:pt x="11579504" y="4114800"/>
                  <a:pt x="10360609" y="6858000"/>
                </a:cubicBez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gradFill rotWithShape="1">
            <a:gsLst>
              <a:gs pos="0">
                <a:srgbClr val="444444"/>
              </a:gs>
              <a:gs pos="100000">
                <a:srgbClr val="1C1C1C"/>
              </a:gs>
            </a:gsLst>
            <a:lin ang="2700000" scaled="1"/>
          </a:gradFill>
          <a:ln w="0"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ightCornerCurveDarkGray"/>
          <p:cNvSpPr/>
          <p:nvPr/>
        </p:nvSpPr>
        <p:spPr>
          <a:xfrm>
            <a:off x="0" y="0"/>
            <a:ext cx="12188952" cy="6858000"/>
          </a:xfrm>
          <a:custGeom>
            <a:avLst/>
            <a:pathLst>
              <a:path w="12188952" h="6858000">
                <a:moveTo>
                  <a:pt x="10360609" y="0"/>
                </a:moveTo>
                <a:cubicBezTo>
                  <a:pt x="10970056" y="2057400"/>
                  <a:pt x="11579504" y="4114800"/>
                  <a:pt x="10360609" y="6858000"/>
                </a:cubicBez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gradFill rotWithShape="1">
            <a:gsLst>
              <a:gs pos="0">
                <a:srgbClr val="444444"/>
              </a:gs>
              <a:gs pos="100000">
                <a:srgbClr val="1C1C1C"/>
              </a:gs>
            </a:gsLst>
            <a:lin ang="2700000" scaled="1"/>
          </a:gradFill>
          <a:ln w="0">
            <a:noFill/>
          </a:ln>
        </p:spPr>
      </p:sp>
      <p:sp>
        <p:nvSpPr>
          <p:cNvPr id="6" name="TextBox 5"/>
          <p:cNvSpPr txBox="1"/>
          <p:nvPr/>
        </p:nvSpPr>
        <p:spPr>
          <a:xfrm>
            <a:off x="914400" y="0"/>
            <a:ext cx="10360152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Unlocking Business Potential with Agentic AI and AI Agents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ightCornerCurveDarkGray"/>
          <p:cNvSpPr/>
          <p:nvPr/>
        </p:nvSpPr>
        <p:spPr>
          <a:xfrm>
            <a:off x="0" y="0"/>
            <a:ext cx="12188952" cy="6858000"/>
          </a:xfrm>
          <a:custGeom>
            <a:avLst/>
            <a:pathLst>
              <a:path w="12188952" h="6858000">
                <a:moveTo>
                  <a:pt x="10360609" y="0"/>
                </a:moveTo>
                <a:cubicBezTo>
                  <a:pt x="10970056" y="2057400"/>
                  <a:pt x="11579504" y="4114800"/>
                  <a:pt x="10360609" y="6858000"/>
                </a:cubicBez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gradFill rotWithShape="1">
            <a:gsLst>
              <a:gs pos="0">
                <a:srgbClr val="444444"/>
              </a:gs>
              <a:gs pos="100000">
                <a:srgbClr val="1C1C1C"/>
              </a:gs>
            </a:gsLst>
            <a:lin ang="2700000" scaled="1"/>
          </a:gradFill>
          <a:ln w="0">
            <a:noFill/>
          </a:ln>
        </p:spPr>
      </p:sp>
      <p:sp>
        <p:nvSpPr>
          <p:cNvPr id="6" name="TextBox 5"/>
          <p:cNvSpPr txBox="1"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Calibri"/>
              </a:defRPr>
            </a:pPr>
            <a:r>
              <a:t>Introduction to Agentic 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48840"/>
            <a:ext cx="2498415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Agentic AI leverages advanced algorithms to create intelligent agents capable of autonomous decision-making.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2815" y="2148840"/>
            <a:ext cx="2498415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Focuses on implementing 11 distinct Agentic Patterns to enhance operational efficiency.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520440"/>
            <a:ext cx="2498415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Supports various industries by automating processes and improving user interactions.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34190" y="2240280"/>
            <a:ext cx="4087709" cy="2377440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lide_033_img_002_2444c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5630" y="2331720"/>
            <a:ext cx="3904829" cy="219456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ightCornerCurveDarkGray"/>
          <p:cNvSpPr/>
          <p:nvPr/>
        </p:nvSpPr>
        <p:spPr>
          <a:xfrm>
            <a:off x="0" y="0"/>
            <a:ext cx="12188952" cy="6858000"/>
          </a:xfrm>
          <a:custGeom>
            <a:avLst/>
            <a:pathLst>
              <a:path w="12188952" h="6858000">
                <a:moveTo>
                  <a:pt x="10360609" y="0"/>
                </a:moveTo>
                <a:cubicBezTo>
                  <a:pt x="10970056" y="2057400"/>
                  <a:pt x="11579504" y="4114800"/>
                  <a:pt x="10360609" y="6858000"/>
                </a:cubicBez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gradFill rotWithShape="1">
            <a:gsLst>
              <a:gs pos="0">
                <a:srgbClr val="444444"/>
              </a:gs>
              <a:gs pos="100000">
                <a:srgbClr val="1C1C1C"/>
              </a:gs>
            </a:gsLst>
            <a:lin ang="2700000" scaled="1"/>
          </a:gradFill>
          <a:ln w="0">
            <a:noFill/>
          </a:ln>
        </p:spPr>
      </p:sp>
      <p:sp>
        <p:nvSpPr>
          <p:cNvPr id="6" name="TextBox 5"/>
          <p:cNvSpPr txBox="1"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Calibri"/>
              </a:defRPr>
            </a:pPr>
            <a:r>
              <a:t>Key Features of Agentic 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29081" y="2148840"/>
            <a:ext cx="2681295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Adaptive Processing: Dynamic workflow optimization to enhance productivity.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93256" y="2148840"/>
            <a:ext cx="2681295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Multi-Agent Collaboration: Seamless interaction between specialized agents for complex tasks.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29081" y="3520440"/>
            <a:ext cx="2681295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Intelligent Routing: Smart query distribution to ensure optimal agent selection.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408467"/>
            <a:ext cx="4814681" cy="2041065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lide_018_img_001_446e7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499907"/>
            <a:ext cx="4631801" cy="185818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ightCornerCurveDarkGray"/>
          <p:cNvSpPr/>
          <p:nvPr/>
        </p:nvSpPr>
        <p:spPr>
          <a:xfrm>
            <a:off x="0" y="0"/>
            <a:ext cx="12188952" cy="6858000"/>
          </a:xfrm>
          <a:custGeom>
            <a:avLst/>
            <a:pathLst>
              <a:path w="12188952" h="6858000">
                <a:moveTo>
                  <a:pt x="10360609" y="0"/>
                </a:moveTo>
                <a:cubicBezTo>
                  <a:pt x="10970056" y="2057400"/>
                  <a:pt x="11579504" y="4114800"/>
                  <a:pt x="10360609" y="6858000"/>
                </a:cubicBez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gradFill rotWithShape="1">
            <a:gsLst>
              <a:gs pos="0">
                <a:srgbClr val="444444"/>
              </a:gs>
              <a:gs pos="100000">
                <a:srgbClr val="1C1C1C"/>
              </a:gs>
            </a:gsLst>
            <a:lin ang="2700000" scaled="1"/>
          </a:gradFill>
          <a:ln w="0">
            <a:noFill/>
          </a:ln>
        </p:spPr>
      </p:sp>
      <p:sp>
        <p:nvSpPr>
          <p:cNvPr id="6" name="TextBox 5"/>
          <p:cNvSpPr txBox="1"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Calibri"/>
              </a:defRPr>
            </a:pPr>
            <a:r>
              <a:t>The 11 Agentic Patterns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48840"/>
            <a:ext cx="2498415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Passive and Proactive Goal Creators to align agent actions with business objectives.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2815" y="2148840"/>
            <a:ext cx="2498415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Prompt/Response Optimizer and Retrieval-Augmented Generation (RAG) for enhanced information retrieval.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520440"/>
            <a:ext cx="2498415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Human Reflection and Multimodal Guardrails to ensure user-centric design and safety.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34190" y="2240280"/>
            <a:ext cx="2949455" cy="2377440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lide_005_img_000_d6e59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5630" y="2331720"/>
            <a:ext cx="2766575" cy="219456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ightCornerCurveDarkGray"/>
          <p:cNvSpPr/>
          <p:nvPr/>
        </p:nvSpPr>
        <p:spPr>
          <a:xfrm>
            <a:off x="0" y="0"/>
            <a:ext cx="12188952" cy="6858000"/>
          </a:xfrm>
          <a:custGeom>
            <a:avLst/>
            <a:pathLst>
              <a:path w="12188952" h="6858000">
                <a:moveTo>
                  <a:pt x="10360609" y="0"/>
                </a:moveTo>
                <a:cubicBezTo>
                  <a:pt x="10970056" y="2057400"/>
                  <a:pt x="11579504" y="4114800"/>
                  <a:pt x="10360609" y="6858000"/>
                </a:cubicBez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gradFill rotWithShape="1">
            <a:gsLst>
              <a:gs pos="0">
                <a:srgbClr val="444444"/>
              </a:gs>
              <a:gs pos="100000">
                <a:srgbClr val="1C1C1C"/>
              </a:gs>
            </a:gsLst>
            <a:lin ang="2700000" scaled="1"/>
          </a:gradFill>
          <a:ln w="0">
            <a:noFill/>
          </a:ln>
        </p:spPr>
      </p:sp>
      <p:sp>
        <p:nvSpPr>
          <p:cNvPr id="6" name="TextBox 5"/>
          <p:cNvSpPr txBox="1"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Calibri"/>
              </a:defRPr>
            </a:pPr>
            <a:r>
              <a:t>Implementation Strategy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29081" y="2148840"/>
            <a:ext cx="2681295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Phased implementation over three months, focusing on research and practical applications.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93256" y="2148840"/>
            <a:ext cx="2681295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Utilization of the Dify platform for deploying individual agents and multi-agent systems.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29081" y="3520440"/>
            <a:ext cx="2681295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Integration of all agents into a single user interface for streamlined operations.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240280"/>
            <a:ext cx="3869884" cy="2377440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lide_020_img_000_304ba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331720"/>
            <a:ext cx="3687004" cy="219456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ightCornerCurveDarkGray"/>
          <p:cNvSpPr/>
          <p:nvPr/>
        </p:nvSpPr>
        <p:spPr>
          <a:xfrm>
            <a:off x="0" y="0"/>
            <a:ext cx="12188952" cy="6858000"/>
          </a:xfrm>
          <a:custGeom>
            <a:avLst/>
            <a:pathLst>
              <a:path w="12188952" h="6858000">
                <a:moveTo>
                  <a:pt x="10360609" y="0"/>
                </a:moveTo>
                <a:cubicBezTo>
                  <a:pt x="10970056" y="2057400"/>
                  <a:pt x="11579504" y="4114800"/>
                  <a:pt x="10360609" y="6858000"/>
                </a:cubicBez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gradFill rotWithShape="1">
            <a:gsLst>
              <a:gs pos="0">
                <a:srgbClr val="444444"/>
              </a:gs>
              <a:gs pos="100000">
                <a:srgbClr val="1C1C1C"/>
              </a:gs>
            </a:gsLst>
            <a:lin ang="2700000" scaled="1"/>
          </a:gradFill>
          <a:ln w="0">
            <a:noFill/>
          </a:ln>
        </p:spPr>
      </p:sp>
      <p:sp>
        <p:nvSpPr>
          <p:cNvPr id="6" name="TextBox 5"/>
          <p:cNvSpPr txBox="1"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Calibri"/>
              </a:defRPr>
            </a:pPr>
            <a:r>
              <a:t>Business Value of Agentic 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48840"/>
            <a:ext cx="2498415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Increases operational efficiency by automating routine tasks and decision-making.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2815" y="2148840"/>
            <a:ext cx="2498415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Enhances customer engagement through personalized interactions and timely responses.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520440"/>
            <a:ext cx="2498415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Facilitates data-driven insights for strategic decision-making and market analysis.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34190" y="2240280"/>
            <a:ext cx="4084320" cy="2377440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lide_023_img_000_274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5630" y="2331720"/>
            <a:ext cx="3901440" cy="219456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ightCornerCurveDarkGray"/>
          <p:cNvSpPr/>
          <p:nvPr/>
        </p:nvSpPr>
        <p:spPr>
          <a:xfrm>
            <a:off x="0" y="0"/>
            <a:ext cx="12188952" cy="6858000"/>
          </a:xfrm>
          <a:custGeom>
            <a:avLst/>
            <a:pathLst>
              <a:path w="12188952" h="6858000">
                <a:moveTo>
                  <a:pt x="10360609" y="0"/>
                </a:moveTo>
                <a:cubicBezTo>
                  <a:pt x="10970056" y="2057400"/>
                  <a:pt x="11579504" y="4114800"/>
                  <a:pt x="10360609" y="6858000"/>
                </a:cubicBez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gradFill rotWithShape="1">
            <a:gsLst>
              <a:gs pos="0">
                <a:srgbClr val="444444"/>
              </a:gs>
              <a:gs pos="100000">
                <a:srgbClr val="1C1C1C"/>
              </a:gs>
            </a:gsLst>
            <a:lin ang="2700000" scaled="1"/>
          </a:gradFill>
          <a:ln w="0">
            <a:noFill/>
          </a:ln>
        </p:spPr>
      </p:sp>
      <p:sp>
        <p:nvSpPr>
          <p:cNvPr id="6" name="TextBox 5"/>
          <p:cNvSpPr txBox="1"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Calibri"/>
              </a:defRPr>
            </a:pPr>
            <a:r>
              <a:t>Practical Applications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29081" y="2148840"/>
            <a:ext cx="2681295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Market Research Assistant: Multi-agent collaboration for comprehensive data analysis.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93256" y="2148840"/>
            <a:ext cx="2681295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Customer Support: AI agents providing 24/7 assistance and query resolution.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29081" y="3520440"/>
            <a:ext cx="2681295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Sales Optimization: Automated lead generation and follow-up processes.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240280"/>
            <a:ext cx="4641301" cy="2377440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lide_033_img_003_9fc32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331720"/>
            <a:ext cx="4458421" cy="219456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ightCornerCurveDarkGray"/>
          <p:cNvSpPr/>
          <p:nvPr/>
        </p:nvSpPr>
        <p:spPr>
          <a:xfrm>
            <a:off x="0" y="0"/>
            <a:ext cx="12188952" cy="6858000"/>
          </a:xfrm>
          <a:custGeom>
            <a:avLst/>
            <a:pathLst>
              <a:path w="12188952" h="6858000">
                <a:moveTo>
                  <a:pt x="10360609" y="0"/>
                </a:moveTo>
                <a:cubicBezTo>
                  <a:pt x="10970056" y="2057400"/>
                  <a:pt x="11579504" y="4114800"/>
                  <a:pt x="10360609" y="6858000"/>
                </a:cubicBez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gradFill rotWithShape="1">
            <a:gsLst>
              <a:gs pos="0">
                <a:srgbClr val="444444"/>
              </a:gs>
              <a:gs pos="100000">
                <a:srgbClr val="1C1C1C"/>
              </a:gs>
            </a:gsLst>
            <a:lin ang="2700000" scaled="1"/>
          </a:gradFill>
          <a:ln w="0">
            <a:noFill/>
          </a:ln>
        </p:spPr>
      </p:sp>
      <p:sp>
        <p:nvSpPr>
          <p:cNvPr id="6" name="TextBox 5"/>
          <p:cNvSpPr txBox="1"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Calibri"/>
              </a:defRPr>
            </a:pPr>
            <a:r>
              <a:t>Case Studies and Success Stories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48840"/>
            <a:ext cx="2498415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Showcase of successful implementations across various sectors, including finance and retail.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2815" y="2148840"/>
            <a:ext cx="2498415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Demonstrated ROI through increased efficiency and reduced operational costs.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520440"/>
            <a:ext cx="2498415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Testimonials from clients highlighting improved customer satisfaction and engagement.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34190" y="2240280"/>
            <a:ext cx="1538343" cy="2377440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lide_008_img_008_3f750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5630" y="2331720"/>
            <a:ext cx="1355463" cy="219456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ightCornerCurveDarkGray"/>
          <p:cNvSpPr/>
          <p:nvPr/>
        </p:nvSpPr>
        <p:spPr>
          <a:xfrm>
            <a:off x="0" y="0"/>
            <a:ext cx="12188952" cy="6858000"/>
          </a:xfrm>
          <a:custGeom>
            <a:avLst/>
            <a:pathLst>
              <a:path w="12188952" h="6858000">
                <a:moveTo>
                  <a:pt x="10360609" y="0"/>
                </a:moveTo>
                <a:cubicBezTo>
                  <a:pt x="10970056" y="2057400"/>
                  <a:pt x="11579504" y="4114800"/>
                  <a:pt x="10360609" y="6858000"/>
                </a:cubicBez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gradFill rotWithShape="1">
            <a:gsLst>
              <a:gs pos="0">
                <a:srgbClr val="444444"/>
              </a:gs>
              <a:gs pos="100000">
                <a:srgbClr val="1C1C1C"/>
              </a:gs>
            </a:gsLst>
            <a:lin ang="2700000" scaled="1"/>
          </a:gradFill>
          <a:ln w="0">
            <a:noFill/>
          </a:ln>
        </p:spPr>
      </p:sp>
      <p:sp>
        <p:nvSpPr>
          <p:cNvPr id="6" name="TextBox 5"/>
          <p:cNvSpPr txBox="1"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Calibri"/>
              </a:defRPr>
            </a:pPr>
            <a:r>
              <a:t>Future of Agentic 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29081" y="2148840"/>
            <a:ext cx="2681295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Ongoing research and development to refine agent capabilities and expand use cases.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93256" y="2148840"/>
            <a:ext cx="2681295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Potential for integration with emerging technologies like IoT and blockchain.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29081" y="3520440"/>
            <a:ext cx="2681295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Vision for a fully autonomous agent ecosystem that adapts to business needs.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240280"/>
            <a:ext cx="3559682" cy="2377440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lide_031_img_000_0ef4d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331720"/>
            <a:ext cx="3376802" cy="219456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ightCornerCurveDarkGray"/>
          <p:cNvSpPr/>
          <p:nvPr/>
        </p:nvSpPr>
        <p:spPr>
          <a:xfrm>
            <a:off x="0" y="0"/>
            <a:ext cx="12188952" cy="6858000"/>
          </a:xfrm>
          <a:custGeom>
            <a:avLst/>
            <a:pathLst>
              <a:path w="12188952" h="6858000">
                <a:moveTo>
                  <a:pt x="10360609" y="0"/>
                </a:moveTo>
                <a:cubicBezTo>
                  <a:pt x="10970056" y="2057400"/>
                  <a:pt x="11579504" y="4114800"/>
                  <a:pt x="10360609" y="6858000"/>
                </a:cubicBez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gradFill rotWithShape="1">
            <a:gsLst>
              <a:gs pos="0">
                <a:srgbClr val="444444"/>
              </a:gs>
              <a:gs pos="100000">
                <a:srgbClr val="1C1C1C"/>
              </a:gs>
            </a:gsLst>
            <a:lin ang="2700000" scaled="1"/>
          </a:gradFill>
          <a:ln w="0">
            <a:noFill/>
          </a:ln>
        </p:spPr>
      </p:sp>
      <p:sp>
        <p:nvSpPr>
          <p:cNvPr id="6" name="TextBox 5"/>
          <p:cNvSpPr txBox="1"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Calibri"/>
              </a:defRPr>
            </a:pPr>
            <a:r>
              <a:t>Call to 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48840"/>
            <a:ext cx="2498415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Explore how Agentic AI can transform your business operations.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2815" y="2148840"/>
            <a:ext cx="2498415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Schedule a consultation to discuss tailored solutions for your organization.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520440"/>
            <a:ext cx="2498415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Join the forefront of AI innovation and drive your business to new heights.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34190" y="2240280"/>
            <a:ext cx="1752523" cy="2377440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lide_009_img_000_c707d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5630" y="2331720"/>
            <a:ext cx="1569643" cy="219456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