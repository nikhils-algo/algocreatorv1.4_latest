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828800" y="914400"/>
            <a:ext cx="1097280" cy="1097280"/>
          </a:xfrm>
          <a:prstGeom prst="ellipse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0" y="1371600"/>
            <a:ext cx="1097280" cy="1097280"/>
          </a:xfrm>
          <a:prstGeom prst="ellipse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0" y="1828800"/>
            <a:ext cx="1097280" cy="1097280"/>
          </a:xfrm>
          <a:prstGeom prst="ellipse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12745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212529"/>
                </a:solidFill>
                <a:latin typeface="Segoe UI"/>
              </a:defRPr>
            </a:pPr>
            <a:r>
              <a:t>Intro to Autonomy of Cars and GPU Units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114800"/>
            <a:ext cx="85313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0066CC"/>
                </a:solidFill>
                <a:latin typeface="Segoe UI"/>
              </a:defRPr>
            </a:pPr>
            <a:r>
              <a:t>Advanced AI Solutions for Manufacturing Excellence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6126480"/>
            <a:ext cx="6702552" cy="2743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212529"/>
                </a:solidFill>
                <a:latin typeface="Segoe UI"/>
              </a:defRPr>
            </a:pPr>
            <a:r>
              <a:t>The Evolution of GPUs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4875580" cy="47548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15660" y="1188720"/>
            <a:ext cx="6521043" cy="4754880"/>
          </a:xfrm>
          <a:prstGeom prst="rect">
            <a:avLst/>
          </a:prstGeom>
          <a:solidFill>
            <a:srgbClr val="F8F9FA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g_test-email@gmail.com_session_6984e846_52f9ec21_unit0_img3_0c65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828800"/>
            <a:ext cx="3778300" cy="2743200"/>
          </a:xfrm>
          <a:prstGeom prst="rect">
            <a:avLst/>
          </a:prstGeom>
          <a:ln w="25400">
            <a:solidFill>
              <a:srgbClr val="0066CC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789980" y="1645920"/>
            <a:ext cx="5972403" cy="3840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t>• Transitioned from specialized graphics rendering to general-purpose parallel processing.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t>• Optimized architecture for massive parallelism enhances efficiency in data-intensive tasks.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t>• Core strength lies in thousands of smaller cores designed for throughput, unlike CPUs focused on latency.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C757D"/>
                </a:solidFill>
                <a:latin typeface="Segoe UI"/>
              </a:defRPr>
            </a:pPr>
            <a:r>
              <a:t>2/8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212529"/>
                </a:solidFill>
                <a:latin typeface="Segoe UI"/>
              </a:defRPr>
            </a:pPr>
            <a:r>
              <a:t>Business Value of GPUs in AI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4875580" cy="47548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15660" y="1188720"/>
            <a:ext cx="6521043" cy="4754880"/>
          </a:xfrm>
          <a:prstGeom prst="rect">
            <a:avLst/>
          </a:prstGeom>
          <a:solidFill>
            <a:srgbClr val="F8F9FA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lide_033_img_002_2444c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828800"/>
            <a:ext cx="3778300" cy="2743200"/>
          </a:xfrm>
          <a:prstGeom prst="rect">
            <a:avLst/>
          </a:prstGeom>
          <a:ln w="25400">
            <a:solidFill>
              <a:srgbClr val="0066CC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789980" y="1645920"/>
            <a:ext cx="5972403" cy="3840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t>• Accelerates time-to-discovery in complex computational science, enhancing accessibility.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t>• Provides energy-efficient performance critical for large-scale AI and deep learning applications.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t>• Essential for real-time data processing, driving technological innovation across sectors.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C757D"/>
                </a:solidFill>
                <a:latin typeface="Segoe UI"/>
              </a:defRPr>
            </a:pPr>
            <a:r>
              <a:t>3/8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212529"/>
                </a:solidFill>
                <a:latin typeface="Segoe UI"/>
              </a:defRPr>
            </a:pPr>
            <a:r>
              <a:t>Autonomous Vehicles: A Disruptive Technology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4875580" cy="47548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15660" y="1188720"/>
            <a:ext cx="6521043" cy="4754880"/>
          </a:xfrm>
          <a:prstGeom prst="rect">
            <a:avLst/>
          </a:prstGeom>
          <a:solidFill>
            <a:srgbClr val="F8F9FA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g_test-email@gmail.com_session_64d84ab4_186c528d_unit0_img3_148a0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828800"/>
            <a:ext cx="3778300" cy="2743200"/>
          </a:xfrm>
          <a:prstGeom prst="rect">
            <a:avLst/>
          </a:prstGeom>
          <a:ln w="25400">
            <a:solidFill>
              <a:srgbClr val="0066CC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789980" y="1645920"/>
            <a:ext cx="5972403" cy="3840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t>• Promises reduced traffic congestion and optimized fuel efficiency through advanced algorithms.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t>• Significantly decreases accident rates by minimizing human error in driving.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t>• Challenges include navigating complex environments and addressing ethical and legal considerations.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C757D"/>
                </a:solidFill>
                <a:latin typeface="Segoe UI"/>
              </a:defRPr>
            </a:pPr>
            <a:r>
              <a:t>4/8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212529"/>
                </a:solidFill>
                <a:latin typeface="Segoe UI"/>
              </a:defRPr>
            </a:pPr>
            <a:r>
              <a:t>Sensor Fusion and Perception in AVs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4875580" cy="47548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15660" y="1188720"/>
            <a:ext cx="6521043" cy="4754880"/>
          </a:xfrm>
          <a:prstGeom prst="rect">
            <a:avLst/>
          </a:prstGeom>
          <a:solidFill>
            <a:srgbClr val="F8F9FA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g_test-email@gmail.com_session_64d84ab4_186c528d_unit0_img0_5f12a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828800"/>
            <a:ext cx="3778300" cy="2743200"/>
          </a:xfrm>
          <a:prstGeom prst="rect">
            <a:avLst/>
          </a:prstGeom>
          <a:ln w="25400">
            <a:solidFill>
              <a:srgbClr val="0066CC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789980" y="1645920"/>
            <a:ext cx="5972403" cy="3840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t>• Foundation of self-driving systems relies on advanced sensors like LiDAR, radar, and cameras.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t>• Accurate environmental perception is critical for safe navigation and decision-making.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t>• Integration of sensor data enhances reliability and performance in varied driving conditions.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C757D"/>
                </a:solidFill>
                <a:latin typeface="Segoe UI"/>
              </a:defRPr>
            </a:pPr>
            <a:r>
              <a:t>5/8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212529"/>
                </a:solidFill>
                <a:latin typeface="Segoe UI"/>
              </a:defRPr>
            </a:pPr>
            <a:r>
              <a:t>GPU Architecture and Deep Learning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4875580" cy="47548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15660" y="1188720"/>
            <a:ext cx="6521043" cy="4754880"/>
          </a:xfrm>
          <a:prstGeom prst="rect">
            <a:avLst/>
          </a:prstGeom>
          <a:solidFill>
            <a:srgbClr val="F8F9FA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g_test-email@gmail.com_session_6984e846_52f9ec21_unit0_img0_1490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828800"/>
            <a:ext cx="3778300" cy="2743200"/>
          </a:xfrm>
          <a:prstGeom prst="rect">
            <a:avLst/>
          </a:prstGeom>
          <a:ln w="25400">
            <a:solidFill>
              <a:srgbClr val="0066CC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789980" y="1645920"/>
            <a:ext cx="5972403" cy="3840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t>• Modern GPUs include Tensor Cores optimized for low-precision matrix operations in deep learning.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t>• High core density and high-bandwidth memory support rapid model training and optimization.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t>• Critical for training large neural networks used in autonomous systems and AI applications.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C757D"/>
                </a:solidFill>
                <a:latin typeface="Segoe UI"/>
              </a:defRPr>
            </a:pPr>
            <a:r>
              <a:t>6/8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212529"/>
                </a:solidFill>
                <a:latin typeface="Segoe UI"/>
              </a:defRPr>
            </a:pPr>
            <a:r>
              <a:t>The Role of GPUs in High-Performance Computing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4875580" cy="47548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15660" y="1188720"/>
            <a:ext cx="6521043" cy="4754880"/>
          </a:xfrm>
          <a:prstGeom prst="rect">
            <a:avLst/>
          </a:prstGeom>
          <a:solidFill>
            <a:srgbClr val="F8F9FA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lide_024_img_000_d9978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828800"/>
            <a:ext cx="3778300" cy="2743200"/>
          </a:xfrm>
          <a:prstGeom prst="rect">
            <a:avLst/>
          </a:prstGeom>
          <a:ln w="25400">
            <a:solidFill>
              <a:srgbClr val="0066CC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789980" y="1645920"/>
            <a:ext cx="5972403" cy="3840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t>• Facilitates General-Purpose computing on Graphics Processing Units (GPGPU) for simulations.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t>• Enables modeling of complex phenomena across various scientific fields, enhancing research capabilities.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t>• Parallel architecture allows for unprecedented scales and resolutions in computational tasks.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C757D"/>
                </a:solidFill>
                <a:latin typeface="Segoe UI"/>
              </a:defRPr>
            </a:pPr>
            <a:r>
              <a:t>7/8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212529"/>
                </a:solidFill>
                <a:latin typeface="Segoe UI"/>
              </a:defRPr>
            </a:pPr>
            <a:r>
              <a:t>Conclusion: The Future of Autonomous Vehicles and GPUs</a:t>
            </a:r>
          </a:p>
        </p:txBody>
      </p:sp>
      <p:sp>
        <p:nvSpPr>
          <p:cNvPr id="3" name="Rectangle 2"/>
          <p:cNvSpPr/>
          <p:nvPr/>
        </p:nvSpPr>
        <p:spPr>
          <a:xfrm>
            <a:off x="1522476" y="1371600"/>
            <a:ext cx="9144000" cy="4572000"/>
          </a:xfrm>
          <a:prstGeom prst="rect">
            <a:avLst/>
          </a:prstGeom>
          <a:solidFill>
            <a:srgbClr val="F8F9FA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53996" y="1645920"/>
            <a:ext cx="7680960" cy="4023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212529"/>
                </a:solidFill>
                <a:latin typeface="Segoe UI"/>
              </a:defRPr>
            </a:pPr>
            <a:r>
              <a:t>• The synergy between GPUs and autonomous vehicle technology is pivotal for future advancements.</a:t>
            </a:r>
          </a:p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212529"/>
                </a:solidFill>
                <a:latin typeface="Segoe UI"/>
              </a:defRPr>
            </a:pPr>
            <a:r>
              <a:t>• Continued innovation in GPU architecture will support the evolving demands of AI and AVs.</a:t>
            </a:r>
          </a:p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212529"/>
                </a:solidFill>
                <a:latin typeface="Segoe UI"/>
              </a:defRPr>
            </a:pPr>
            <a:r>
              <a:t>• Strategic investment in these technologies is essential for maintaining competitive advantage in the market.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C757D"/>
                </a:solidFill>
                <a:latin typeface="Segoe UI"/>
              </a:defRPr>
            </a:pPr>
            <a:r>
              <a:t>8/8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