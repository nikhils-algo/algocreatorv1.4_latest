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21212"/>
        </a:solidFill>
        <a:effectLst/>
      </p:bgPr>
    </p:bg>
    <p:spTree>
      <p:nvGrpSpPr>
        <p:cNvPr id="1" name=""/>
        <p:cNvGrpSpPr/>
        <p:nvPr/>
      </p:nvGrpSpPr>
      <p:grpSpPr/>
      <p:sp>
        <p:nvSpPr>
          <p:cNvPr id="2" name="Oval 1"/>
          <p:cNvSpPr/>
          <p:nvPr/>
        </p:nvSpPr>
        <p:spPr>
          <a:xfrm>
            <a:off x="1828800" y="914400"/>
            <a:ext cx="1097280" cy="1097280"/>
          </a:xfrm>
          <a:prstGeom prst="ellipse">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4572000" y="1371600"/>
            <a:ext cx="1097280" cy="1097280"/>
          </a:xfrm>
          <a:prstGeom prst="ellipse">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315200" y="1828800"/>
            <a:ext cx="1097280" cy="1097280"/>
          </a:xfrm>
          <a:prstGeom prst="ellipse">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10360152" cy="1371600"/>
          </a:xfrm>
          <a:prstGeom prst="rect">
            <a:avLst/>
          </a:prstGeom>
          <a:noFill/>
        </p:spPr>
        <p:txBody>
          <a:bodyPr wrap="none">
            <a:spAutoFit/>
          </a:bodyPr>
          <a:lstStyle/>
          <a:p>
            <a:pPr algn="ctr">
              <a:defRPr sz="4400" b="1">
                <a:solidFill>
                  <a:srgbClr val="FFFFFF"/>
                </a:solidFill>
                <a:latin typeface="Segoe UI"/>
              </a:defRPr>
            </a:pPr>
            <a:r>
              <a:t>Unlocking Investment Potential with Algofabric</a:t>
            </a:r>
          </a:p>
        </p:txBody>
      </p:sp>
      <p:sp>
        <p:nvSpPr>
          <p:cNvPr id="6" name="TextBox 5"/>
          <p:cNvSpPr txBox="1"/>
          <p:nvPr/>
        </p:nvSpPr>
        <p:spPr>
          <a:xfrm>
            <a:off x="1828800" y="3474720"/>
            <a:ext cx="8531352" cy="731520"/>
          </a:xfrm>
          <a:prstGeom prst="rect">
            <a:avLst/>
          </a:prstGeom>
          <a:noFill/>
        </p:spPr>
        <p:txBody>
          <a:bodyPr wrap="none">
            <a:spAutoFit/>
          </a:bodyPr>
          <a:lstStyle/>
          <a:p>
            <a:pPr algn="ctr">
              <a:defRPr sz="2000">
                <a:solidFill>
                  <a:srgbClr val="0096FF"/>
                </a:solidFill>
                <a:latin typeface="Segoe UI"/>
              </a:defRPr>
            </a:pPr>
            <a:r>
              <a:t>Advanced AI Solutions for Manufacturing Excellence</a:t>
            </a:r>
          </a:p>
        </p:txBody>
      </p:sp>
      <p:sp>
        <p:nvSpPr>
          <p:cNvPr id="7" name="Rectangle 6"/>
          <p:cNvSpPr/>
          <p:nvPr/>
        </p:nvSpPr>
        <p:spPr>
          <a:xfrm>
            <a:off x="2743200" y="6126480"/>
            <a:ext cx="6702552" cy="27432"/>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21212"/>
        </a:solidFill>
        <a:effectLst/>
      </p:bgPr>
    </p:bg>
    <p:spTree>
      <p:nvGrpSpPr>
        <p:cNvPr id="1" name=""/>
        <p:cNvGrpSpPr/>
        <p:nvPr/>
      </p:nvGrpSpPr>
      <p:grpSpPr/>
      <p:sp>
        <p:nvSpPr>
          <p:cNvPr id="2" name="TextBox 1"/>
          <p:cNvSpPr txBox="1"/>
          <p:nvPr/>
        </p:nvSpPr>
        <p:spPr>
          <a:xfrm>
            <a:off x="457200" y="274320"/>
            <a:ext cx="11274552" cy="731520"/>
          </a:xfrm>
          <a:prstGeom prst="rect">
            <a:avLst/>
          </a:prstGeom>
          <a:noFill/>
        </p:spPr>
        <p:txBody>
          <a:bodyPr wrap="none">
            <a:spAutoFit/>
          </a:bodyPr>
          <a:lstStyle/>
          <a:p>
            <a:pPr algn="ctr">
              <a:defRPr sz="2800" b="1">
                <a:solidFill>
                  <a:srgbClr val="FFFFFF"/>
                </a:solidFill>
                <a:latin typeface="Segoe UI"/>
              </a:defRPr>
            </a:pPr>
            <a:r>
              <a:t>Overview of Algofabric</a:t>
            </a:r>
          </a:p>
        </p:txBody>
      </p:sp>
      <p:sp>
        <p:nvSpPr>
          <p:cNvPr id="3" name="Rectangle 2"/>
          <p:cNvSpPr/>
          <p:nvPr/>
        </p:nvSpPr>
        <p:spPr>
          <a:xfrm>
            <a:off x="457200" y="1188720"/>
            <a:ext cx="5485028" cy="4754880"/>
          </a:xfrm>
          <a:prstGeom prst="rect">
            <a:avLst/>
          </a:prstGeom>
          <a:solidFill>
            <a:srgbClr val="1919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216548" y="1188720"/>
            <a:ext cx="6094476" cy="4754880"/>
          </a:xfrm>
          <a:prstGeom prst="rect">
            <a:avLst/>
          </a:prstGeom>
          <a:solidFill>
            <a:srgbClr val="1E1E1E"/>
          </a:solidFill>
          <a:ln w="25400">
            <a:solidFill>
              <a:srgbClr val="009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lide_001_img_001_309538.png"/>
          <p:cNvPicPr>
            <a:picLocks noChangeAspect="1"/>
          </p:cNvPicPr>
          <p:nvPr/>
        </p:nvPicPr>
        <p:blipFill>
          <a:blip r:embed="rId2"/>
          <a:stretch>
            <a:fillRect/>
          </a:stretch>
        </p:blipFill>
        <p:spPr>
          <a:xfrm>
            <a:off x="914400" y="1645920"/>
            <a:ext cx="4570628" cy="3200400"/>
          </a:xfrm>
          <a:prstGeom prst="rect">
            <a:avLst/>
          </a:prstGeom>
        </p:spPr>
      </p:pic>
      <p:sp>
        <p:nvSpPr>
          <p:cNvPr id="6" name="TextBox 5"/>
          <p:cNvSpPr txBox="1"/>
          <p:nvPr/>
        </p:nvSpPr>
        <p:spPr>
          <a:xfrm>
            <a:off x="914400" y="4937760"/>
            <a:ext cx="3657600" cy="274320"/>
          </a:xfrm>
          <a:prstGeom prst="rect">
            <a:avLst/>
          </a:prstGeom>
          <a:noFill/>
        </p:spPr>
        <p:txBody>
          <a:bodyPr wrap="none">
            <a:spAutoFit/>
          </a:bodyPr>
          <a:lstStyle/>
          <a:p>
            <a:pPr algn="ctr">
              <a:defRPr sz="1100" i="1">
                <a:solidFill>
                  <a:srgbClr val="B4B4B4"/>
                </a:solidFill>
                <a:latin typeface="Segoe UI"/>
              </a:defRPr>
            </a:pPr>
            <a:r>
              <a:t>This is a digital dashboard interface for AlgoFabric, showcasing stock market data. It includes sections for price changes, open and close prices of various stocks, and trending news articles. Key elements include stock tickers, percentage changes, and news summaries related to</a:t>
            </a:r>
          </a:p>
        </p:txBody>
      </p:sp>
      <p:sp>
        <p:nvSpPr>
          <p:cNvPr id="7" name="TextBox 6"/>
          <p:cNvSpPr txBox="1"/>
          <p:nvPr/>
        </p:nvSpPr>
        <p:spPr>
          <a:xfrm>
            <a:off x="6582308" y="1645920"/>
            <a:ext cx="5362956" cy="3840480"/>
          </a:xfrm>
          <a:prstGeom prst="rect">
            <a:avLst/>
          </a:prstGeom>
          <a:noFill/>
        </p:spPr>
        <p:txBody>
          <a:bodyPr wrap="square">
            <a:spAutoFit/>
          </a:bodyPr>
          <a:lstStyle/>
          <a:p>
            <a:pPr>
              <a:lnSpc>
                <a:spcPct val="140000"/>
              </a:lnSpc>
              <a:spcAft>
                <a:spcPts val="1200"/>
              </a:spcAft>
              <a:defRPr sz="1600">
                <a:solidFill>
                  <a:srgbClr val="FFFFFF"/>
                </a:solidFill>
                <a:latin typeface="Segoe UI"/>
              </a:defRPr>
            </a:pPr>
            <a:r>
              <a:t>▸ • AI-powered fintech solution designed for stock market investors.</a:t>
            </a:r>
          </a:p>
          <a:p>
            <a:pPr>
              <a:lnSpc>
                <a:spcPct val="140000"/>
              </a:lnSpc>
              <a:spcAft>
                <a:spcPts val="1200"/>
              </a:spcAft>
              <a:defRPr sz="1600">
                <a:solidFill>
                  <a:srgbClr val="FFFFFF"/>
                </a:solidFill>
                <a:latin typeface="Segoe UI"/>
              </a:defRPr>
            </a:pPr>
            <a:r>
              <a:t>▸ • Generates actionable recommendations based on comprehensive data analysis.</a:t>
            </a:r>
          </a:p>
          <a:p>
            <a:pPr>
              <a:lnSpc>
                <a:spcPct val="140000"/>
              </a:lnSpc>
              <a:spcAft>
                <a:spcPts val="1200"/>
              </a:spcAft>
              <a:defRPr sz="1600">
                <a:solidFill>
                  <a:srgbClr val="FFFFFF"/>
                </a:solidFill>
                <a:latin typeface="Segoe UI"/>
              </a:defRPr>
            </a:pPr>
            <a:r>
              <a:t>▸ • Utilizes advanced algorithms to enhance stock selection and portfolio management.</a:t>
            </a:r>
          </a:p>
        </p:txBody>
      </p:sp>
      <p:sp>
        <p:nvSpPr>
          <p:cNvPr id="8" name="Rounded Rectangle 7"/>
          <p:cNvSpPr/>
          <p:nvPr/>
        </p:nvSpPr>
        <p:spPr>
          <a:xfrm>
            <a:off x="10543032" y="6400800"/>
            <a:ext cx="1188720" cy="320040"/>
          </a:xfrm>
          <a:prstGeom prst="roundRect">
            <a:avLst/>
          </a:prstGeom>
          <a:solidFill>
            <a:srgbClr val="282828"/>
          </a:solidFill>
          <a:ln w="12700">
            <a:solidFill>
              <a:srgbClr val="3C3C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43032" y="6400800"/>
            <a:ext cx="1188720" cy="320040"/>
          </a:xfrm>
          <a:prstGeom prst="rect">
            <a:avLst/>
          </a:prstGeom>
          <a:noFill/>
        </p:spPr>
        <p:txBody>
          <a:bodyPr wrap="none">
            <a:spAutoFit/>
          </a:bodyPr>
          <a:lstStyle/>
          <a:p>
            <a:pPr algn="ctr">
              <a:defRPr sz="1200">
                <a:solidFill>
                  <a:srgbClr val="B4B4B4"/>
                </a:solidFill>
                <a:latin typeface="Segoe UI"/>
              </a:defRPr>
            </a:pPr>
            <a:r>
              <a:t>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21212"/>
        </a:solidFill>
        <a:effectLst/>
      </p:bgPr>
    </p:bg>
    <p:spTree>
      <p:nvGrpSpPr>
        <p:cNvPr id="1" name=""/>
        <p:cNvGrpSpPr/>
        <p:nvPr/>
      </p:nvGrpSpPr>
      <p:grpSpPr/>
      <p:sp>
        <p:nvSpPr>
          <p:cNvPr id="2" name="TextBox 1"/>
          <p:cNvSpPr txBox="1"/>
          <p:nvPr/>
        </p:nvSpPr>
        <p:spPr>
          <a:xfrm>
            <a:off x="457200" y="274320"/>
            <a:ext cx="11274552" cy="731520"/>
          </a:xfrm>
          <a:prstGeom prst="rect">
            <a:avLst/>
          </a:prstGeom>
          <a:noFill/>
        </p:spPr>
        <p:txBody>
          <a:bodyPr wrap="none">
            <a:spAutoFit/>
          </a:bodyPr>
          <a:lstStyle/>
          <a:p>
            <a:pPr algn="ctr">
              <a:defRPr sz="2800" b="1">
                <a:solidFill>
                  <a:srgbClr val="FFFFFF"/>
                </a:solidFill>
                <a:latin typeface="Segoe UI"/>
              </a:defRPr>
            </a:pPr>
            <a:r>
              <a:t>Key Features of Algofabric</a:t>
            </a:r>
          </a:p>
        </p:txBody>
      </p:sp>
      <p:sp>
        <p:nvSpPr>
          <p:cNvPr id="3" name="Rectangle 2"/>
          <p:cNvSpPr/>
          <p:nvPr/>
        </p:nvSpPr>
        <p:spPr>
          <a:xfrm>
            <a:off x="457200" y="1188720"/>
            <a:ext cx="5485028" cy="4754880"/>
          </a:xfrm>
          <a:prstGeom prst="rect">
            <a:avLst/>
          </a:prstGeom>
          <a:solidFill>
            <a:srgbClr val="1919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216548" y="1188720"/>
            <a:ext cx="6094476" cy="4754880"/>
          </a:xfrm>
          <a:prstGeom prst="rect">
            <a:avLst/>
          </a:prstGeom>
          <a:solidFill>
            <a:srgbClr val="1E1E1E"/>
          </a:solidFill>
          <a:ln w="25400">
            <a:solidFill>
              <a:srgbClr val="009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lide_002_img_000_e79cb2.png"/>
          <p:cNvPicPr>
            <a:picLocks noChangeAspect="1"/>
          </p:cNvPicPr>
          <p:nvPr/>
        </p:nvPicPr>
        <p:blipFill>
          <a:blip r:embed="rId2"/>
          <a:stretch>
            <a:fillRect/>
          </a:stretch>
        </p:blipFill>
        <p:spPr>
          <a:xfrm>
            <a:off x="914400" y="1645920"/>
            <a:ext cx="4570628" cy="3200400"/>
          </a:xfrm>
          <a:prstGeom prst="rect">
            <a:avLst/>
          </a:prstGeom>
        </p:spPr>
      </p:pic>
      <p:sp>
        <p:nvSpPr>
          <p:cNvPr id="6" name="TextBox 5"/>
          <p:cNvSpPr txBox="1"/>
          <p:nvPr/>
        </p:nvSpPr>
        <p:spPr>
          <a:xfrm>
            <a:off x="914400" y="4937760"/>
            <a:ext cx="3657600" cy="274320"/>
          </a:xfrm>
          <a:prstGeom prst="rect">
            <a:avLst/>
          </a:prstGeom>
          <a:noFill/>
        </p:spPr>
        <p:txBody>
          <a:bodyPr wrap="none">
            <a:spAutoFit/>
          </a:bodyPr>
          <a:lstStyle/>
          <a:p>
            <a:pPr algn="ctr">
              <a:defRPr sz="1100" i="1">
                <a:solidFill>
                  <a:srgbClr val="B4B4B4"/>
                </a:solidFill>
                <a:latin typeface="Segoe UI"/>
              </a:defRPr>
            </a:pPr>
            <a:r>
              <a:t>This is a screenshot of a dashboard interface for monitoring tasks in the AlgoFabric application. It features a user greeting, task definitions, and metrics displayed in tabular and graphical formats. Key elements include a log of news entries, a bar chart comparing news</a:t>
            </a:r>
          </a:p>
        </p:txBody>
      </p:sp>
      <p:sp>
        <p:nvSpPr>
          <p:cNvPr id="7" name="TextBox 6"/>
          <p:cNvSpPr txBox="1"/>
          <p:nvPr/>
        </p:nvSpPr>
        <p:spPr>
          <a:xfrm>
            <a:off x="6582308" y="1645920"/>
            <a:ext cx="5362956" cy="3840480"/>
          </a:xfrm>
          <a:prstGeom prst="rect">
            <a:avLst/>
          </a:prstGeom>
          <a:noFill/>
        </p:spPr>
        <p:txBody>
          <a:bodyPr wrap="square">
            <a:spAutoFit/>
          </a:bodyPr>
          <a:lstStyle/>
          <a:p>
            <a:pPr>
              <a:lnSpc>
                <a:spcPct val="140000"/>
              </a:lnSpc>
              <a:spcAft>
                <a:spcPts val="1200"/>
              </a:spcAft>
              <a:defRPr sz="1600">
                <a:solidFill>
                  <a:srgbClr val="FFFFFF"/>
                </a:solidFill>
                <a:latin typeface="Segoe UI"/>
              </a:defRPr>
            </a:pPr>
            <a:r>
              <a:t>▸ • Real-time performance monitoring dashboard for backend tasks.</a:t>
            </a:r>
          </a:p>
          <a:p>
            <a:pPr>
              <a:lnSpc>
                <a:spcPct val="140000"/>
              </a:lnSpc>
              <a:spcAft>
                <a:spcPts val="1200"/>
              </a:spcAft>
              <a:defRPr sz="1600">
                <a:solidFill>
                  <a:srgbClr val="FFFFFF"/>
                </a:solidFill>
                <a:latin typeface="Segoe UI"/>
              </a:defRPr>
            </a:pPr>
            <a:r>
              <a:t>▸ • Insight generation from news articles using small language models (SLMs).</a:t>
            </a:r>
          </a:p>
          <a:p>
            <a:pPr>
              <a:lnSpc>
                <a:spcPct val="140000"/>
              </a:lnSpc>
              <a:spcAft>
                <a:spcPts val="1200"/>
              </a:spcAft>
              <a:defRPr sz="1600">
                <a:solidFill>
                  <a:srgbClr val="FFFFFF"/>
                </a:solidFill>
                <a:latin typeface="Segoe UI"/>
              </a:defRPr>
            </a:pPr>
            <a:r>
              <a:t>▸ • Portfolio expansion capabilities aligned with stock picking strategies.</a:t>
            </a:r>
          </a:p>
        </p:txBody>
      </p:sp>
      <p:sp>
        <p:nvSpPr>
          <p:cNvPr id="8" name="Rounded Rectangle 7"/>
          <p:cNvSpPr/>
          <p:nvPr/>
        </p:nvSpPr>
        <p:spPr>
          <a:xfrm>
            <a:off x="10543032" y="6400800"/>
            <a:ext cx="1188720" cy="320040"/>
          </a:xfrm>
          <a:prstGeom prst="roundRect">
            <a:avLst/>
          </a:prstGeom>
          <a:solidFill>
            <a:srgbClr val="282828"/>
          </a:solidFill>
          <a:ln w="12700">
            <a:solidFill>
              <a:srgbClr val="3C3C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43032" y="6400800"/>
            <a:ext cx="1188720" cy="320040"/>
          </a:xfrm>
          <a:prstGeom prst="rect">
            <a:avLst/>
          </a:prstGeom>
          <a:noFill/>
        </p:spPr>
        <p:txBody>
          <a:bodyPr wrap="none">
            <a:spAutoFit/>
          </a:bodyPr>
          <a:lstStyle/>
          <a:p>
            <a:pPr algn="ctr">
              <a:defRPr sz="1200">
                <a:solidFill>
                  <a:srgbClr val="B4B4B4"/>
                </a:solidFill>
                <a:latin typeface="Segoe UI"/>
              </a:defRPr>
            </a:pPr>
            <a:r>
              <a:t>3/6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21212"/>
        </a:solidFill>
        <a:effectLst/>
      </p:bgPr>
    </p:bg>
    <p:spTree>
      <p:nvGrpSpPr>
        <p:cNvPr id="1" name=""/>
        <p:cNvGrpSpPr/>
        <p:nvPr/>
      </p:nvGrpSpPr>
      <p:grpSpPr/>
      <p:sp>
        <p:nvSpPr>
          <p:cNvPr id="2" name="TextBox 1"/>
          <p:cNvSpPr txBox="1"/>
          <p:nvPr/>
        </p:nvSpPr>
        <p:spPr>
          <a:xfrm>
            <a:off x="457200" y="274320"/>
            <a:ext cx="11274552" cy="731520"/>
          </a:xfrm>
          <a:prstGeom prst="rect">
            <a:avLst/>
          </a:prstGeom>
          <a:noFill/>
        </p:spPr>
        <p:txBody>
          <a:bodyPr wrap="none">
            <a:spAutoFit/>
          </a:bodyPr>
          <a:lstStyle/>
          <a:p>
            <a:pPr algn="ctr">
              <a:defRPr sz="2800" b="1">
                <a:solidFill>
                  <a:srgbClr val="FFFFFF"/>
                </a:solidFill>
                <a:latin typeface="Segoe UI"/>
              </a:defRPr>
            </a:pPr>
            <a:r>
              <a:t>Investment Insights and Analytics</a:t>
            </a:r>
          </a:p>
        </p:txBody>
      </p:sp>
      <p:sp>
        <p:nvSpPr>
          <p:cNvPr id="3" name="Rectangle 2"/>
          <p:cNvSpPr/>
          <p:nvPr/>
        </p:nvSpPr>
        <p:spPr>
          <a:xfrm>
            <a:off x="457200" y="1188720"/>
            <a:ext cx="5485028" cy="4754880"/>
          </a:xfrm>
          <a:prstGeom prst="rect">
            <a:avLst/>
          </a:prstGeom>
          <a:solidFill>
            <a:srgbClr val="1919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216548" y="1188720"/>
            <a:ext cx="6094476" cy="4754880"/>
          </a:xfrm>
          <a:prstGeom prst="rect">
            <a:avLst/>
          </a:prstGeom>
          <a:solidFill>
            <a:srgbClr val="1E1E1E"/>
          </a:solidFill>
          <a:ln w="25400">
            <a:solidFill>
              <a:srgbClr val="009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lide_003_img_000_adecdb.png"/>
          <p:cNvPicPr>
            <a:picLocks noChangeAspect="1"/>
          </p:cNvPicPr>
          <p:nvPr/>
        </p:nvPicPr>
        <p:blipFill>
          <a:blip r:embed="rId2"/>
          <a:stretch>
            <a:fillRect/>
          </a:stretch>
        </p:blipFill>
        <p:spPr>
          <a:xfrm>
            <a:off x="914400" y="1645920"/>
            <a:ext cx="4570628" cy="3200400"/>
          </a:xfrm>
          <a:prstGeom prst="rect">
            <a:avLst/>
          </a:prstGeom>
        </p:spPr>
      </p:pic>
      <p:sp>
        <p:nvSpPr>
          <p:cNvPr id="6" name="TextBox 5"/>
          <p:cNvSpPr txBox="1"/>
          <p:nvPr/>
        </p:nvSpPr>
        <p:spPr>
          <a:xfrm>
            <a:off x="914400" y="4937760"/>
            <a:ext cx="3657600" cy="274320"/>
          </a:xfrm>
          <a:prstGeom prst="rect">
            <a:avLst/>
          </a:prstGeom>
          <a:noFill/>
        </p:spPr>
        <p:txBody>
          <a:bodyPr wrap="none">
            <a:spAutoFit/>
          </a:bodyPr>
          <a:lstStyle/>
          <a:p>
            <a:pPr algn="ctr">
              <a:defRPr sz="1100" i="1">
                <a:solidFill>
                  <a:srgbClr val="B4B4B4"/>
                </a:solidFill>
                <a:latin typeface="Segoe UI"/>
              </a:defRPr>
            </a:pPr>
            <a:r>
              <a:t>This is a diagram showcasing a fintech solution designed for stock market investors. It features sections on data sources, data ingestion, and visualization insights. Key elements include charts for sentiment analysis, candlestick patterns, and stock volume comparisons. Visible branding includes "N</a:t>
            </a:r>
          </a:p>
        </p:txBody>
      </p:sp>
      <p:sp>
        <p:nvSpPr>
          <p:cNvPr id="7" name="TextBox 6"/>
          <p:cNvSpPr txBox="1"/>
          <p:nvPr/>
        </p:nvSpPr>
        <p:spPr>
          <a:xfrm>
            <a:off x="6582308" y="1645920"/>
            <a:ext cx="5362956" cy="3840480"/>
          </a:xfrm>
          <a:prstGeom prst="rect">
            <a:avLst/>
          </a:prstGeom>
          <a:noFill/>
        </p:spPr>
        <p:txBody>
          <a:bodyPr wrap="square">
            <a:spAutoFit/>
          </a:bodyPr>
          <a:lstStyle/>
          <a:p>
            <a:pPr>
              <a:lnSpc>
                <a:spcPct val="140000"/>
              </a:lnSpc>
              <a:spcAft>
                <a:spcPts val="1200"/>
              </a:spcAft>
              <a:defRPr sz="1600">
                <a:solidFill>
                  <a:srgbClr val="FFFFFF"/>
                </a:solidFill>
                <a:latin typeface="Segoe UI"/>
              </a:defRPr>
            </a:pPr>
            <a:r>
              <a:t>▸ • Mutual fund investment composition display for asset allocation analysis.</a:t>
            </a:r>
          </a:p>
          <a:p>
            <a:pPr>
              <a:lnSpc>
                <a:spcPct val="140000"/>
              </a:lnSpc>
              <a:spcAft>
                <a:spcPts val="1200"/>
              </a:spcAft>
              <a:defRPr sz="1600">
                <a:solidFill>
                  <a:srgbClr val="FFFFFF"/>
                </a:solidFill>
                <a:latin typeface="Segoe UI"/>
              </a:defRPr>
            </a:pPr>
            <a:r>
              <a:t>▸ • Historical performance review and backtesting for informed decision-making.</a:t>
            </a:r>
          </a:p>
          <a:p>
            <a:pPr>
              <a:lnSpc>
                <a:spcPct val="140000"/>
              </a:lnSpc>
              <a:spcAft>
                <a:spcPts val="1200"/>
              </a:spcAft>
              <a:defRPr sz="1600">
                <a:solidFill>
                  <a:srgbClr val="FFFFFF"/>
                </a:solidFill>
                <a:latin typeface="Segoe UI"/>
              </a:defRPr>
            </a:pPr>
            <a:r>
              <a:t>▸ • Insights derived from company reports, including shareholding patterns and cash flow.</a:t>
            </a:r>
          </a:p>
        </p:txBody>
      </p:sp>
      <p:sp>
        <p:nvSpPr>
          <p:cNvPr id="8" name="Rounded Rectangle 7"/>
          <p:cNvSpPr/>
          <p:nvPr/>
        </p:nvSpPr>
        <p:spPr>
          <a:xfrm>
            <a:off x="10543032" y="6400800"/>
            <a:ext cx="1188720" cy="320040"/>
          </a:xfrm>
          <a:prstGeom prst="roundRect">
            <a:avLst/>
          </a:prstGeom>
          <a:solidFill>
            <a:srgbClr val="282828"/>
          </a:solidFill>
          <a:ln w="12700">
            <a:solidFill>
              <a:srgbClr val="3C3C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43032" y="6400800"/>
            <a:ext cx="1188720" cy="320040"/>
          </a:xfrm>
          <a:prstGeom prst="rect">
            <a:avLst/>
          </a:prstGeom>
          <a:noFill/>
        </p:spPr>
        <p:txBody>
          <a:bodyPr wrap="none">
            <a:spAutoFit/>
          </a:bodyPr>
          <a:lstStyle/>
          <a:p>
            <a:pPr algn="ctr">
              <a:defRPr sz="1200">
                <a:solidFill>
                  <a:srgbClr val="B4B4B4"/>
                </a:solidFill>
                <a:latin typeface="Segoe UI"/>
              </a:defRPr>
            </a:pPr>
            <a:r>
              <a:t>4/6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21212"/>
        </a:solidFill>
        <a:effectLst/>
      </p:bgPr>
    </p:bg>
    <p:spTree>
      <p:nvGrpSpPr>
        <p:cNvPr id="1" name=""/>
        <p:cNvGrpSpPr/>
        <p:nvPr/>
      </p:nvGrpSpPr>
      <p:grpSpPr/>
      <p:sp>
        <p:nvSpPr>
          <p:cNvPr id="2" name="TextBox 1"/>
          <p:cNvSpPr txBox="1"/>
          <p:nvPr/>
        </p:nvSpPr>
        <p:spPr>
          <a:xfrm>
            <a:off x="457200" y="274320"/>
            <a:ext cx="11274552" cy="731520"/>
          </a:xfrm>
          <a:prstGeom prst="rect">
            <a:avLst/>
          </a:prstGeom>
          <a:noFill/>
        </p:spPr>
        <p:txBody>
          <a:bodyPr wrap="none">
            <a:spAutoFit/>
          </a:bodyPr>
          <a:lstStyle/>
          <a:p>
            <a:pPr algn="ctr">
              <a:defRPr sz="2800" b="1">
                <a:solidFill>
                  <a:srgbClr val="FFFFFF"/>
                </a:solidFill>
                <a:latin typeface="Segoe UI"/>
              </a:defRPr>
            </a:pPr>
            <a:r>
              <a:t>Practical Applications of Algofabric</a:t>
            </a:r>
          </a:p>
        </p:txBody>
      </p:sp>
      <p:sp>
        <p:nvSpPr>
          <p:cNvPr id="3" name="Rectangle 2"/>
          <p:cNvSpPr/>
          <p:nvPr/>
        </p:nvSpPr>
        <p:spPr>
          <a:xfrm>
            <a:off x="457200" y="1188720"/>
            <a:ext cx="5485028" cy="4754880"/>
          </a:xfrm>
          <a:prstGeom prst="rect">
            <a:avLst/>
          </a:prstGeom>
          <a:solidFill>
            <a:srgbClr val="1919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216548" y="1188720"/>
            <a:ext cx="6094476" cy="4754880"/>
          </a:xfrm>
          <a:prstGeom prst="rect">
            <a:avLst/>
          </a:prstGeom>
          <a:solidFill>
            <a:srgbClr val="1E1E1E"/>
          </a:solidFill>
          <a:ln w="25400">
            <a:solidFill>
              <a:srgbClr val="009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lide_032_img_000_d56827.png"/>
          <p:cNvPicPr>
            <a:picLocks noChangeAspect="1"/>
          </p:cNvPicPr>
          <p:nvPr/>
        </p:nvPicPr>
        <p:blipFill>
          <a:blip r:embed="rId2"/>
          <a:stretch>
            <a:fillRect/>
          </a:stretch>
        </p:blipFill>
        <p:spPr>
          <a:xfrm>
            <a:off x="914400" y="1645920"/>
            <a:ext cx="4570628" cy="3200400"/>
          </a:xfrm>
          <a:prstGeom prst="rect">
            <a:avLst/>
          </a:prstGeom>
        </p:spPr>
      </p:pic>
      <p:sp>
        <p:nvSpPr>
          <p:cNvPr id="6" name="TextBox 5"/>
          <p:cNvSpPr txBox="1"/>
          <p:nvPr/>
        </p:nvSpPr>
        <p:spPr>
          <a:xfrm>
            <a:off x="914400" y="4937760"/>
            <a:ext cx="3657600" cy="274320"/>
          </a:xfrm>
          <a:prstGeom prst="rect">
            <a:avLst/>
          </a:prstGeom>
          <a:noFill/>
        </p:spPr>
        <p:txBody>
          <a:bodyPr wrap="none">
            <a:spAutoFit/>
          </a:bodyPr>
          <a:lstStyle/>
          <a:p>
            <a:pPr algn="ctr">
              <a:defRPr sz="1100" i="1">
                <a:solidFill>
                  <a:srgbClr val="B4B4B4"/>
                </a:solidFill>
                <a:latin typeface="Segoe UI"/>
              </a:defRPr>
            </a:pPr>
            <a:r>
              <a:t>This is a screenshot of a web application interface for "AlgoAnalytics," featuring a logo at the top left. The interface includes sections for a legal advisor, frequently asked questions, and options to select a state (Kerala). Text fields prompt user interaction</a:t>
            </a:r>
          </a:p>
        </p:txBody>
      </p:sp>
      <p:sp>
        <p:nvSpPr>
          <p:cNvPr id="7" name="TextBox 6"/>
          <p:cNvSpPr txBox="1"/>
          <p:nvPr/>
        </p:nvSpPr>
        <p:spPr>
          <a:xfrm>
            <a:off x="6582308" y="1645920"/>
            <a:ext cx="5362956" cy="3840480"/>
          </a:xfrm>
          <a:prstGeom prst="rect">
            <a:avLst/>
          </a:prstGeom>
          <a:noFill/>
        </p:spPr>
        <p:txBody>
          <a:bodyPr wrap="square">
            <a:spAutoFit/>
          </a:bodyPr>
          <a:lstStyle/>
          <a:p>
            <a:pPr>
              <a:lnSpc>
                <a:spcPct val="140000"/>
              </a:lnSpc>
              <a:spcAft>
                <a:spcPts val="1200"/>
              </a:spcAft>
              <a:defRPr sz="1600">
                <a:solidFill>
                  <a:srgbClr val="FFFFFF"/>
                </a:solidFill>
                <a:latin typeface="Segoe UI"/>
              </a:defRPr>
            </a:pPr>
            <a:r>
              <a:t>▸ • Identify top gainers and losers with the 'What's Trending' feature.</a:t>
            </a:r>
          </a:p>
          <a:p>
            <a:pPr>
              <a:lnSpc>
                <a:spcPct val="140000"/>
              </a:lnSpc>
              <a:spcAft>
                <a:spcPts val="1200"/>
              </a:spcAft>
              <a:defRPr sz="1600">
                <a:solidFill>
                  <a:srgbClr val="FFFFFF"/>
                </a:solidFill>
                <a:latin typeface="Segoe UI"/>
              </a:defRPr>
            </a:pPr>
            <a:r>
              <a:t>▸ • Track daily price movements and significant corporate actions.</a:t>
            </a:r>
          </a:p>
          <a:p>
            <a:pPr>
              <a:lnSpc>
                <a:spcPct val="140000"/>
              </a:lnSpc>
              <a:spcAft>
                <a:spcPts val="1200"/>
              </a:spcAft>
              <a:defRPr sz="1600">
                <a:solidFill>
                  <a:srgbClr val="FFFFFF"/>
                </a:solidFill>
                <a:latin typeface="Segoe UI"/>
              </a:defRPr>
            </a:pPr>
            <a:r>
              <a:t>▸ • Diversify portfolios with superior returns while minimizing risk.</a:t>
            </a:r>
          </a:p>
        </p:txBody>
      </p:sp>
      <p:sp>
        <p:nvSpPr>
          <p:cNvPr id="8" name="Rounded Rectangle 7"/>
          <p:cNvSpPr/>
          <p:nvPr/>
        </p:nvSpPr>
        <p:spPr>
          <a:xfrm>
            <a:off x="10543032" y="6400800"/>
            <a:ext cx="1188720" cy="320040"/>
          </a:xfrm>
          <a:prstGeom prst="roundRect">
            <a:avLst/>
          </a:prstGeom>
          <a:solidFill>
            <a:srgbClr val="282828"/>
          </a:solidFill>
          <a:ln w="12700">
            <a:solidFill>
              <a:srgbClr val="3C3C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43032" y="6400800"/>
            <a:ext cx="1188720" cy="320040"/>
          </a:xfrm>
          <a:prstGeom prst="rect">
            <a:avLst/>
          </a:prstGeom>
          <a:noFill/>
        </p:spPr>
        <p:txBody>
          <a:bodyPr wrap="none">
            <a:spAutoFit/>
          </a:bodyPr>
          <a:lstStyle/>
          <a:p>
            <a:pPr algn="ctr">
              <a:defRPr sz="1200">
                <a:solidFill>
                  <a:srgbClr val="B4B4B4"/>
                </a:solidFill>
                <a:latin typeface="Segoe UI"/>
              </a:defRPr>
            </a:pPr>
            <a:r>
              <a:t>5/6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21212"/>
        </a:solidFill>
        <a:effectLst/>
      </p:bgPr>
    </p:bg>
    <p:spTree>
      <p:nvGrpSpPr>
        <p:cNvPr id="1" name=""/>
        <p:cNvGrpSpPr/>
        <p:nvPr/>
      </p:nvGrpSpPr>
      <p:grpSpPr/>
      <p:sp>
        <p:nvSpPr>
          <p:cNvPr id="2" name="TextBox 1"/>
          <p:cNvSpPr txBox="1"/>
          <p:nvPr/>
        </p:nvSpPr>
        <p:spPr>
          <a:xfrm>
            <a:off x="457200" y="274320"/>
            <a:ext cx="11274552" cy="731520"/>
          </a:xfrm>
          <a:prstGeom prst="rect">
            <a:avLst/>
          </a:prstGeom>
          <a:noFill/>
        </p:spPr>
        <p:txBody>
          <a:bodyPr wrap="none">
            <a:spAutoFit/>
          </a:bodyPr>
          <a:lstStyle/>
          <a:p>
            <a:pPr algn="ctr">
              <a:defRPr sz="2800" b="1">
                <a:solidFill>
                  <a:srgbClr val="FFFFFF"/>
                </a:solidFill>
                <a:latin typeface="Segoe UI"/>
              </a:defRPr>
            </a:pPr>
            <a:r>
              <a:t>Future Developments and Enhancements</a:t>
            </a:r>
          </a:p>
        </p:txBody>
      </p:sp>
      <p:sp>
        <p:nvSpPr>
          <p:cNvPr id="3" name="Rectangle 2"/>
          <p:cNvSpPr/>
          <p:nvPr/>
        </p:nvSpPr>
        <p:spPr>
          <a:xfrm>
            <a:off x="1522476" y="1371600"/>
            <a:ext cx="9144000" cy="4572000"/>
          </a:xfrm>
          <a:prstGeom prst="rect">
            <a:avLst/>
          </a:prstGeom>
          <a:solidFill>
            <a:srgbClr val="1E1E1E"/>
          </a:solidFill>
          <a:ln w="25400">
            <a:solidFill>
              <a:srgbClr val="009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53996" y="1645920"/>
            <a:ext cx="7680960" cy="4023360"/>
          </a:xfrm>
          <a:prstGeom prst="rect">
            <a:avLst/>
          </a:prstGeom>
          <a:noFill/>
        </p:spPr>
        <p:txBody>
          <a:bodyPr wrap="square">
            <a:spAutoFit/>
          </a:bodyPr>
          <a:lstStyle/>
          <a:p>
            <a:pPr>
              <a:lnSpc>
                <a:spcPct val="140000"/>
              </a:lnSpc>
              <a:spcAft>
                <a:spcPts val="1400"/>
              </a:spcAft>
              <a:defRPr sz="1800">
                <a:solidFill>
                  <a:srgbClr val="FFFFFF"/>
                </a:solidFill>
                <a:latin typeface="Segoe UI"/>
              </a:defRPr>
            </a:pPr>
            <a:r>
              <a:t>▸ • Continuous integration of new companies into the Algofabric ecosystem.</a:t>
            </a:r>
          </a:p>
          <a:p>
            <a:pPr>
              <a:lnSpc>
                <a:spcPct val="140000"/>
              </a:lnSpc>
              <a:spcAft>
                <a:spcPts val="1400"/>
              </a:spcAft>
              <a:defRPr sz="1800">
                <a:solidFill>
                  <a:srgbClr val="FFFFFF"/>
                </a:solidFill>
                <a:latin typeface="Segoe UI"/>
              </a:defRPr>
            </a:pPr>
            <a:r>
              <a:t>▸ • Performance comparison and optimization of SLMs versus LLMs.</a:t>
            </a:r>
          </a:p>
          <a:p>
            <a:pPr>
              <a:lnSpc>
                <a:spcPct val="140000"/>
              </a:lnSpc>
              <a:spcAft>
                <a:spcPts val="1400"/>
              </a:spcAft>
              <a:defRPr sz="1800">
                <a:solidFill>
                  <a:srgbClr val="FFFFFF"/>
                </a:solidFill>
                <a:latin typeface="Segoe UI"/>
              </a:defRPr>
            </a:pPr>
            <a:r>
              <a:t>▸ • Expansion of business use cases to address real-life investment challenges.</a:t>
            </a:r>
          </a:p>
        </p:txBody>
      </p:sp>
      <p:sp>
        <p:nvSpPr>
          <p:cNvPr id="5" name="Rounded Rectangle 4"/>
          <p:cNvSpPr/>
          <p:nvPr/>
        </p:nvSpPr>
        <p:spPr>
          <a:xfrm>
            <a:off x="10543032" y="6400800"/>
            <a:ext cx="1188720" cy="320040"/>
          </a:xfrm>
          <a:prstGeom prst="roundRect">
            <a:avLst/>
          </a:prstGeom>
          <a:solidFill>
            <a:srgbClr val="282828"/>
          </a:solidFill>
          <a:ln w="12700">
            <a:solidFill>
              <a:srgbClr val="3C3C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43032" y="6400800"/>
            <a:ext cx="1188720" cy="320040"/>
          </a:xfrm>
          <a:prstGeom prst="rect">
            <a:avLst/>
          </a:prstGeom>
          <a:noFill/>
        </p:spPr>
        <p:txBody>
          <a:bodyPr wrap="none">
            <a:spAutoFit/>
          </a:bodyPr>
          <a:lstStyle/>
          <a:p>
            <a:pPr algn="ctr">
              <a:defRPr sz="1200">
                <a:solidFill>
                  <a:srgbClr val="B4B4B4"/>
                </a:solidFill>
                <a:latin typeface="Segoe UI"/>
              </a:defRPr>
            </a:pPr>
            <a:r>
              <a:t>6/6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