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828800" y="914400"/>
            <a:ext cx="1097280" cy="1097280"/>
          </a:xfrm>
          <a:prstGeom prst="ellipse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4572000" y="1371600"/>
            <a:ext cx="1097280" cy="1097280"/>
          </a:xfrm>
          <a:prstGeom prst="ellipse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7315200" y="1828800"/>
            <a:ext cx="1097280" cy="1097280"/>
          </a:xfrm>
          <a:prstGeom prst="ellipse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828800"/>
            <a:ext cx="11274552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Segoe UI"/>
              </a:defRPr>
            </a:pPr>
            <a:r>
              <a:t>Harnessing the Power of GPUs for Business Innovation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4114800"/>
            <a:ext cx="85313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0096FF"/>
                </a:solidFill>
                <a:latin typeface="Segoe UI"/>
              </a:defRPr>
            </a:pPr>
            <a:r>
              <a:t>Advanced AI Solutions for Manufacturing Excellence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0" y="6126480"/>
            <a:ext cx="6702552" cy="27432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Segoe UI"/>
              </a:defRPr>
            </a:pPr>
            <a:r>
              <a:t>Understanding the GPU Evolution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4875580" cy="475488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515660" y="1188720"/>
            <a:ext cx="6521043" cy="4754880"/>
          </a:xfrm>
          <a:prstGeom prst="rect">
            <a:avLst/>
          </a:prstGeom>
          <a:solidFill>
            <a:srgbClr val="1E1E1E"/>
          </a:solidFill>
          <a:ln w="254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g_test-email@gmail.com_session_36e0e9bf_52f9ec21_unit0_img3_0fd2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1828800"/>
            <a:ext cx="3778300" cy="27432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789980" y="1645920"/>
            <a:ext cx="5972403" cy="3840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30000"/>
              </a:lnSpc>
              <a:spcBef>
                <a:spcPts val="500"/>
              </a:spcBef>
              <a:spcAft>
                <a:spcPts val="1000"/>
              </a:spcAft>
              <a:defRPr sz="1600">
                <a:solidFill>
                  <a:srgbClr val="FFFFFF"/>
                </a:solidFill>
                <a:latin typeface="Segoe UI"/>
              </a:defRPr>
            </a:pPr>
            <a:r>
              <a:t>▸ Originally designed for 3D graphics rendering in gaming, GPUs have evolved into essential tools for data processing.</a:t>
            </a:r>
          </a:p>
          <a:p>
            <a:pPr algn="ctr">
              <a:lnSpc>
                <a:spcPct val="130000"/>
              </a:lnSpc>
              <a:spcBef>
                <a:spcPts val="500"/>
              </a:spcBef>
              <a:spcAft>
                <a:spcPts val="1000"/>
              </a:spcAft>
              <a:defRPr sz="1600">
                <a:solidFill>
                  <a:srgbClr val="FFFFFF"/>
                </a:solidFill>
                <a:latin typeface="Segoe UI"/>
              </a:defRPr>
            </a:pPr>
            <a:r>
              <a:t>▸ Transitioned from specialized circuits to general-purpose parallel processors, enabling diverse applications.</a:t>
            </a:r>
          </a:p>
          <a:p>
            <a:pPr algn="ctr">
              <a:lnSpc>
                <a:spcPct val="130000"/>
              </a:lnSpc>
              <a:spcBef>
                <a:spcPts val="500"/>
              </a:spcBef>
              <a:spcAft>
                <a:spcPts val="1000"/>
              </a:spcAft>
              <a:defRPr sz="1600">
                <a:solidFill>
                  <a:srgbClr val="FFFFFF"/>
                </a:solidFill>
                <a:latin typeface="Segoe UI"/>
              </a:defRPr>
            </a:pPr>
            <a:r>
              <a:t>▸ Key differentiator: GPUs are optimized for massive parallel processing, unlike CPUs which focus on sequential task execution.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543032" y="6400800"/>
            <a:ext cx="1188720" cy="320040"/>
          </a:xfrm>
          <a:prstGeom prst="roundRect">
            <a:avLst/>
          </a:prstGeom>
          <a:solidFill>
            <a:srgbClr val="282828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43032" y="6400800"/>
            <a:ext cx="1188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B4B4B4"/>
                </a:solidFill>
                <a:latin typeface="Segoe UI"/>
              </a:defRPr>
            </a:pPr>
            <a:r>
              <a:t>2/7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Segoe UI"/>
              </a:defRPr>
            </a:pPr>
            <a:r>
              <a:t>Architectural Advantages of GPUs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4875580" cy="475488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515660" y="1188720"/>
            <a:ext cx="6521043" cy="4754880"/>
          </a:xfrm>
          <a:prstGeom prst="rect">
            <a:avLst/>
          </a:prstGeom>
          <a:solidFill>
            <a:srgbClr val="1E1E1E"/>
          </a:solidFill>
          <a:ln w="254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g_test-email@gmail.com_session_36e0e9bf_52f9ec21_unit0_img0_c58c3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1828800"/>
            <a:ext cx="3778300" cy="27432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789980" y="1645920"/>
            <a:ext cx="5972403" cy="3840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30000"/>
              </a:lnSpc>
              <a:spcBef>
                <a:spcPts val="500"/>
              </a:spcBef>
              <a:spcAft>
                <a:spcPts val="1000"/>
              </a:spcAft>
              <a:defRPr sz="1600">
                <a:solidFill>
                  <a:srgbClr val="FFFFFF"/>
                </a:solidFill>
                <a:latin typeface="Segoe UI"/>
              </a:defRPr>
            </a:pPr>
            <a:r>
              <a:t>▸ Utilize thousands of smaller cores for high throughput, allowing simultaneous execution of multiple threads.</a:t>
            </a:r>
          </a:p>
          <a:p>
            <a:pPr algn="ctr">
              <a:lnSpc>
                <a:spcPct val="130000"/>
              </a:lnSpc>
              <a:spcBef>
                <a:spcPts val="500"/>
              </a:spcBef>
              <a:spcAft>
                <a:spcPts val="1000"/>
              </a:spcAft>
              <a:defRPr sz="1600">
                <a:solidFill>
                  <a:srgbClr val="FFFFFF"/>
                </a:solidFill>
                <a:latin typeface="Segoe UI"/>
              </a:defRPr>
            </a:pPr>
            <a:r>
              <a:t>▸ Ideal for 'embarrassingly parallel' problems, significantly outperforming CPUs in data-intensive tasks.</a:t>
            </a:r>
          </a:p>
          <a:p>
            <a:pPr algn="ctr">
              <a:lnSpc>
                <a:spcPct val="130000"/>
              </a:lnSpc>
              <a:spcBef>
                <a:spcPts val="500"/>
              </a:spcBef>
              <a:spcAft>
                <a:spcPts val="1000"/>
              </a:spcAft>
              <a:defRPr sz="1600">
                <a:solidFill>
                  <a:srgbClr val="FFFFFF"/>
                </a:solidFill>
                <a:latin typeface="Segoe UI"/>
              </a:defRPr>
            </a:pPr>
            <a:r>
              <a:t>▸ High-speed matrix multiplications across cores enable rapid processing for complex computations.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543032" y="6400800"/>
            <a:ext cx="1188720" cy="320040"/>
          </a:xfrm>
          <a:prstGeom prst="roundRect">
            <a:avLst/>
          </a:prstGeom>
          <a:solidFill>
            <a:srgbClr val="282828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43032" y="6400800"/>
            <a:ext cx="1188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B4B4B4"/>
                </a:solidFill>
                <a:latin typeface="Segoe UI"/>
              </a:defRPr>
            </a:pPr>
            <a:r>
              <a:t>3/7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Segoe UI"/>
              </a:defRPr>
            </a:pPr>
            <a:r>
              <a:t>GPU Applications in AI and Deep Learning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1522476" y="1371600"/>
            <a:ext cx="9144000" cy="4572000"/>
          </a:xfrm>
          <a:prstGeom prst="rect">
            <a:avLst/>
          </a:prstGeom>
          <a:solidFill>
            <a:srgbClr val="1E1E1E"/>
          </a:solidFill>
          <a:ln w="254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53996" y="1645920"/>
            <a:ext cx="7680960" cy="4023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40000"/>
              </a:lnSpc>
              <a:spcBef>
                <a:spcPts val="600"/>
              </a:spcBef>
              <a:spcAft>
                <a:spcPts val="1200"/>
              </a:spcAft>
              <a:defRPr sz="1800">
                <a:solidFill>
                  <a:srgbClr val="FFFFFF"/>
                </a:solidFill>
                <a:latin typeface="Segoe UI"/>
              </a:defRPr>
            </a:pPr>
            <a:r>
              <a:t>▸ Critical for training large neural networks, reducing time for model training significantly.</a:t>
            </a:r>
          </a:p>
          <a:p>
            <a:pPr algn="ctr">
              <a:lnSpc>
                <a:spcPct val="140000"/>
              </a:lnSpc>
              <a:spcBef>
                <a:spcPts val="600"/>
              </a:spcBef>
              <a:spcAft>
                <a:spcPts val="1200"/>
              </a:spcAft>
              <a:defRPr sz="1800">
                <a:solidFill>
                  <a:srgbClr val="FFFFFF"/>
                </a:solidFill>
                <a:latin typeface="Segoe UI"/>
              </a:defRPr>
            </a:pPr>
            <a:r>
              <a:t>▸ Supports complex linear algebra operations essential for natural language processing and computer vision.</a:t>
            </a:r>
          </a:p>
          <a:p>
            <a:pPr algn="ctr">
              <a:lnSpc>
                <a:spcPct val="140000"/>
              </a:lnSpc>
              <a:spcBef>
                <a:spcPts val="600"/>
              </a:spcBef>
              <a:spcAft>
                <a:spcPts val="1200"/>
              </a:spcAft>
              <a:defRPr sz="1800">
                <a:solidFill>
                  <a:srgbClr val="FFFFFF"/>
                </a:solidFill>
                <a:latin typeface="Segoe UI"/>
              </a:defRPr>
            </a:pPr>
            <a:r>
              <a:t>▸ Facilitates real-time data processing, enhancing decision-making capabilities in business environments.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543032" y="6400800"/>
            <a:ext cx="1188720" cy="320040"/>
          </a:xfrm>
          <a:prstGeom prst="roundRect">
            <a:avLst/>
          </a:prstGeom>
          <a:solidFill>
            <a:srgbClr val="282828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43032" y="6400800"/>
            <a:ext cx="1188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B4B4B4"/>
                </a:solidFill>
                <a:latin typeface="Segoe UI"/>
              </a:defRPr>
            </a:pPr>
            <a:r>
              <a:t>4/7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Segoe UI"/>
              </a:defRPr>
            </a:pPr>
            <a:r>
              <a:t>Impact on High-Performance Computing (HPC)</a:t>
            </a:r>
          </a:p>
        </p:txBody>
      </p:sp>
      <p:sp>
        <p:nvSpPr>
          <p:cNvPr id="3" name="Rectangle 2"/>
          <p:cNvSpPr/>
          <p:nvPr/>
        </p:nvSpPr>
        <p:spPr>
          <a:xfrm>
            <a:off x="1522476" y="1371600"/>
            <a:ext cx="9144000" cy="4572000"/>
          </a:xfrm>
          <a:prstGeom prst="rect">
            <a:avLst/>
          </a:prstGeom>
          <a:solidFill>
            <a:srgbClr val="1E1E1E"/>
          </a:solidFill>
          <a:ln w="254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53996" y="1645920"/>
            <a:ext cx="7680960" cy="4023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40000"/>
              </a:lnSpc>
              <a:spcBef>
                <a:spcPts val="600"/>
              </a:spcBef>
              <a:spcAft>
                <a:spcPts val="1200"/>
              </a:spcAft>
              <a:defRPr sz="1800">
                <a:solidFill>
                  <a:srgbClr val="FFFFFF"/>
                </a:solidFill>
                <a:latin typeface="Segoe UI"/>
              </a:defRPr>
            </a:pPr>
            <a:r>
              <a:t>▸ Empowers scientific simulations in fields like molecular dynamics, astrophysics, and financial modeling.</a:t>
            </a:r>
          </a:p>
          <a:p>
            <a:pPr algn="ctr">
              <a:lnSpc>
                <a:spcPct val="140000"/>
              </a:lnSpc>
              <a:spcBef>
                <a:spcPts val="600"/>
              </a:spcBef>
              <a:spcAft>
                <a:spcPts val="1200"/>
              </a:spcAft>
              <a:defRPr sz="1800">
                <a:solidFill>
                  <a:srgbClr val="FFFFFF"/>
                </a:solidFill>
                <a:latin typeface="Segoe UI"/>
              </a:defRPr>
            </a:pPr>
            <a:r>
              <a:t>▸ GPU clusters enable unprecedented scales and resolutions in simulations, driving innovation in research.</a:t>
            </a:r>
          </a:p>
          <a:p>
            <a:pPr algn="ctr">
              <a:lnSpc>
                <a:spcPct val="140000"/>
              </a:lnSpc>
              <a:spcBef>
                <a:spcPts val="600"/>
              </a:spcBef>
              <a:spcAft>
                <a:spcPts val="1200"/>
              </a:spcAft>
              <a:defRPr sz="1800">
                <a:solidFill>
                  <a:srgbClr val="FFFFFF"/>
                </a:solidFill>
                <a:latin typeface="Segoe UI"/>
              </a:defRPr>
            </a:pPr>
            <a:r>
              <a:t>▸ Accelerates time-to-discovery, making complex computational science faster and more energy-efficient.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543032" y="6400800"/>
            <a:ext cx="1188720" cy="320040"/>
          </a:xfrm>
          <a:prstGeom prst="roundRect">
            <a:avLst/>
          </a:prstGeom>
          <a:solidFill>
            <a:srgbClr val="282828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43032" y="6400800"/>
            <a:ext cx="1188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B4B4B4"/>
                </a:solidFill>
                <a:latin typeface="Segoe UI"/>
              </a:defRPr>
            </a:pPr>
            <a:r>
              <a:t>5/7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Segoe UI"/>
              </a:defRPr>
            </a:pPr>
            <a:r>
              <a:t>Business Value of GPU Technology</a:t>
            </a:r>
          </a:p>
        </p:txBody>
      </p:sp>
      <p:sp>
        <p:nvSpPr>
          <p:cNvPr id="3" name="Rectangle 2"/>
          <p:cNvSpPr/>
          <p:nvPr/>
        </p:nvSpPr>
        <p:spPr>
          <a:xfrm>
            <a:off x="1522476" y="1371600"/>
            <a:ext cx="9144000" cy="4572000"/>
          </a:xfrm>
          <a:prstGeom prst="rect">
            <a:avLst/>
          </a:prstGeom>
          <a:solidFill>
            <a:srgbClr val="1E1E1E"/>
          </a:solidFill>
          <a:ln w="254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53996" y="1645920"/>
            <a:ext cx="7680960" cy="4023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40000"/>
              </a:lnSpc>
              <a:spcBef>
                <a:spcPts val="600"/>
              </a:spcBef>
              <a:spcAft>
                <a:spcPts val="1200"/>
              </a:spcAft>
              <a:defRPr sz="1800">
                <a:solidFill>
                  <a:srgbClr val="FFFFFF"/>
                </a:solidFill>
                <a:latin typeface="Segoe UI"/>
              </a:defRPr>
            </a:pPr>
            <a:r>
              <a:t>▸ Enhances operational efficiency by enabling faster data processing and analysis.</a:t>
            </a:r>
          </a:p>
          <a:p>
            <a:pPr algn="ctr">
              <a:lnSpc>
                <a:spcPct val="140000"/>
              </a:lnSpc>
              <a:spcBef>
                <a:spcPts val="600"/>
              </a:spcBef>
              <a:spcAft>
                <a:spcPts val="1200"/>
              </a:spcAft>
              <a:defRPr sz="1800">
                <a:solidFill>
                  <a:srgbClr val="FFFFFF"/>
                </a:solidFill>
                <a:latin typeface="Segoe UI"/>
              </a:defRPr>
            </a:pPr>
            <a:r>
              <a:t>▸ Supports the development of AI-driven solutions, providing a competitive edge in the market.</a:t>
            </a:r>
          </a:p>
          <a:p>
            <a:pPr algn="ctr">
              <a:lnSpc>
                <a:spcPct val="140000"/>
              </a:lnSpc>
              <a:spcBef>
                <a:spcPts val="600"/>
              </a:spcBef>
              <a:spcAft>
                <a:spcPts val="1200"/>
              </a:spcAft>
              <a:defRPr sz="1800">
                <a:solidFill>
                  <a:srgbClr val="FFFFFF"/>
                </a:solidFill>
                <a:latin typeface="Segoe UI"/>
              </a:defRPr>
            </a:pPr>
            <a:r>
              <a:t>▸ Reduces costs associated with computational resources through energy-efficient processing.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543032" y="6400800"/>
            <a:ext cx="1188720" cy="320040"/>
          </a:xfrm>
          <a:prstGeom prst="roundRect">
            <a:avLst/>
          </a:prstGeom>
          <a:solidFill>
            <a:srgbClr val="282828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43032" y="6400800"/>
            <a:ext cx="1188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B4B4B4"/>
                </a:solidFill>
                <a:latin typeface="Segoe UI"/>
              </a:defRPr>
            </a:pPr>
            <a:r>
              <a:t>6/7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Segoe UI"/>
              </a:defRPr>
            </a:pPr>
            <a:r>
              <a:t>Future Trends and Considerations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1522476" y="1371600"/>
            <a:ext cx="9144000" cy="4572000"/>
          </a:xfrm>
          <a:prstGeom prst="rect">
            <a:avLst/>
          </a:prstGeom>
          <a:solidFill>
            <a:srgbClr val="1E1E1E"/>
          </a:solidFill>
          <a:ln w="254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53996" y="1645920"/>
            <a:ext cx="7680960" cy="4023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40000"/>
              </a:lnSpc>
              <a:spcBef>
                <a:spcPts val="600"/>
              </a:spcBef>
              <a:spcAft>
                <a:spcPts val="1200"/>
              </a:spcAft>
              <a:defRPr sz="1800">
                <a:solidFill>
                  <a:srgbClr val="FFFFFF"/>
                </a:solidFill>
                <a:latin typeface="Segoe UI"/>
              </a:defRPr>
            </a:pPr>
            <a:r>
              <a:t>▸ As AI models grow in complexity, GPUs will remain central to technological advancements.</a:t>
            </a:r>
          </a:p>
          <a:p>
            <a:pPr algn="ctr">
              <a:lnSpc>
                <a:spcPct val="140000"/>
              </a:lnSpc>
              <a:spcBef>
                <a:spcPts val="600"/>
              </a:spcBef>
              <a:spcAft>
                <a:spcPts val="1200"/>
              </a:spcAft>
              <a:defRPr sz="1800">
                <a:solidFill>
                  <a:srgbClr val="FFFFFF"/>
                </a:solidFill>
                <a:latin typeface="Segoe UI"/>
              </a:defRPr>
            </a:pPr>
            <a:r>
              <a:t>▸ Investment in GPU technology is crucial for businesses aiming to leverage big data and AI.</a:t>
            </a:r>
          </a:p>
          <a:p>
            <a:pPr algn="ctr">
              <a:lnSpc>
                <a:spcPct val="140000"/>
              </a:lnSpc>
              <a:spcBef>
                <a:spcPts val="600"/>
              </a:spcBef>
              <a:spcAft>
                <a:spcPts val="1200"/>
              </a:spcAft>
              <a:defRPr sz="1800">
                <a:solidFill>
                  <a:srgbClr val="FFFFFF"/>
                </a:solidFill>
                <a:latin typeface="Segoe UI"/>
              </a:defRPr>
            </a:pPr>
            <a:r>
              <a:t>▸ Continuous evolution in GPU architecture will drive further innovations across various industries.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543032" y="6400800"/>
            <a:ext cx="1188720" cy="320040"/>
          </a:xfrm>
          <a:prstGeom prst="roundRect">
            <a:avLst/>
          </a:prstGeom>
          <a:solidFill>
            <a:srgbClr val="282828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43032" y="6400800"/>
            <a:ext cx="1188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B4B4B4"/>
                </a:solidFill>
                <a:latin typeface="Segoe UI"/>
              </a:defRPr>
            </a:pPr>
            <a:r>
              <a:t>7/7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