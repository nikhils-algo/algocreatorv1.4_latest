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876" y="2125980"/>
            <a:ext cx="10368598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tx1"/>
                </a:solidFill>
                <a:latin typeface="Carlito" panose="020F0502020204030204"/>
                <a:cs typeface="Carlito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9752" y="3840480"/>
            <a:ext cx="8538845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chemeClr val="tx1"/>
                </a:solidFill>
                <a:latin typeface="Carlito" panose="020F0502020204030204"/>
                <a:cs typeface="Carlito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chemeClr val="tx1"/>
                </a:solidFill>
                <a:latin typeface="Carlito" panose="020F0502020204030204"/>
                <a:cs typeface="Carlito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917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82150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chemeClr val="tx1"/>
                </a:solidFill>
                <a:latin typeface="Carlito" panose="020F0502020204030204"/>
                <a:cs typeface="Carlito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368757"/>
            <a:ext cx="12192000" cy="340995"/>
          </a:xfrm>
          <a:custGeom>
            <a:avLst/>
            <a:gdLst/>
            <a:ahLst/>
            <a:cxnLst/>
            <a:rect l="l" t="t" r="r" b="b"/>
            <a:pathLst>
              <a:path w="12192000" h="340995">
                <a:moveTo>
                  <a:pt x="12191759" y="0"/>
                </a:moveTo>
                <a:lnTo>
                  <a:pt x="0" y="0"/>
                </a:lnTo>
                <a:lnTo>
                  <a:pt x="0" y="1447"/>
                </a:lnTo>
                <a:lnTo>
                  <a:pt x="0" y="339128"/>
                </a:lnTo>
                <a:lnTo>
                  <a:pt x="0" y="340563"/>
                </a:lnTo>
                <a:lnTo>
                  <a:pt x="6095885" y="340563"/>
                </a:lnTo>
                <a:lnTo>
                  <a:pt x="12191759" y="340563"/>
                </a:lnTo>
                <a:lnTo>
                  <a:pt x="12191759" y="339128"/>
                </a:lnTo>
                <a:lnTo>
                  <a:pt x="12191759" y="1447"/>
                </a:lnTo>
                <a:lnTo>
                  <a:pt x="12191759" y="0"/>
                </a:lnTo>
                <a:close/>
              </a:path>
            </a:pathLst>
          </a:custGeom>
          <a:solidFill>
            <a:srgbClr val="4371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8661" y="67576"/>
            <a:ext cx="6586220" cy="5243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tx1"/>
                </a:solidFill>
                <a:latin typeface="Carlito" panose="020F0502020204030204"/>
                <a:cs typeface="Carlito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917" y="1577340"/>
            <a:ext cx="10978515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7439" y="6377940"/>
            <a:ext cx="3903472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917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82812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0"/>
            <a:ext cx="103632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  <a:latin typeface="Calibri"/>
              </a:defRPr>
            </a:pPr>
            <a:r>
              <a:t>Info about the Autonomous Cars and the Aksha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  <a:latin typeface="Calibri"/>
              </a:defRPr>
            </a:pPr>
            <a:r>
              <a:t>Introduction to Autonomous Vehicles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66544"/>
            <a:ext cx="249936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defRPr sz="1100">
                <a:solidFill>
                  <a:srgbClr val="282828"/>
                </a:solidFill>
                <a:latin typeface="Calibri"/>
              </a:defRPr>
            </a:pPr>
            <a:r>
              <a:t>• Autonomous vehicles (AVs) are designed to operate without human intervention, utilizing advanced technologies.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95472" y="2066544"/>
            <a:ext cx="249936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defRPr sz="1100">
                <a:solidFill>
                  <a:srgbClr val="282828"/>
                </a:solidFill>
                <a:latin typeface="Calibri"/>
              </a:defRPr>
            </a:pPr>
            <a:r>
              <a:t>• Key benefits include reduced traffic congestion, optimized fuel efficiency, and significant decreases in accident rates due to human error.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511296"/>
            <a:ext cx="249936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defRPr sz="1100">
                <a:solidFill>
                  <a:srgbClr val="282828"/>
                </a:solidFill>
                <a:latin typeface="Calibri"/>
              </a:defRPr>
            </a:pPr>
            <a:r>
              <a:t>• The development of AVs faces technical, legal, and ethical challenges that must be addressed to achieve Level 5 autonomy.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754368" y="2258568"/>
            <a:ext cx="4046480" cy="2340864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mpty8euqk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7520" y="2331720"/>
            <a:ext cx="3900176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  <a:latin typeface="Calibri"/>
              </a:defRPr>
            </a:pPr>
            <a:r>
              <a:t>Technical Challenges in AV Development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730240" y="2066544"/>
            <a:ext cx="26822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defRPr sz="1100">
                <a:solidFill>
                  <a:srgbClr val="282828"/>
                </a:solidFill>
                <a:latin typeface="Calibri"/>
              </a:defRPr>
            </a:pPr>
            <a:r>
              <a:t>• Sensor fusion is critical, requiring integration of LiDAR, radar, and high-resolution cameras for accurate environment perception.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577072" y="2066544"/>
            <a:ext cx="26822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defRPr sz="1100">
                <a:solidFill>
                  <a:srgbClr val="282828"/>
                </a:solidFill>
                <a:latin typeface="Calibri"/>
              </a:defRPr>
            </a:pPr>
            <a:r>
              <a:t>• Navigating complex real-world scenarios involves understanding social cues and ambiguous situations.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30240" y="3511296"/>
            <a:ext cx="26822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defRPr sz="1100">
                <a:solidFill>
                  <a:srgbClr val="282828"/>
                </a:solidFill>
                <a:latin typeface="Calibri"/>
              </a:defRPr>
            </a:pPr>
            <a:r>
              <a:t>• Robust algorithms are necessary for real-time decision-making and ensuring passenger safety.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258568"/>
            <a:ext cx="4604725" cy="2340864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mpsj2lfq8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31720"/>
            <a:ext cx="4458421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  <a:latin typeface="Calibri"/>
              </a:defRPr>
            </a:pPr>
            <a:r>
              <a:t>Overview of the Aksha Project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66544"/>
            <a:ext cx="249936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defRPr sz="1100">
                <a:solidFill>
                  <a:srgbClr val="282828"/>
                </a:solidFill>
                <a:latin typeface="Calibri"/>
              </a:defRPr>
            </a:pPr>
            <a:r>
              <a:t>• Aksha is an intelligent surveillance system aimed at enhancing workplace safety through automated monitoring.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95472" y="2066544"/>
            <a:ext cx="249936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defRPr sz="1100">
                <a:solidFill>
                  <a:srgbClr val="282828"/>
                </a:solidFill>
                <a:latin typeface="Calibri"/>
              </a:defRPr>
            </a:pPr>
            <a:r>
              <a:t>• Utilizes computer vision, artificial intelligence, and generative AI for real-time object detection and anomaly analysis.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511296"/>
            <a:ext cx="249936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defRPr sz="1100">
                <a:solidFill>
                  <a:srgbClr val="282828"/>
                </a:solidFill>
                <a:latin typeface="Calibri"/>
              </a:defRPr>
            </a:pPr>
            <a:r>
              <a:t>• Designed to operate with minimal human intervention, providing continuous oversight of premises.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754368" y="2258568"/>
            <a:ext cx="3067461" cy="2340864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mp_qoxj7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7520" y="2331720"/>
            <a:ext cx="2921157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  <a:latin typeface="Calibri"/>
              </a:defRPr>
            </a:pPr>
            <a:r>
              <a:t>Aksha Customization and Development Phases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730240" y="2066544"/>
            <a:ext cx="26822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defRPr sz="1100">
                <a:solidFill>
                  <a:srgbClr val="282828"/>
                </a:solidFill>
                <a:latin typeface="Calibri"/>
              </a:defRPr>
            </a:pPr>
            <a:r>
              <a:t>• Collaboration between AlgoAnalytics and NDIL led to the customization of Aksha for worker safety, running on Edge + Cloud architecture.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577072" y="2066544"/>
            <a:ext cx="26822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defRPr sz="1100">
                <a:solidFill>
                  <a:srgbClr val="282828"/>
                </a:solidFill>
                <a:latin typeface="Calibri"/>
              </a:defRPr>
            </a:pPr>
            <a:r>
              <a:t>• Three development phases completed, with Phase III incorporating generative AI to enhance functionality.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30240" y="3511296"/>
            <a:ext cx="26822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defRPr sz="1100">
                <a:solidFill>
                  <a:srgbClr val="282828"/>
                </a:solidFill>
                <a:latin typeface="Calibri"/>
              </a:defRPr>
            </a:pPr>
            <a:r>
              <a:t>• Successful proof of concept demonstrated on Raspberry Pi 4B with wireless camera integration.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258568"/>
            <a:ext cx="4047744" cy="2340864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mpdczng_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31720"/>
            <a:ext cx="390144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  <a:latin typeface="Calibri"/>
              </a:defRPr>
            </a:pPr>
            <a:r>
              <a:t>Key Features of Aksha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66544"/>
            <a:ext cx="249936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defRPr sz="1200">
                <a:solidFill>
                  <a:srgbClr val="282828"/>
                </a:solidFill>
                <a:latin typeface="Calibri"/>
              </a:defRPr>
            </a:pPr>
            <a:r>
              <a:t>• Live recording and processing capabilities ensure real-time monitoring and data analysis.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95472" y="2066544"/>
            <a:ext cx="249936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defRPr sz="1100">
                <a:solidFill>
                  <a:srgbClr val="282828"/>
                </a:solidFill>
                <a:latin typeface="Calibri"/>
              </a:defRPr>
            </a:pPr>
            <a:r>
              <a:t>• Advanced object detection includes recognition of persons, vehicles, and safety compliance (e.g., helmet detection).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511296"/>
            <a:ext cx="249936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defRPr sz="1100">
                <a:solidFill>
                  <a:srgbClr val="282828"/>
                </a:solidFill>
                <a:latin typeface="Calibri"/>
              </a:defRPr>
            </a:pPr>
            <a:r>
              <a:t>• Generative AI enables unsupervised learning for anomaly detection and customized alert creation.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754368" y="2258568"/>
            <a:ext cx="3249168" cy="2340864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mpg37_a4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7520" y="2331720"/>
            <a:ext cx="3102864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  <a:latin typeface="Calibri"/>
              </a:defRPr>
            </a:pPr>
            <a:r>
              <a:t>Business Value of Aksha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730240" y="2066544"/>
            <a:ext cx="26822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defRPr sz="1200">
                <a:solidFill>
                  <a:srgbClr val="282828"/>
                </a:solidFill>
                <a:latin typeface="Calibri"/>
              </a:defRPr>
            </a:pPr>
            <a:r>
              <a:t>• Enhances employee safety by providing immediate alerts for unsafe conditions or behaviors.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577072" y="2066544"/>
            <a:ext cx="26822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defRPr sz="1200">
                <a:solidFill>
                  <a:srgbClr val="282828"/>
                </a:solidFill>
                <a:latin typeface="Calibri"/>
              </a:defRPr>
            </a:pPr>
            <a:r>
              <a:t>• Reduces operational costs associated with manual surveillance and incident response.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30240" y="3511296"/>
            <a:ext cx="26822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defRPr sz="1200">
                <a:solidFill>
                  <a:srgbClr val="282828"/>
                </a:solidFill>
                <a:latin typeface="Calibri"/>
              </a:defRPr>
            </a:pPr>
            <a:r>
              <a:t>• Facilitates compliance with safety regulations through automated reporting and analysis.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258568"/>
            <a:ext cx="1501767" cy="2340864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mpv7d1rq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31720"/>
            <a:ext cx="1355463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  <a:latin typeface="Calibri"/>
              </a:defRPr>
            </a:pPr>
            <a:r>
              <a:t>Practical Applications of Aksha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66544"/>
            <a:ext cx="249936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defRPr sz="1100">
                <a:solidFill>
                  <a:srgbClr val="282828"/>
                </a:solidFill>
                <a:latin typeface="Calibri"/>
              </a:defRPr>
            </a:pPr>
            <a:r>
              <a:t>• Applicable in various sectors including manufacturing, construction, and logistics for enhanced site safety.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95472" y="2066544"/>
            <a:ext cx="249936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defRPr sz="1200">
                <a:solidFill>
                  <a:srgbClr val="282828"/>
                </a:solidFill>
                <a:latin typeface="Calibri"/>
              </a:defRPr>
            </a:pPr>
            <a:r>
              <a:t>• Can be integrated into existing security systems to augment monitoring capabilities.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511296"/>
            <a:ext cx="249936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defRPr sz="1200">
                <a:solidFill>
                  <a:srgbClr val="282828"/>
                </a:solidFill>
                <a:latin typeface="Calibri"/>
              </a:defRPr>
            </a:pPr>
            <a:r>
              <a:t>• Supports data-driven decision-making through comprehensive insight report generation.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754368" y="2258568"/>
            <a:ext cx="3646661" cy="2340864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mp1r8_qm2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7520" y="2331720"/>
            <a:ext cx="3500357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  <a:latin typeface="Calibri"/>
              </a:defRPr>
            </a:pPr>
            <a:r>
              <a:t>Future Directions for Aksha and AVs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057400"/>
            <a:ext cx="85344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/>
          <a:p>
            <a:pPr algn="ctr"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• Continued development of AI capabilities to improve accuracy and responsiveness of surveillance systems.</a:t>
            </a:r>
          </a:p>
          <a:p>
            <a:pPr algn="ctr"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• Potential integration of Aksha technology into autonomous vehicles for enhanced safety and monitoring.</a:t>
            </a:r>
          </a:p>
          <a:p>
            <a:pPr algn="ctr"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• Exploration of ethical implications and regulatory frameworks to support the deployment of AVs and intelligent surveillance.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  <a:latin typeface="Calibri"/>
              </a:defRPr>
            </a:pPr>
            <a:r>
              <a:t>Contact Information and Further Resources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66544"/>
            <a:ext cx="249936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defRPr sz="1200">
                <a:solidFill>
                  <a:srgbClr val="282828"/>
                </a:solidFill>
                <a:latin typeface="Calibri"/>
              </a:defRPr>
            </a:pPr>
            <a:r>
              <a:t>• For more information on Aksha, visit: https://aksha.algoanalytics.com/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95472" y="2066544"/>
            <a:ext cx="249936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defRPr sz="1200">
                <a:solidFill>
                  <a:srgbClr val="282828"/>
                </a:solidFill>
                <a:latin typeface="Calibri"/>
              </a:defRPr>
            </a:pPr>
            <a:r>
              <a:t>• Contact us at: aksha@algoanalytics.com for inquiries and collaboration opportunities.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511296"/>
            <a:ext cx="249936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defRPr sz="1100">
                <a:solidFill>
                  <a:srgbClr val="282828"/>
                </a:solidFill>
                <a:latin typeface="Calibri"/>
              </a:defRPr>
            </a:pPr>
            <a:r>
              <a:t>• Visit our office at Alacrity India Innovation Centre, Pune for direct engagement and demonstrations.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754368" y="2258568"/>
            <a:ext cx="4051133" cy="2340864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mpa7w0ru6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7520" y="2331720"/>
            <a:ext cx="3904829" cy="2194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On-screen Show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SimSun</vt:lpstr>
      <vt:lpstr>Wingdings</vt:lpstr>
      <vt:lpstr>Carlito</vt:lpstr>
      <vt:lpstr>DejaVu Sans</vt:lpstr>
      <vt:lpstr>Microsoft YaHei</vt:lpstr>
      <vt:lpstr>Droid Sans Fallback</vt:lpstr>
      <vt:lpstr>Arial Unicode MS</vt:lpstr>
      <vt:lpstr>Calibri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algolaptop43</cp:lastModifiedBy>
  <cp:revision>1</cp:revision>
  <dcterms:created xsi:type="dcterms:W3CDTF">2025-11-13T09:47:38Z</dcterms:created>
  <dcterms:modified xsi:type="dcterms:W3CDTF">2025-11-13T09:47:38Z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2024-08-30T05:30:00Z</vt:filetime>
  </property>
  <property fmtid="{D5CDD505-2E9C-101B-9397-08002B2CF9AE}" pid="3" name="LastSaved">
    <vt:filetime>2024-08-30T05:30:00Z</vt:filetime>
  </property>
  <property fmtid="{D5CDD505-2E9C-101B-9397-08002B2CF9AE}" pid="4" name="ICV">
    <vt:lpwstr/>
  </property>
  <property fmtid="{D5CDD505-2E9C-101B-9397-08002B2CF9AE}" pid="5" name="KSOProductBuildVer">
    <vt:lpwstr>1033-11.1.0.11723</vt:lpwstr>
  </property>
</Properties>
</file>