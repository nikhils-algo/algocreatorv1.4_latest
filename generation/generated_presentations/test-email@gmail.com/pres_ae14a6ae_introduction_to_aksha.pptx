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Oval 1"/>
          <p:cNvSpPr/>
          <p:nvPr/>
        </p:nvSpPr>
        <p:spPr>
          <a:xfrm>
            <a:off x="1828800" y="914400"/>
            <a:ext cx="1097280" cy="1097280"/>
          </a:xfrm>
          <a:prstGeom prst="ellipse">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0" y="1371600"/>
            <a:ext cx="1097280" cy="1097280"/>
          </a:xfrm>
          <a:prstGeom prst="ellipse">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7315200" y="1828800"/>
            <a:ext cx="1097280" cy="1097280"/>
          </a:xfrm>
          <a:prstGeom prst="ellipse">
            <a:avLst/>
          </a:prstGeom>
          <a:solidFill>
            <a:srgbClr val="1E1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828800"/>
            <a:ext cx="10360152" cy="1371600"/>
          </a:xfrm>
          <a:prstGeom prst="rect">
            <a:avLst/>
          </a:prstGeom>
          <a:noFill/>
        </p:spPr>
        <p:txBody>
          <a:bodyPr wrap="none">
            <a:spAutoFit/>
          </a:bodyPr>
          <a:lstStyle/>
          <a:p>
            <a:pPr algn="ctr">
              <a:defRPr sz="4400" b="1">
                <a:solidFill>
                  <a:srgbClr val="FFFFFF"/>
                </a:solidFill>
                <a:latin typeface="Segoe UI"/>
              </a:defRPr>
            </a:pPr>
            <a:r>
              <a:t>Introduction to Aksha</a:t>
            </a:r>
          </a:p>
        </p:txBody>
      </p:sp>
      <p:sp>
        <p:nvSpPr>
          <p:cNvPr id="6" name="TextBox 5"/>
          <p:cNvSpPr txBox="1"/>
          <p:nvPr/>
        </p:nvSpPr>
        <p:spPr>
          <a:xfrm>
            <a:off x="1828800" y="3474720"/>
            <a:ext cx="8531352" cy="731520"/>
          </a:xfrm>
          <a:prstGeom prst="rect">
            <a:avLst/>
          </a:prstGeom>
          <a:noFill/>
        </p:spPr>
        <p:txBody>
          <a:bodyPr wrap="none">
            <a:spAutoFit/>
          </a:bodyPr>
          <a:lstStyle/>
          <a:p>
            <a:pPr algn="ctr">
              <a:defRPr sz="2000">
                <a:solidFill>
                  <a:srgbClr val="0096FF"/>
                </a:solidFill>
                <a:latin typeface="Segoe UI"/>
              </a:defRPr>
            </a:pPr>
            <a:r>
              <a:t>Advanced AI Solutions for Manufacturing Excellence</a:t>
            </a:r>
          </a:p>
        </p:txBody>
      </p:sp>
      <p:sp>
        <p:nvSpPr>
          <p:cNvPr id="7" name="Rectangle 6"/>
          <p:cNvSpPr/>
          <p:nvPr/>
        </p:nvSpPr>
        <p:spPr>
          <a:xfrm>
            <a:off x="2743200" y="6126480"/>
            <a:ext cx="6702552" cy="27432"/>
          </a:xfrm>
          <a:prstGeom prst="rect">
            <a:avLst/>
          </a:prstGeom>
          <a:solidFill>
            <a:srgbClr val="009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457200" y="274320"/>
            <a:ext cx="11274552" cy="731520"/>
          </a:xfrm>
          <a:prstGeom prst="rect">
            <a:avLst/>
          </a:prstGeom>
          <a:noFill/>
        </p:spPr>
        <p:txBody>
          <a:bodyPr wrap="none">
            <a:spAutoFit/>
          </a:bodyPr>
          <a:lstStyle/>
          <a:p>
            <a:pPr algn="ctr">
              <a:defRPr sz="2800" b="1">
                <a:solidFill>
                  <a:srgbClr val="FFFFFF"/>
                </a:solidFill>
                <a:latin typeface="Segoe UI"/>
              </a:defRPr>
            </a:pPr>
            <a:r>
              <a:t>Overview of Aksha</a:t>
            </a:r>
          </a:p>
        </p:txBody>
      </p:sp>
      <p:sp>
        <p:nvSpPr>
          <p:cNvPr id="3" name="Rectangle 2"/>
          <p:cNvSpPr/>
          <p:nvPr/>
        </p:nvSpPr>
        <p:spPr>
          <a:xfrm>
            <a:off x="457200" y="1188720"/>
            <a:ext cx="5485028" cy="4754880"/>
          </a:xfrm>
          <a:prstGeom prst="rect">
            <a:avLst/>
          </a:prstGeom>
          <a:solidFill>
            <a:srgbClr val="1919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216548" y="1188720"/>
            <a:ext cx="6094476" cy="4754880"/>
          </a:xfrm>
          <a:prstGeom prst="rect">
            <a:avLst/>
          </a:prstGeom>
          <a:solidFill>
            <a:srgbClr val="1E1E1E"/>
          </a:solidFill>
          <a:ln w="254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g_test-email@gmail.com_session_0f698ba7_20251119_151059_5b321621_unit0_img0.jpg"/>
          <p:cNvPicPr>
            <a:picLocks noChangeAspect="1"/>
          </p:cNvPicPr>
          <p:nvPr/>
        </p:nvPicPr>
        <p:blipFill>
          <a:blip r:embed="rId2"/>
          <a:stretch>
            <a:fillRect/>
          </a:stretch>
        </p:blipFill>
        <p:spPr>
          <a:xfrm>
            <a:off x="914400" y="1645920"/>
            <a:ext cx="4570628" cy="3200400"/>
          </a:xfrm>
          <a:prstGeom prst="rect">
            <a:avLst/>
          </a:prstGeom>
        </p:spPr>
      </p:pic>
      <p:sp>
        <p:nvSpPr>
          <p:cNvPr id="6" name="TextBox 5"/>
          <p:cNvSpPr txBox="1"/>
          <p:nvPr/>
        </p:nvSpPr>
        <p:spPr>
          <a:xfrm>
            <a:off x="914400" y="4937760"/>
            <a:ext cx="3657600" cy="274320"/>
          </a:xfrm>
          <a:prstGeom prst="rect">
            <a:avLst/>
          </a:prstGeom>
          <a:noFill/>
        </p:spPr>
        <p:txBody>
          <a:bodyPr wrap="none">
            <a:spAutoFit/>
          </a:bodyPr>
          <a:lstStyle/>
          <a:p>
            <a:pPr algn="ctr">
              <a:defRPr sz="1100" i="1">
                <a:solidFill>
                  <a:srgbClr val="B4B4B4"/>
                </a:solidFill>
                <a:latin typeface="Segoe UI"/>
              </a:defRPr>
            </a:pPr>
            <a:r>
              <a:t>This is a logo for Aksha, featuring a stylized blue eye symbol with a plus sign, indicating a focus on vision or healthcare. The logo is set against a light blue background, framed by alternating blue and white stripes. The text "Ak</a:t>
            </a:r>
          </a:p>
        </p:txBody>
      </p:sp>
      <p:sp>
        <p:nvSpPr>
          <p:cNvPr id="7" name="TextBox 6"/>
          <p:cNvSpPr txBox="1"/>
          <p:nvPr/>
        </p:nvSpPr>
        <p:spPr>
          <a:xfrm>
            <a:off x="6582308" y="1645920"/>
            <a:ext cx="5362956" cy="3840480"/>
          </a:xfrm>
          <a:prstGeom prst="rect">
            <a:avLst/>
          </a:prstGeom>
          <a:noFill/>
        </p:spPr>
        <p:txBody>
          <a:bodyPr wrap="square">
            <a:spAutoFit/>
          </a:bodyPr>
          <a:lstStyle/>
          <a:p>
            <a:pPr>
              <a:lnSpc>
                <a:spcPct val="140000"/>
              </a:lnSpc>
              <a:spcAft>
                <a:spcPts val="1200"/>
              </a:spcAft>
              <a:defRPr sz="1600">
                <a:solidFill>
                  <a:srgbClr val="FFFFFF"/>
                </a:solidFill>
                <a:latin typeface="Segoe UI"/>
              </a:defRPr>
            </a:pPr>
            <a:r>
              <a:t>▸ • Aksha is an intelligent surveillance system designed for automatic environment monitoring.</a:t>
            </a:r>
          </a:p>
          <a:p>
            <a:pPr>
              <a:lnSpc>
                <a:spcPct val="140000"/>
              </a:lnSpc>
              <a:spcAft>
                <a:spcPts val="1200"/>
              </a:spcAft>
              <a:defRPr sz="1600">
                <a:solidFill>
                  <a:srgbClr val="FFFFFF"/>
                </a:solidFill>
                <a:latin typeface="Segoe UI"/>
              </a:defRPr>
            </a:pPr>
            <a:r>
              <a:t>▸ • Utilizes advanced technologies such as Computer Vision, Artificial Intelligence, and Gen AI.</a:t>
            </a:r>
          </a:p>
          <a:p>
            <a:pPr>
              <a:lnSpc>
                <a:spcPct val="140000"/>
              </a:lnSpc>
              <a:spcAft>
                <a:spcPts val="1200"/>
              </a:spcAft>
              <a:defRPr sz="1600">
                <a:solidFill>
                  <a:srgbClr val="FFFFFF"/>
                </a:solidFill>
                <a:latin typeface="Segoe UI"/>
              </a:defRPr>
            </a:pPr>
            <a:r>
              <a:t>▸ • Capable of detecting objects and unusual situations with minimal human intervention.</a:t>
            </a:r>
          </a:p>
        </p:txBody>
      </p:sp>
      <p:sp>
        <p:nvSpPr>
          <p:cNvPr id="8" name="Rounded Rectangle 7"/>
          <p:cNvSpPr/>
          <p:nvPr/>
        </p:nvSpPr>
        <p:spPr>
          <a:xfrm>
            <a:off x="10543032" y="6400800"/>
            <a:ext cx="1188720" cy="320040"/>
          </a:xfrm>
          <a:prstGeom prst="roundRect">
            <a:avLst/>
          </a:prstGeom>
          <a:solidFill>
            <a:srgbClr val="282828"/>
          </a:solidFill>
          <a:ln w="12700">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43032" y="6400800"/>
            <a:ext cx="1188720" cy="320040"/>
          </a:xfrm>
          <a:prstGeom prst="rect">
            <a:avLst/>
          </a:prstGeom>
          <a:noFill/>
        </p:spPr>
        <p:txBody>
          <a:bodyPr wrap="none">
            <a:spAutoFit/>
          </a:bodyPr>
          <a:lstStyle/>
          <a:p>
            <a:pPr algn="ctr">
              <a:defRPr sz="1200">
                <a:solidFill>
                  <a:srgbClr val="B4B4B4"/>
                </a:solidFill>
                <a:latin typeface="Segoe UI"/>
              </a:defRPr>
            </a:pPr>
            <a:r>
              <a:t>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457200" y="274320"/>
            <a:ext cx="11274552" cy="731520"/>
          </a:xfrm>
          <a:prstGeom prst="rect">
            <a:avLst/>
          </a:prstGeom>
          <a:noFill/>
        </p:spPr>
        <p:txBody>
          <a:bodyPr wrap="none">
            <a:spAutoFit/>
          </a:bodyPr>
          <a:lstStyle/>
          <a:p>
            <a:pPr algn="ctr">
              <a:defRPr sz="2800" b="1">
                <a:solidFill>
                  <a:srgbClr val="FFFFFF"/>
                </a:solidFill>
                <a:latin typeface="Segoe UI"/>
              </a:defRPr>
            </a:pPr>
            <a:r>
              <a:t>Architectural Approaches</a:t>
            </a:r>
          </a:p>
        </p:txBody>
      </p:sp>
      <p:sp>
        <p:nvSpPr>
          <p:cNvPr id="3" name="Rectangle 2"/>
          <p:cNvSpPr/>
          <p:nvPr/>
        </p:nvSpPr>
        <p:spPr>
          <a:xfrm>
            <a:off x="457200" y="1188720"/>
            <a:ext cx="5485028" cy="4754880"/>
          </a:xfrm>
          <a:prstGeom prst="rect">
            <a:avLst/>
          </a:prstGeom>
          <a:solidFill>
            <a:srgbClr val="1919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216548" y="1188720"/>
            <a:ext cx="6094476" cy="4754880"/>
          </a:xfrm>
          <a:prstGeom prst="rect">
            <a:avLst/>
          </a:prstGeom>
          <a:solidFill>
            <a:srgbClr val="1E1E1E"/>
          </a:solidFill>
          <a:ln w="254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g_test-email@gmail.com_session_0f698ba7_20251119_151059_5b321621_unit6_img0.jpg"/>
          <p:cNvPicPr>
            <a:picLocks noChangeAspect="1"/>
          </p:cNvPicPr>
          <p:nvPr/>
        </p:nvPicPr>
        <p:blipFill>
          <a:blip r:embed="rId2"/>
          <a:stretch>
            <a:fillRect/>
          </a:stretch>
        </p:blipFill>
        <p:spPr>
          <a:xfrm>
            <a:off x="914400" y="1645920"/>
            <a:ext cx="4570628" cy="3200400"/>
          </a:xfrm>
          <a:prstGeom prst="rect">
            <a:avLst/>
          </a:prstGeom>
        </p:spPr>
      </p:pic>
      <p:sp>
        <p:nvSpPr>
          <p:cNvPr id="6" name="TextBox 5"/>
          <p:cNvSpPr txBox="1"/>
          <p:nvPr/>
        </p:nvSpPr>
        <p:spPr>
          <a:xfrm>
            <a:off x="914400" y="4937760"/>
            <a:ext cx="3657600" cy="274320"/>
          </a:xfrm>
          <a:prstGeom prst="rect">
            <a:avLst/>
          </a:prstGeom>
          <a:noFill/>
        </p:spPr>
        <p:txBody>
          <a:bodyPr wrap="none">
            <a:spAutoFit/>
          </a:bodyPr>
          <a:lstStyle/>
          <a:p>
            <a:pPr algn="ctr">
              <a:defRPr sz="1100" i="1">
                <a:solidFill>
                  <a:srgbClr val="B4B4B4"/>
                </a:solidFill>
                <a:latin typeface="Segoe UI"/>
              </a:defRPr>
            </a:pPr>
            <a:r>
              <a:t>This is a screenshot of a surveillance monitoring interface displaying multiple camera feeds. It features a grid layout with live video streams, including office scenes and industrial settings. Some frames highlight detected objects, such as a "person" and a "truck," marked with</a:t>
            </a:r>
          </a:p>
        </p:txBody>
      </p:sp>
      <p:sp>
        <p:nvSpPr>
          <p:cNvPr id="7" name="TextBox 6"/>
          <p:cNvSpPr txBox="1"/>
          <p:nvPr/>
        </p:nvSpPr>
        <p:spPr>
          <a:xfrm>
            <a:off x="6582308" y="1645920"/>
            <a:ext cx="5362956" cy="3840480"/>
          </a:xfrm>
          <a:prstGeom prst="rect">
            <a:avLst/>
          </a:prstGeom>
          <a:noFill/>
        </p:spPr>
        <p:txBody>
          <a:bodyPr wrap="square">
            <a:spAutoFit/>
          </a:bodyPr>
          <a:lstStyle/>
          <a:p>
            <a:pPr>
              <a:lnSpc>
                <a:spcPct val="140000"/>
              </a:lnSpc>
              <a:spcAft>
                <a:spcPts val="1200"/>
              </a:spcAft>
              <a:defRPr sz="1600">
                <a:solidFill>
                  <a:srgbClr val="FFFFFF"/>
                </a:solidFill>
                <a:latin typeface="Segoe UI"/>
              </a:defRPr>
            </a:pPr>
            <a:r>
              <a:t>▸ • Offers multiple deployment options: On-Premise, Edge, and Cloud configurations.</a:t>
            </a:r>
          </a:p>
          <a:p>
            <a:pPr>
              <a:lnSpc>
                <a:spcPct val="140000"/>
              </a:lnSpc>
              <a:spcAft>
                <a:spcPts val="1200"/>
              </a:spcAft>
              <a:defRPr sz="1600">
                <a:solidFill>
                  <a:srgbClr val="FFFFFF"/>
                </a:solidFill>
                <a:latin typeface="Segoe UI"/>
              </a:defRPr>
            </a:pPr>
            <a:r>
              <a:t>▸ • Supports seamless integration with existing infrastructure for enhanced flexibility.</a:t>
            </a:r>
          </a:p>
          <a:p>
            <a:pPr>
              <a:lnSpc>
                <a:spcPct val="140000"/>
              </a:lnSpc>
              <a:spcAft>
                <a:spcPts val="1200"/>
              </a:spcAft>
              <a:defRPr sz="1600">
                <a:solidFill>
                  <a:srgbClr val="FFFFFF"/>
                </a:solidFill>
                <a:latin typeface="Segoe UI"/>
              </a:defRPr>
            </a:pPr>
            <a:r>
              <a:t>▸ • Architectural designs ensure scalability and adaptability to various business needs.</a:t>
            </a:r>
          </a:p>
        </p:txBody>
      </p:sp>
      <p:sp>
        <p:nvSpPr>
          <p:cNvPr id="8" name="Rounded Rectangle 7"/>
          <p:cNvSpPr/>
          <p:nvPr/>
        </p:nvSpPr>
        <p:spPr>
          <a:xfrm>
            <a:off x="10543032" y="6400800"/>
            <a:ext cx="1188720" cy="320040"/>
          </a:xfrm>
          <a:prstGeom prst="roundRect">
            <a:avLst/>
          </a:prstGeom>
          <a:solidFill>
            <a:srgbClr val="282828"/>
          </a:solidFill>
          <a:ln w="12700">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43032" y="6400800"/>
            <a:ext cx="1188720" cy="320040"/>
          </a:xfrm>
          <a:prstGeom prst="rect">
            <a:avLst/>
          </a:prstGeom>
          <a:noFill/>
        </p:spPr>
        <p:txBody>
          <a:bodyPr wrap="none">
            <a:spAutoFit/>
          </a:bodyPr>
          <a:lstStyle/>
          <a:p>
            <a:pPr algn="ctr">
              <a:defRPr sz="1200">
                <a:solidFill>
                  <a:srgbClr val="B4B4B4"/>
                </a:solidFill>
                <a:latin typeface="Segoe UI"/>
              </a:defRPr>
            </a:pPr>
            <a:r>
              <a:t>3/7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457200" y="274320"/>
            <a:ext cx="11274552" cy="731520"/>
          </a:xfrm>
          <a:prstGeom prst="rect">
            <a:avLst/>
          </a:prstGeom>
          <a:noFill/>
        </p:spPr>
        <p:txBody>
          <a:bodyPr wrap="none">
            <a:spAutoFit/>
          </a:bodyPr>
          <a:lstStyle/>
          <a:p>
            <a:pPr algn="ctr">
              <a:defRPr sz="2800" b="1">
                <a:solidFill>
                  <a:srgbClr val="FFFFFF"/>
                </a:solidFill>
                <a:latin typeface="Segoe UI"/>
              </a:defRPr>
            </a:pPr>
            <a:r>
              <a:t>Key Features of Aksha</a:t>
            </a:r>
          </a:p>
        </p:txBody>
      </p:sp>
      <p:sp>
        <p:nvSpPr>
          <p:cNvPr id="3" name="Rectangle 2"/>
          <p:cNvSpPr/>
          <p:nvPr/>
        </p:nvSpPr>
        <p:spPr>
          <a:xfrm>
            <a:off x="457200" y="1188720"/>
            <a:ext cx="5485028" cy="4754880"/>
          </a:xfrm>
          <a:prstGeom prst="rect">
            <a:avLst/>
          </a:prstGeom>
          <a:solidFill>
            <a:srgbClr val="19191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216548" y="1188720"/>
            <a:ext cx="6094476" cy="4754880"/>
          </a:xfrm>
          <a:prstGeom prst="rect">
            <a:avLst/>
          </a:prstGeom>
          <a:solidFill>
            <a:srgbClr val="1E1E1E"/>
          </a:solidFill>
          <a:ln w="254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g_test-email@gmail.com_session_0f698ba7_20251119_151059_5b321621_unit13_img0.jpg"/>
          <p:cNvPicPr>
            <a:picLocks noChangeAspect="1"/>
          </p:cNvPicPr>
          <p:nvPr/>
        </p:nvPicPr>
        <p:blipFill>
          <a:blip r:embed="rId2"/>
          <a:stretch>
            <a:fillRect/>
          </a:stretch>
        </p:blipFill>
        <p:spPr>
          <a:xfrm>
            <a:off x="914400" y="1645920"/>
            <a:ext cx="4570628" cy="3200400"/>
          </a:xfrm>
          <a:prstGeom prst="rect">
            <a:avLst/>
          </a:prstGeom>
        </p:spPr>
      </p:pic>
      <p:sp>
        <p:nvSpPr>
          <p:cNvPr id="6" name="TextBox 5"/>
          <p:cNvSpPr txBox="1"/>
          <p:nvPr/>
        </p:nvSpPr>
        <p:spPr>
          <a:xfrm>
            <a:off x="914400" y="4937760"/>
            <a:ext cx="3657600" cy="274320"/>
          </a:xfrm>
          <a:prstGeom prst="rect">
            <a:avLst/>
          </a:prstGeom>
          <a:noFill/>
        </p:spPr>
        <p:txBody>
          <a:bodyPr wrap="none">
            <a:spAutoFit/>
          </a:bodyPr>
          <a:lstStyle/>
          <a:p>
            <a:pPr algn="ctr">
              <a:defRPr sz="1100" i="1">
                <a:solidFill>
                  <a:srgbClr val="B4B4B4"/>
                </a:solidFill>
                <a:latin typeface="Segoe UI"/>
              </a:defRPr>
            </a:pPr>
            <a:r>
              <a:t>This is a screenshot of a web application interface, specifically a camera directory management system. It displays fields for camera name, link, priority, and description, along with options to add features like live streaming and object detection. On the right, alert settings</a:t>
            </a:r>
          </a:p>
        </p:txBody>
      </p:sp>
      <p:sp>
        <p:nvSpPr>
          <p:cNvPr id="7" name="TextBox 6"/>
          <p:cNvSpPr txBox="1"/>
          <p:nvPr/>
        </p:nvSpPr>
        <p:spPr>
          <a:xfrm>
            <a:off x="6582308" y="1645920"/>
            <a:ext cx="5362956" cy="3840480"/>
          </a:xfrm>
          <a:prstGeom prst="rect">
            <a:avLst/>
          </a:prstGeom>
          <a:noFill/>
        </p:spPr>
        <p:txBody>
          <a:bodyPr wrap="square">
            <a:spAutoFit/>
          </a:bodyPr>
          <a:lstStyle/>
          <a:p>
            <a:pPr>
              <a:lnSpc>
                <a:spcPct val="140000"/>
              </a:lnSpc>
              <a:spcAft>
                <a:spcPts val="1200"/>
              </a:spcAft>
              <a:defRPr sz="1600">
                <a:solidFill>
                  <a:srgbClr val="FFFFFF"/>
                </a:solidFill>
                <a:latin typeface="Segoe UI"/>
              </a:defRPr>
            </a:pPr>
            <a:r>
              <a:t>▸ • Live recording and real-time data processing for immediate insights.</a:t>
            </a:r>
          </a:p>
          <a:p>
            <a:pPr>
              <a:lnSpc>
                <a:spcPct val="140000"/>
              </a:lnSpc>
              <a:spcAft>
                <a:spcPts val="1200"/>
              </a:spcAft>
              <a:defRPr sz="1600">
                <a:solidFill>
                  <a:srgbClr val="FFFFFF"/>
                </a:solidFill>
                <a:latin typeface="Segoe UI"/>
              </a:defRPr>
            </a:pPr>
            <a:r>
              <a:t>▸ • Advanced object detection capabilities including various entities like vehicles and personnel.</a:t>
            </a:r>
          </a:p>
          <a:p>
            <a:pPr>
              <a:lnSpc>
                <a:spcPct val="140000"/>
              </a:lnSpc>
              <a:spcAft>
                <a:spcPts val="1200"/>
              </a:spcAft>
              <a:defRPr sz="1600">
                <a:solidFill>
                  <a:srgbClr val="FFFFFF"/>
                </a:solidFill>
                <a:latin typeface="Segoe UI"/>
              </a:defRPr>
            </a:pPr>
            <a:r>
              <a:t>▸ • Customizable alerts and anomaly detection powered by Gen AI for proactive safety measures.</a:t>
            </a:r>
          </a:p>
        </p:txBody>
      </p:sp>
      <p:sp>
        <p:nvSpPr>
          <p:cNvPr id="8" name="Rounded Rectangle 7"/>
          <p:cNvSpPr/>
          <p:nvPr/>
        </p:nvSpPr>
        <p:spPr>
          <a:xfrm>
            <a:off x="10543032" y="6400800"/>
            <a:ext cx="1188720" cy="320040"/>
          </a:xfrm>
          <a:prstGeom prst="roundRect">
            <a:avLst/>
          </a:prstGeom>
          <a:solidFill>
            <a:srgbClr val="282828"/>
          </a:solidFill>
          <a:ln w="12700">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43032" y="6400800"/>
            <a:ext cx="1188720" cy="320040"/>
          </a:xfrm>
          <a:prstGeom prst="rect">
            <a:avLst/>
          </a:prstGeom>
          <a:noFill/>
        </p:spPr>
        <p:txBody>
          <a:bodyPr wrap="none">
            <a:spAutoFit/>
          </a:bodyPr>
          <a:lstStyle/>
          <a:p>
            <a:pPr algn="ctr">
              <a:defRPr sz="1200">
                <a:solidFill>
                  <a:srgbClr val="B4B4B4"/>
                </a:solidFill>
                <a:latin typeface="Segoe UI"/>
              </a:defRPr>
            </a:pPr>
            <a:r>
              <a:t>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457200" y="274320"/>
            <a:ext cx="11274552" cy="731520"/>
          </a:xfrm>
          <a:prstGeom prst="rect">
            <a:avLst/>
          </a:prstGeom>
          <a:noFill/>
        </p:spPr>
        <p:txBody>
          <a:bodyPr wrap="none">
            <a:spAutoFit/>
          </a:bodyPr>
          <a:lstStyle/>
          <a:p>
            <a:pPr algn="ctr">
              <a:defRPr sz="2800" b="1">
                <a:solidFill>
                  <a:srgbClr val="FFFFFF"/>
                </a:solidFill>
                <a:latin typeface="Segoe UI"/>
              </a:defRPr>
            </a:pPr>
            <a:r>
              <a:t>Client Success Stories</a:t>
            </a:r>
          </a:p>
        </p:txBody>
      </p:sp>
      <p:sp>
        <p:nvSpPr>
          <p:cNvPr id="3" name="Rectangle 2"/>
          <p:cNvSpPr/>
          <p:nvPr/>
        </p:nvSpPr>
        <p:spPr>
          <a:xfrm>
            <a:off x="1522476" y="1371600"/>
            <a:ext cx="9144000" cy="4572000"/>
          </a:xfrm>
          <a:prstGeom prst="rect">
            <a:avLst/>
          </a:prstGeom>
          <a:solidFill>
            <a:srgbClr val="1E1E1E"/>
          </a:solidFill>
          <a:ln w="254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53996" y="1645920"/>
            <a:ext cx="7680960" cy="4023360"/>
          </a:xfrm>
          <a:prstGeom prst="rect">
            <a:avLst/>
          </a:prstGeom>
          <a:noFill/>
        </p:spPr>
        <p:txBody>
          <a:bodyPr wrap="square">
            <a:spAutoFit/>
          </a:bodyPr>
          <a:lstStyle/>
          <a:p>
            <a:pPr>
              <a:lnSpc>
                <a:spcPct val="140000"/>
              </a:lnSpc>
              <a:spcAft>
                <a:spcPts val="1400"/>
              </a:spcAft>
              <a:defRPr sz="1800">
                <a:solidFill>
                  <a:srgbClr val="FFFFFF"/>
                </a:solidFill>
                <a:latin typeface="Segoe UI"/>
              </a:defRPr>
            </a:pPr>
            <a:r>
              <a:t>▸ • Clients report significant reductions in human monitoring efforts and enhanced CCTV utility.</a:t>
            </a:r>
          </a:p>
          <a:p>
            <a:pPr>
              <a:lnSpc>
                <a:spcPct val="140000"/>
              </a:lnSpc>
              <a:spcAft>
                <a:spcPts val="1400"/>
              </a:spcAft>
              <a:defRPr sz="1800">
                <a:solidFill>
                  <a:srgbClr val="FFFFFF"/>
                </a:solidFill>
                <a:latin typeface="Segoe UI"/>
              </a:defRPr>
            </a:pPr>
            <a:r>
              <a:t>▸ • Positive feedback on the ability to detect and highlight abnormal events effectively.</a:t>
            </a:r>
          </a:p>
          <a:p>
            <a:pPr>
              <a:lnSpc>
                <a:spcPct val="140000"/>
              </a:lnSpc>
              <a:spcAft>
                <a:spcPts val="1400"/>
              </a:spcAft>
              <a:defRPr sz="1800">
                <a:solidFill>
                  <a:srgbClr val="FFFFFF"/>
                </a:solidFill>
                <a:latin typeface="Segoe UI"/>
              </a:defRPr>
            </a:pPr>
            <a:r>
              <a:t>▸ • Ongoing interest in future updates and innovations, showcasing client trust and satisfaction.</a:t>
            </a:r>
          </a:p>
        </p:txBody>
      </p:sp>
      <p:sp>
        <p:nvSpPr>
          <p:cNvPr id="5" name="Rounded Rectangle 4"/>
          <p:cNvSpPr/>
          <p:nvPr/>
        </p:nvSpPr>
        <p:spPr>
          <a:xfrm>
            <a:off x="10543032" y="6400800"/>
            <a:ext cx="1188720" cy="320040"/>
          </a:xfrm>
          <a:prstGeom prst="roundRect">
            <a:avLst/>
          </a:prstGeom>
          <a:solidFill>
            <a:srgbClr val="282828"/>
          </a:solidFill>
          <a:ln w="12700">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43032" y="6400800"/>
            <a:ext cx="1188720" cy="320040"/>
          </a:xfrm>
          <a:prstGeom prst="rect">
            <a:avLst/>
          </a:prstGeom>
          <a:noFill/>
        </p:spPr>
        <p:txBody>
          <a:bodyPr wrap="none">
            <a:spAutoFit/>
          </a:bodyPr>
          <a:lstStyle/>
          <a:p>
            <a:pPr algn="ctr">
              <a:defRPr sz="1200">
                <a:solidFill>
                  <a:srgbClr val="B4B4B4"/>
                </a:solidFill>
                <a:latin typeface="Segoe UI"/>
              </a:defRPr>
            </a:pPr>
            <a:r>
              <a:t>5/7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457200" y="274320"/>
            <a:ext cx="11274552" cy="731520"/>
          </a:xfrm>
          <a:prstGeom prst="rect">
            <a:avLst/>
          </a:prstGeom>
          <a:noFill/>
        </p:spPr>
        <p:txBody>
          <a:bodyPr wrap="none">
            <a:spAutoFit/>
          </a:bodyPr>
          <a:lstStyle/>
          <a:p>
            <a:pPr algn="ctr">
              <a:defRPr sz="2800" b="1">
                <a:solidFill>
                  <a:srgbClr val="FFFFFF"/>
                </a:solidFill>
                <a:latin typeface="Segoe UI"/>
              </a:defRPr>
            </a:pPr>
            <a:r>
              <a:t>Scalability and Performance</a:t>
            </a:r>
          </a:p>
        </p:txBody>
      </p:sp>
      <p:sp>
        <p:nvSpPr>
          <p:cNvPr id="3" name="Rectangle 2"/>
          <p:cNvSpPr/>
          <p:nvPr/>
        </p:nvSpPr>
        <p:spPr>
          <a:xfrm>
            <a:off x="1522476" y="1371600"/>
            <a:ext cx="9144000" cy="4572000"/>
          </a:xfrm>
          <a:prstGeom prst="rect">
            <a:avLst/>
          </a:prstGeom>
          <a:solidFill>
            <a:srgbClr val="1E1E1E"/>
          </a:solidFill>
          <a:ln w="254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53996" y="1645920"/>
            <a:ext cx="7680960" cy="4023360"/>
          </a:xfrm>
          <a:prstGeom prst="rect">
            <a:avLst/>
          </a:prstGeom>
          <a:noFill/>
        </p:spPr>
        <p:txBody>
          <a:bodyPr wrap="square">
            <a:spAutoFit/>
          </a:bodyPr>
          <a:lstStyle/>
          <a:p>
            <a:pPr>
              <a:lnSpc>
                <a:spcPct val="140000"/>
              </a:lnSpc>
              <a:spcAft>
                <a:spcPts val="1400"/>
              </a:spcAft>
              <a:defRPr sz="1800">
                <a:solidFill>
                  <a:srgbClr val="FFFFFF"/>
                </a:solidFill>
                <a:latin typeface="Segoe UI"/>
              </a:defRPr>
            </a:pPr>
            <a:r>
              <a:t>▸ • Effortless scalability through Kubernetes for managing microservices and high message volumes.</a:t>
            </a:r>
          </a:p>
          <a:p>
            <a:pPr>
              <a:lnSpc>
                <a:spcPct val="140000"/>
              </a:lnSpc>
              <a:spcAft>
                <a:spcPts val="1400"/>
              </a:spcAft>
              <a:defRPr sz="1800">
                <a:solidFill>
                  <a:srgbClr val="FFFFFF"/>
                </a:solidFill>
                <a:latin typeface="Segoe UI"/>
              </a:defRPr>
            </a:pPr>
            <a:r>
              <a:t>▸ • Decoupled architecture enhances fault tolerance and simplifies maintenance.</a:t>
            </a:r>
          </a:p>
          <a:p>
            <a:pPr>
              <a:lnSpc>
                <a:spcPct val="140000"/>
              </a:lnSpc>
              <a:spcAft>
                <a:spcPts val="1400"/>
              </a:spcAft>
              <a:defRPr sz="1800">
                <a:solidFill>
                  <a:srgbClr val="FFFFFF"/>
                </a:solidFill>
                <a:latin typeface="Segoe UI"/>
              </a:defRPr>
            </a:pPr>
            <a:r>
              <a:t>▸ • Real-time data processing capabilities ensure timely insights and actions for businesses.</a:t>
            </a:r>
          </a:p>
        </p:txBody>
      </p:sp>
      <p:sp>
        <p:nvSpPr>
          <p:cNvPr id="5" name="Rounded Rectangle 4"/>
          <p:cNvSpPr/>
          <p:nvPr/>
        </p:nvSpPr>
        <p:spPr>
          <a:xfrm>
            <a:off x="10543032" y="6400800"/>
            <a:ext cx="1188720" cy="320040"/>
          </a:xfrm>
          <a:prstGeom prst="roundRect">
            <a:avLst/>
          </a:prstGeom>
          <a:solidFill>
            <a:srgbClr val="282828"/>
          </a:solidFill>
          <a:ln w="12700">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43032" y="6400800"/>
            <a:ext cx="1188720" cy="320040"/>
          </a:xfrm>
          <a:prstGeom prst="rect">
            <a:avLst/>
          </a:prstGeom>
          <a:noFill/>
        </p:spPr>
        <p:txBody>
          <a:bodyPr wrap="none">
            <a:spAutoFit/>
          </a:bodyPr>
          <a:lstStyle/>
          <a:p>
            <a:pPr algn="ctr">
              <a:defRPr sz="1200">
                <a:solidFill>
                  <a:srgbClr val="B4B4B4"/>
                </a:solidFill>
                <a:latin typeface="Segoe UI"/>
              </a:defRPr>
            </a:pPr>
            <a:r>
              <a:t>6/7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212"/>
        </a:solidFill>
        <a:effectLst/>
      </p:bgPr>
    </p:bg>
    <p:spTree>
      <p:nvGrpSpPr>
        <p:cNvPr id="1" name=""/>
        <p:cNvGrpSpPr/>
        <p:nvPr/>
      </p:nvGrpSpPr>
      <p:grpSpPr/>
      <p:sp>
        <p:nvSpPr>
          <p:cNvPr id="2" name="TextBox 1"/>
          <p:cNvSpPr txBox="1"/>
          <p:nvPr/>
        </p:nvSpPr>
        <p:spPr>
          <a:xfrm>
            <a:off x="457200" y="274320"/>
            <a:ext cx="11274552" cy="731520"/>
          </a:xfrm>
          <a:prstGeom prst="rect">
            <a:avLst/>
          </a:prstGeom>
          <a:noFill/>
        </p:spPr>
        <p:txBody>
          <a:bodyPr wrap="none">
            <a:spAutoFit/>
          </a:bodyPr>
          <a:lstStyle/>
          <a:p>
            <a:pPr algn="ctr">
              <a:defRPr sz="2800" b="1">
                <a:solidFill>
                  <a:srgbClr val="FFFFFF"/>
                </a:solidFill>
                <a:latin typeface="Segoe UI"/>
              </a:defRPr>
            </a:pPr>
            <a:r>
              <a:t>Getting Started with Aksha</a:t>
            </a:r>
          </a:p>
        </p:txBody>
      </p:sp>
      <p:sp>
        <p:nvSpPr>
          <p:cNvPr id="3" name="Rectangle 2"/>
          <p:cNvSpPr/>
          <p:nvPr/>
        </p:nvSpPr>
        <p:spPr>
          <a:xfrm>
            <a:off x="1522476" y="1371600"/>
            <a:ext cx="9144000" cy="4572000"/>
          </a:xfrm>
          <a:prstGeom prst="rect">
            <a:avLst/>
          </a:prstGeom>
          <a:solidFill>
            <a:srgbClr val="1E1E1E"/>
          </a:solidFill>
          <a:ln w="25400">
            <a:solidFill>
              <a:srgbClr val="009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253996" y="1645920"/>
            <a:ext cx="7680960" cy="4023360"/>
          </a:xfrm>
          <a:prstGeom prst="rect">
            <a:avLst/>
          </a:prstGeom>
          <a:noFill/>
        </p:spPr>
        <p:txBody>
          <a:bodyPr wrap="square">
            <a:spAutoFit/>
          </a:bodyPr>
          <a:lstStyle/>
          <a:p>
            <a:pPr>
              <a:lnSpc>
                <a:spcPct val="140000"/>
              </a:lnSpc>
              <a:spcAft>
                <a:spcPts val="1400"/>
              </a:spcAft>
              <a:defRPr sz="1800">
                <a:solidFill>
                  <a:srgbClr val="FFFFFF"/>
                </a:solidFill>
                <a:latin typeface="Segoe UI"/>
              </a:defRPr>
            </a:pPr>
            <a:r>
              <a:t>▸ • Installation requires connecting to the same network as the CCTV cameras.</a:t>
            </a:r>
          </a:p>
          <a:p>
            <a:pPr>
              <a:lnSpc>
                <a:spcPct val="140000"/>
              </a:lnSpc>
              <a:spcAft>
                <a:spcPts val="1400"/>
              </a:spcAft>
              <a:defRPr sz="1800">
                <a:solidFill>
                  <a:srgbClr val="FFFFFF"/>
                </a:solidFill>
                <a:latin typeface="Segoe UI"/>
              </a:defRPr>
            </a:pPr>
            <a:r>
              <a:t>▸ • Compatible with any standard CCTV camera that provides RTSP links.</a:t>
            </a:r>
          </a:p>
          <a:p>
            <a:pPr>
              <a:lnSpc>
                <a:spcPct val="140000"/>
              </a:lnSpc>
              <a:spcAft>
                <a:spcPts val="1400"/>
              </a:spcAft>
              <a:defRPr sz="1800">
                <a:solidFill>
                  <a:srgbClr val="FFFFFF"/>
                </a:solidFill>
                <a:latin typeface="Segoe UI"/>
              </a:defRPr>
            </a:pPr>
            <a:r>
              <a:t>▸ • Simple setup process ensures quick deployment and integration into existing systems.</a:t>
            </a:r>
          </a:p>
        </p:txBody>
      </p:sp>
      <p:sp>
        <p:nvSpPr>
          <p:cNvPr id="5" name="Rounded Rectangle 4"/>
          <p:cNvSpPr/>
          <p:nvPr/>
        </p:nvSpPr>
        <p:spPr>
          <a:xfrm>
            <a:off x="10543032" y="6400800"/>
            <a:ext cx="1188720" cy="320040"/>
          </a:xfrm>
          <a:prstGeom prst="roundRect">
            <a:avLst/>
          </a:prstGeom>
          <a:solidFill>
            <a:srgbClr val="282828"/>
          </a:solidFill>
          <a:ln w="12700">
            <a:solidFill>
              <a:srgbClr val="3C3C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43032" y="6400800"/>
            <a:ext cx="1188720" cy="320040"/>
          </a:xfrm>
          <a:prstGeom prst="rect">
            <a:avLst/>
          </a:prstGeom>
          <a:noFill/>
        </p:spPr>
        <p:txBody>
          <a:bodyPr wrap="none">
            <a:spAutoFit/>
          </a:bodyPr>
          <a:lstStyle/>
          <a:p>
            <a:pPr algn="ctr">
              <a:defRPr sz="1200">
                <a:solidFill>
                  <a:srgbClr val="B4B4B4"/>
                </a:solidFill>
                <a:latin typeface="Segoe UI"/>
              </a:defRPr>
            </a:pPr>
            <a:r>
              <a:t>7/7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