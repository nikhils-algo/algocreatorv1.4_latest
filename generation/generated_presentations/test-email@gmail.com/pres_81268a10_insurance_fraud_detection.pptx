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828800" y="914400"/>
            <a:ext cx="1097280" cy="1097280"/>
          </a:xfrm>
          <a:prstGeom prst="ellipse">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1371600"/>
            <a:ext cx="1097280" cy="1097280"/>
          </a:xfrm>
          <a:prstGeom prst="ellipse">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828800"/>
            <a:ext cx="1097280" cy="1097280"/>
          </a:xfrm>
          <a:prstGeom prst="ellipse">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60152" cy="1371600"/>
          </a:xfrm>
          <a:prstGeom prst="rect">
            <a:avLst/>
          </a:prstGeom>
          <a:noFill/>
        </p:spPr>
        <p:txBody>
          <a:bodyPr wrap="none">
            <a:spAutoFit/>
          </a:bodyPr>
          <a:lstStyle/>
          <a:p>
            <a:pPr algn="ctr">
              <a:defRPr sz="4400" b="1">
                <a:solidFill>
                  <a:srgbClr val="212529"/>
                </a:solidFill>
                <a:latin typeface="Segoe UI"/>
              </a:defRPr>
            </a:pPr>
            <a:r>
              <a:t>Insurance Fraud Detection</a:t>
            </a:r>
          </a:p>
        </p:txBody>
      </p:sp>
      <p:sp>
        <p:nvSpPr>
          <p:cNvPr id="6" name="TextBox 5"/>
          <p:cNvSpPr txBox="1"/>
          <p:nvPr/>
        </p:nvSpPr>
        <p:spPr>
          <a:xfrm>
            <a:off x="1828800" y="3474720"/>
            <a:ext cx="8531352" cy="731520"/>
          </a:xfrm>
          <a:prstGeom prst="rect">
            <a:avLst/>
          </a:prstGeom>
          <a:noFill/>
        </p:spPr>
        <p:txBody>
          <a:bodyPr wrap="none">
            <a:spAutoFit/>
          </a:bodyPr>
          <a:lstStyle/>
          <a:p>
            <a:pPr algn="ctr">
              <a:defRPr sz="2000">
                <a:solidFill>
                  <a:srgbClr val="0D6EFD"/>
                </a:solidFill>
                <a:latin typeface="Segoe UI"/>
              </a:defRPr>
            </a:pPr>
            <a:r>
              <a:t>Advanced AI Solutions for Manufacturing Excellence</a:t>
            </a:r>
          </a:p>
        </p:txBody>
      </p:sp>
      <p:sp>
        <p:nvSpPr>
          <p:cNvPr id="7" name="Rectangle 6"/>
          <p:cNvSpPr/>
          <p:nvPr/>
        </p:nvSpPr>
        <p:spPr>
          <a:xfrm>
            <a:off x="2743200" y="6126480"/>
            <a:ext cx="6702552" cy="27432"/>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212529"/>
                </a:solidFill>
                <a:latin typeface="Segoe UI"/>
              </a:defRPr>
            </a:pPr>
            <a:r>
              <a:t>Understanding Insurance Fraud</a:t>
            </a:r>
          </a:p>
        </p:txBody>
      </p:sp>
      <p:sp>
        <p:nvSpPr>
          <p:cNvPr id="3" name="Rounded Rectangle 2"/>
          <p:cNvSpPr/>
          <p:nvPr/>
        </p:nvSpPr>
        <p:spPr>
          <a:xfrm>
            <a:off x="457200" y="1188720"/>
            <a:ext cx="5485028" cy="47548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6548" y="1188720"/>
            <a:ext cx="6094476" cy="4754880"/>
          </a:xfrm>
          <a:prstGeom prst="roundRect">
            <a:avLst/>
          </a:prstGeom>
          <a:solidFill>
            <a:srgbClr val="F8F9FA"/>
          </a:solidFill>
          <a:ln w="254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07_img_000_c74381.png"/>
          <p:cNvPicPr>
            <a:picLocks noChangeAspect="1"/>
          </p:cNvPicPr>
          <p:nvPr/>
        </p:nvPicPr>
        <p:blipFill>
          <a:blip r:embed="rId2"/>
          <a:stretch>
            <a:fillRect/>
          </a:stretch>
        </p:blipFill>
        <p:spPr>
          <a:xfrm>
            <a:off x="914400" y="1645920"/>
            <a:ext cx="4570628" cy="3200400"/>
          </a:xfrm>
          <a:prstGeom prst="rect">
            <a:avLst/>
          </a:prstGeom>
          <a:ln w="25400">
            <a:solidFill>
              <a:srgbClr val="0D6EFD"/>
            </a:solidFill>
          </a:ln>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6C757D"/>
                </a:solidFill>
                <a:latin typeface="Segoe UI"/>
              </a:defRPr>
            </a:pPr>
            <a:r>
              <a:t>This is a screenshot of an insurance analytics dashboard, displaying various data visualizations. Key elements include total claim amount ($37,867,320), total premium paid ($39,038,474), and fraud detected (247). It features bar graphs for</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212529"/>
                </a:solidFill>
                <a:latin typeface="Segoe UI"/>
              </a:defRPr>
            </a:pPr>
            <a:r>
              <a:t>• • Insurance fraud involves deceiving companies for illegitimate benefits, including false and exaggerated claims.</a:t>
            </a:r>
          </a:p>
          <a:p>
            <a:pPr>
              <a:lnSpc>
                <a:spcPct val="140000"/>
              </a:lnSpc>
              <a:spcAft>
                <a:spcPts val="1200"/>
              </a:spcAft>
              <a:defRPr sz="1600">
                <a:solidFill>
                  <a:srgbClr val="212529"/>
                </a:solidFill>
                <a:latin typeface="Segoe UI"/>
              </a:defRPr>
            </a:pPr>
            <a:r>
              <a:t>• • Healthcare fraud includes billing for services not rendered and upcoding for higher reimbursements.</a:t>
            </a:r>
          </a:p>
          <a:p>
            <a:pPr>
              <a:lnSpc>
                <a:spcPct val="140000"/>
              </a:lnSpc>
              <a:spcAft>
                <a:spcPts val="1200"/>
              </a:spcAft>
              <a:defRPr sz="1600">
                <a:solidFill>
                  <a:srgbClr val="212529"/>
                </a:solidFill>
                <a:latin typeface="Segoe UI"/>
              </a:defRPr>
            </a:pPr>
            <a:r>
              <a:t>• • Identity fraud entails using someone else's personal information to file insurance claims.</a:t>
            </a:r>
          </a:p>
          <a:p>
            <a:pPr>
              <a:lnSpc>
                <a:spcPct val="140000"/>
              </a:lnSpc>
              <a:spcAft>
                <a:spcPts val="1200"/>
              </a:spcAft>
              <a:defRPr sz="1600">
                <a:solidFill>
                  <a:srgbClr val="212529"/>
                </a:solidFill>
                <a:latin typeface="Segoe UI"/>
              </a:defRPr>
            </a:pPr>
            <a:r>
              <a:t>• • Payment fraud utilizes stolen or counterfeit payment methods, impacting transaction integrity.</a:t>
            </a:r>
          </a:p>
          <a:p>
            <a:pPr>
              <a:lnSpc>
                <a:spcPct val="140000"/>
              </a:lnSpc>
              <a:spcAft>
                <a:spcPts val="1200"/>
              </a:spcAft>
              <a:defRPr sz="1600">
                <a:solidFill>
                  <a:srgbClr val="212529"/>
                </a:solidFill>
                <a:latin typeface="Segoe UI"/>
              </a:defRPr>
            </a:pPr>
            <a:r>
              <a:t>• • The financial impact of fraud includes significant losses, increased operational costs, and reputational damage.</a:t>
            </a:r>
          </a:p>
        </p:txBody>
      </p:sp>
      <p:sp>
        <p:nvSpPr>
          <p:cNvPr id="8" name="Rounded Rectangle 7"/>
          <p:cNvSpPr/>
          <p:nvPr/>
        </p:nvSpPr>
        <p:spPr>
          <a:xfrm>
            <a:off x="10543032" y="6400800"/>
            <a:ext cx="1188720" cy="3200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6C757D"/>
                </a:solidFill>
                <a:latin typeface="Segoe UI"/>
              </a:defRPr>
            </a:pPr>
            <a:r>
              <a:t>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212529"/>
                </a:solidFill>
                <a:latin typeface="Segoe UI"/>
              </a:defRPr>
            </a:pPr>
            <a:r>
              <a:t>Data Insights for Fraud Detection</a:t>
            </a:r>
          </a:p>
        </p:txBody>
      </p:sp>
      <p:sp>
        <p:nvSpPr>
          <p:cNvPr id="3" name="Rounded Rectangle 2"/>
          <p:cNvSpPr/>
          <p:nvPr/>
        </p:nvSpPr>
        <p:spPr>
          <a:xfrm>
            <a:off x="457200" y="1188720"/>
            <a:ext cx="5485028" cy="47548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6548" y="1188720"/>
            <a:ext cx="6094476" cy="4754880"/>
          </a:xfrm>
          <a:prstGeom prst="roundRect">
            <a:avLst/>
          </a:prstGeom>
          <a:solidFill>
            <a:srgbClr val="F8F9FA"/>
          </a:solidFill>
          <a:ln w="254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10_img_000_f8fb0b.png"/>
          <p:cNvPicPr>
            <a:picLocks noChangeAspect="1"/>
          </p:cNvPicPr>
          <p:nvPr/>
        </p:nvPicPr>
        <p:blipFill>
          <a:blip r:embed="rId2"/>
          <a:stretch>
            <a:fillRect/>
          </a:stretch>
        </p:blipFill>
        <p:spPr>
          <a:xfrm>
            <a:off x="914400" y="1645920"/>
            <a:ext cx="4570628" cy="3200400"/>
          </a:xfrm>
          <a:prstGeom prst="rect">
            <a:avLst/>
          </a:prstGeom>
          <a:ln w="25400">
            <a:solidFill>
              <a:srgbClr val="0D6EFD"/>
            </a:solidFill>
          </a:ln>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6C757D"/>
                </a:solidFill>
                <a:latin typeface="Segoe UI"/>
              </a:defRPr>
            </a:pPr>
            <a:r>
              <a:t>This is a diagram illustrating feature importance in a predictive model, likely related to insurance claims. It displays various features along the vertical axis, with corresponding values indicating their impact on the model's output. Positive values are shown in pink and negative values in blue</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212529"/>
                </a:solidFill>
                <a:latin typeface="Segoe UI"/>
              </a:defRPr>
            </a:pPr>
            <a:r>
              <a:t>• • Utilizing a synthetic vehicle insurance dataset with 1000 data points to analyze fraud patterns.</a:t>
            </a:r>
          </a:p>
          <a:p>
            <a:pPr>
              <a:lnSpc>
                <a:spcPct val="140000"/>
              </a:lnSpc>
              <a:spcAft>
                <a:spcPts val="1200"/>
              </a:spcAft>
              <a:defRPr sz="1600">
                <a:solidFill>
                  <a:srgbClr val="212529"/>
                </a:solidFill>
                <a:latin typeface="Segoe UI"/>
              </a:defRPr>
            </a:pPr>
            <a:r>
              <a:t>• • Key features include claim amounts, policy details, and incident characteristics to identify fraudulent behavior.</a:t>
            </a:r>
          </a:p>
          <a:p>
            <a:pPr>
              <a:lnSpc>
                <a:spcPct val="140000"/>
              </a:lnSpc>
              <a:spcAft>
                <a:spcPts val="1200"/>
              </a:spcAft>
              <a:defRPr sz="1600">
                <a:solidFill>
                  <a:srgbClr val="212529"/>
                </a:solidFill>
                <a:latin typeface="Segoe UI"/>
              </a:defRPr>
            </a:pPr>
            <a:r>
              <a:t>• • Fraudulent claims (24.</a:t>
            </a:r>
          </a:p>
          <a:p>
            <a:pPr>
              <a:lnSpc>
                <a:spcPct val="140000"/>
              </a:lnSpc>
              <a:spcAft>
                <a:spcPts val="1200"/>
              </a:spcAft>
              <a:defRPr sz="1600">
                <a:solidFill>
                  <a:srgbClr val="212529"/>
                </a:solidFill>
                <a:latin typeface="Segoe UI"/>
              </a:defRPr>
            </a:pPr>
            <a:r>
              <a:t>• 7% of dataset) often show discrepancies between claimed amounts and actual damages.</a:t>
            </a:r>
          </a:p>
          <a:p>
            <a:pPr>
              <a:lnSpc>
                <a:spcPct val="140000"/>
              </a:lnSpc>
              <a:spcAft>
                <a:spcPts val="1200"/>
              </a:spcAft>
              <a:defRPr sz="1600">
                <a:solidFill>
                  <a:srgbClr val="212529"/>
                </a:solidFill>
                <a:latin typeface="Segoe UI"/>
              </a:defRPr>
            </a:pPr>
            <a:r>
              <a:t>• • Feature selection focuses on injury, property, and vehicle claims to enhance detection accuracy.</a:t>
            </a:r>
          </a:p>
          <a:p>
            <a:pPr>
              <a:lnSpc>
                <a:spcPct val="140000"/>
              </a:lnSpc>
              <a:spcAft>
                <a:spcPts val="1200"/>
              </a:spcAft>
              <a:defRPr sz="1600">
                <a:solidFill>
                  <a:srgbClr val="212529"/>
                </a:solidFill>
                <a:latin typeface="Segoe UI"/>
              </a:defRPr>
            </a:pPr>
            <a:r>
              <a:t>• • Understanding customer demographics and incident types aids in predicting potential fraud.</a:t>
            </a:r>
          </a:p>
        </p:txBody>
      </p:sp>
      <p:sp>
        <p:nvSpPr>
          <p:cNvPr id="8" name="Rounded Rectangle 7"/>
          <p:cNvSpPr/>
          <p:nvPr/>
        </p:nvSpPr>
        <p:spPr>
          <a:xfrm>
            <a:off x="10543032" y="6400800"/>
            <a:ext cx="1188720" cy="3200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6C757D"/>
                </a:solidFill>
                <a:latin typeface="Segoe UI"/>
              </a:defRPr>
            </a:pPr>
            <a:r>
              <a:t>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212529"/>
                </a:solidFill>
                <a:latin typeface="Segoe UI"/>
              </a:defRPr>
            </a:pPr>
            <a:r>
              <a:t>Machine Learning Techniques</a:t>
            </a:r>
          </a:p>
        </p:txBody>
      </p:sp>
      <p:sp>
        <p:nvSpPr>
          <p:cNvPr id="3" name="Rounded Rectangle 2"/>
          <p:cNvSpPr/>
          <p:nvPr/>
        </p:nvSpPr>
        <p:spPr>
          <a:xfrm>
            <a:off x="457200" y="1188720"/>
            <a:ext cx="5485028" cy="47548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6548" y="1188720"/>
            <a:ext cx="6094476" cy="4754880"/>
          </a:xfrm>
          <a:prstGeom prst="roundRect">
            <a:avLst/>
          </a:prstGeom>
          <a:solidFill>
            <a:srgbClr val="F8F9FA"/>
          </a:solidFill>
          <a:ln w="254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04_img_000_47fe69.png"/>
          <p:cNvPicPr>
            <a:picLocks noChangeAspect="1"/>
          </p:cNvPicPr>
          <p:nvPr/>
        </p:nvPicPr>
        <p:blipFill>
          <a:blip r:embed="rId2"/>
          <a:stretch>
            <a:fillRect/>
          </a:stretch>
        </p:blipFill>
        <p:spPr>
          <a:xfrm>
            <a:off x="914400" y="1645920"/>
            <a:ext cx="4570628" cy="3200400"/>
          </a:xfrm>
          <a:prstGeom prst="rect">
            <a:avLst/>
          </a:prstGeom>
          <a:ln w="25400">
            <a:solidFill>
              <a:srgbClr val="0D6EFD"/>
            </a:solidFill>
          </a:ln>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6C757D"/>
                </a:solidFill>
                <a:latin typeface="Segoe UI"/>
              </a:defRPr>
            </a:pPr>
            <a:r>
              <a:t>This is an illustration comparing two PDF parsing processes: traditional and machine learning (ML). The top section, in blue, outlines the traditional method involving manual data entry and database storage. The bottom section, in red, depicts the ML process with automated data</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212529"/>
                </a:solidFill>
                <a:latin typeface="Segoe UI"/>
              </a:defRPr>
            </a:pPr>
            <a:r>
              <a:t>• • Employing unsupervised learning methods like clustering to identify outlier transactions indicative of fraud.</a:t>
            </a:r>
          </a:p>
          <a:p>
            <a:pPr>
              <a:lnSpc>
                <a:spcPct val="140000"/>
              </a:lnSpc>
              <a:spcAft>
                <a:spcPts val="1200"/>
              </a:spcAft>
              <a:defRPr sz="1600">
                <a:solidFill>
                  <a:srgbClr val="212529"/>
                </a:solidFill>
                <a:latin typeface="Segoe UI"/>
              </a:defRPr>
            </a:pPr>
            <a:r>
              <a:t>• • Algorithms such as k-means clustering help separate normal transactions from potential fraud cases.</a:t>
            </a:r>
          </a:p>
          <a:p>
            <a:pPr>
              <a:lnSpc>
                <a:spcPct val="140000"/>
              </a:lnSpc>
              <a:spcAft>
                <a:spcPts val="1200"/>
              </a:spcAft>
              <a:defRPr sz="1600">
                <a:solidFill>
                  <a:srgbClr val="212529"/>
                </a:solidFill>
                <a:latin typeface="Segoe UI"/>
              </a:defRPr>
            </a:pPr>
            <a:r>
              <a:t>• • Feature importance analysis reveals critical indicators for fraud, including incident severity and property damage.</a:t>
            </a:r>
          </a:p>
          <a:p>
            <a:pPr>
              <a:lnSpc>
                <a:spcPct val="140000"/>
              </a:lnSpc>
              <a:spcAft>
                <a:spcPts val="1200"/>
              </a:spcAft>
              <a:defRPr sz="1600">
                <a:solidFill>
                  <a:srgbClr val="212529"/>
                </a:solidFill>
                <a:latin typeface="Segoe UI"/>
              </a:defRPr>
            </a:pPr>
            <a:r>
              <a:t>• • Machine learning models can predict the likelihood of claims based on customer data, improving risk assessment.</a:t>
            </a:r>
          </a:p>
          <a:p>
            <a:pPr>
              <a:lnSpc>
                <a:spcPct val="140000"/>
              </a:lnSpc>
              <a:spcAft>
                <a:spcPts val="1200"/>
              </a:spcAft>
              <a:defRPr sz="1600">
                <a:solidFill>
                  <a:srgbClr val="212529"/>
                </a:solidFill>
                <a:latin typeface="Segoe UI"/>
              </a:defRPr>
            </a:pPr>
            <a:r>
              <a:t>• • Continuous refinement of algorithms enhances detection capabilities and reduces false positives.</a:t>
            </a:r>
          </a:p>
        </p:txBody>
      </p:sp>
      <p:sp>
        <p:nvSpPr>
          <p:cNvPr id="8" name="Rounded Rectangle 7"/>
          <p:cNvSpPr/>
          <p:nvPr/>
        </p:nvSpPr>
        <p:spPr>
          <a:xfrm>
            <a:off x="10543032" y="6400800"/>
            <a:ext cx="1188720" cy="3200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6C757D"/>
                </a:solidFill>
                <a:latin typeface="Segoe UI"/>
              </a:defRPr>
            </a:pPr>
            <a: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212529"/>
                </a:solidFill>
                <a:latin typeface="Segoe UI"/>
              </a:defRPr>
            </a:pPr>
            <a:r>
              <a:t>Model Performance and Business Value</a:t>
            </a:r>
          </a:p>
        </p:txBody>
      </p:sp>
      <p:sp>
        <p:nvSpPr>
          <p:cNvPr id="3" name="Rounded Rectangle 2"/>
          <p:cNvSpPr/>
          <p:nvPr/>
        </p:nvSpPr>
        <p:spPr>
          <a:xfrm>
            <a:off x="457200" y="1188720"/>
            <a:ext cx="5485028" cy="47548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6548" y="1188720"/>
            <a:ext cx="6094476" cy="4754880"/>
          </a:xfrm>
          <a:prstGeom prst="roundRect">
            <a:avLst/>
          </a:prstGeom>
          <a:solidFill>
            <a:srgbClr val="F8F9FA"/>
          </a:solidFill>
          <a:ln w="254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58_img_001_e9e156.png"/>
          <p:cNvPicPr>
            <a:picLocks noChangeAspect="1"/>
          </p:cNvPicPr>
          <p:nvPr/>
        </p:nvPicPr>
        <p:blipFill>
          <a:blip r:embed="rId2"/>
          <a:stretch>
            <a:fillRect/>
          </a:stretch>
        </p:blipFill>
        <p:spPr>
          <a:xfrm>
            <a:off x="914400" y="1645920"/>
            <a:ext cx="4570628" cy="3200400"/>
          </a:xfrm>
          <a:prstGeom prst="rect">
            <a:avLst/>
          </a:prstGeom>
          <a:ln w="25400">
            <a:solidFill>
              <a:srgbClr val="0D6EFD"/>
            </a:solidFill>
          </a:ln>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6C757D"/>
                </a:solidFill>
                <a:latin typeface="Segoe UI"/>
              </a:defRPr>
            </a:pPr>
            <a:r>
              <a:t>This is a diagram presenting a performance comparison of various models in a classification task. It features a table with columns labeled "Model," "Class," "Precision," "Recall," "F1," and "Kappa (K)." Each row lists model</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212529"/>
                </a:solidFill>
                <a:latin typeface="Segoe UI"/>
              </a:defRPr>
            </a:pPr>
            <a:r>
              <a:t>• • The CatBoost model achieves an F1 score of 0.</a:t>
            </a:r>
          </a:p>
          <a:p>
            <a:pPr>
              <a:lnSpc>
                <a:spcPct val="140000"/>
              </a:lnSpc>
              <a:spcAft>
                <a:spcPts val="1200"/>
              </a:spcAft>
              <a:defRPr sz="1600">
                <a:solidFill>
                  <a:srgbClr val="212529"/>
                </a:solidFill>
                <a:latin typeface="Segoe UI"/>
              </a:defRPr>
            </a:pPr>
            <a:r>
              <a:t>• 81, balancing recall (0.</a:t>
            </a:r>
          </a:p>
          <a:p>
            <a:pPr>
              <a:lnSpc>
                <a:spcPct val="140000"/>
              </a:lnSpc>
              <a:spcAft>
                <a:spcPts val="1200"/>
              </a:spcAft>
              <a:defRPr sz="1600">
                <a:solidFill>
                  <a:srgbClr val="212529"/>
                </a:solidFill>
                <a:latin typeface="Segoe UI"/>
              </a:defRPr>
            </a:pPr>
            <a:r>
              <a:t>• 95) and precision (0.</a:t>
            </a:r>
          </a:p>
          <a:p>
            <a:pPr>
              <a:lnSpc>
                <a:spcPct val="140000"/>
              </a:lnSpc>
              <a:spcAft>
                <a:spcPts val="1200"/>
              </a:spcAft>
              <a:defRPr sz="1600">
                <a:solidFill>
                  <a:srgbClr val="212529"/>
                </a:solidFill>
                <a:latin typeface="Segoe UI"/>
              </a:defRPr>
            </a:pPr>
            <a:r>
              <a:t>• 71).</a:t>
            </a:r>
          </a:p>
          <a:p>
            <a:pPr>
              <a:lnSpc>
                <a:spcPct val="140000"/>
              </a:lnSpc>
              <a:spcAft>
                <a:spcPts val="1200"/>
              </a:spcAft>
              <a:defRPr sz="1600">
                <a:solidFill>
                  <a:srgbClr val="212529"/>
                </a:solidFill>
                <a:latin typeface="Segoe UI"/>
              </a:defRPr>
            </a:pPr>
            <a:r>
              <a:t>• • High recall ensures most fraudulent cases are identified, minimizing financial losses for insurers.</a:t>
            </a:r>
          </a:p>
          <a:p>
            <a:pPr>
              <a:lnSpc>
                <a:spcPct val="140000"/>
              </a:lnSpc>
              <a:spcAft>
                <a:spcPts val="1200"/>
              </a:spcAft>
              <a:defRPr sz="1600">
                <a:solidFill>
                  <a:srgbClr val="212529"/>
                </a:solidFill>
                <a:latin typeface="Segoe UI"/>
              </a:defRPr>
            </a:pPr>
            <a:r>
              <a:t>• • Moderate precision indicates some false positives, necessitating further investigation but enhancing overall fraud detection.</a:t>
            </a:r>
          </a:p>
        </p:txBody>
      </p:sp>
      <p:sp>
        <p:nvSpPr>
          <p:cNvPr id="8" name="Rounded Rectangle 7"/>
          <p:cNvSpPr/>
          <p:nvPr/>
        </p:nvSpPr>
        <p:spPr>
          <a:xfrm>
            <a:off x="10543032" y="6400800"/>
            <a:ext cx="1188720" cy="3200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6C757D"/>
                </a:solidFill>
                <a:latin typeface="Segoe UI"/>
              </a:defRPr>
            </a:pPr>
            <a:r>
              <a:t>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212529"/>
                </a:solidFill>
                <a:latin typeface="Segoe UI"/>
              </a:defRPr>
            </a:pPr>
            <a:r>
              <a:t>Conclusion and Future Directions</a:t>
            </a:r>
          </a:p>
        </p:txBody>
      </p:sp>
      <p:sp>
        <p:nvSpPr>
          <p:cNvPr id="3" name="Rounded Rectangle 2"/>
          <p:cNvSpPr/>
          <p:nvPr/>
        </p:nvSpPr>
        <p:spPr>
          <a:xfrm>
            <a:off x="1522476" y="1371600"/>
            <a:ext cx="9144000" cy="4572000"/>
          </a:xfrm>
          <a:prstGeom prst="roundRect">
            <a:avLst/>
          </a:prstGeom>
          <a:solidFill>
            <a:srgbClr val="F8F9FA"/>
          </a:solidFill>
          <a:ln w="254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212529"/>
                </a:solidFill>
                <a:latin typeface="Segoe UI"/>
              </a:defRPr>
            </a:pPr>
            <a:r>
              <a:t>• • Investing in advanced fraud detection technologies mitigates risks and enhances operational efficiency.</a:t>
            </a:r>
          </a:p>
          <a:p>
            <a:pPr>
              <a:lnSpc>
                <a:spcPct val="140000"/>
              </a:lnSpc>
              <a:spcAft>
                <a:spcPts val="1400"/>
              </a:spcAft>
              <a:defRPr sz="1800">
                <a:solidFill>
                  <a:srgbClr val="212529"/>
                </a:solidFill>
                <a:latin typeface="Segoe UI"/>
              </a:defRPr>
            </a:pPr>
            <a:r>
              <a:t>• • Continuous data analysis and model training are essential for adapting to evolving fraud tactics.</a:t>
            </a:r>
          </a:p>
          <a:p>
            <a:pPr>
              <a:lnSpc>
                <a:spcPct val="140000"/>
              </a:lnSpc>
              <a:spcAft>
                <a:spcPts val="1400"/>
              </a:spcAft>
              <a:defRPr sz="1800">
                <a:solidFill>
                  <a:srgbClr val="212529"/>
                </a:solidFill>
                <a:latin typeface="Segoe UI"/>
              </a:defRPr>
            </a:pPr>
            <a:r>
              <a:t>• • Collaboration across departments can improve data sharing and enhance fraud detection strategies.</a:t>
            </a:r>
          </a:p>
          <a:p>
            <a:pPr>
              <a:lnSpc>
                <a:spcPct val="140000"/>
              </a:lnSpc>
              <a:spcAft>
                <a:spcPts val="1400"/>
              </a:spcAft>
              <a:defRPr sz="1800">
                <a:solidFill>
                  <a:srgbClr val="212529"/>
                </a:solidFill>
                <a:latin typeface="Segoe UI"/>
              </a:defRPr>
            </a:pPr>
            <a:r>
              <a:t>• • Future improvements may include integrating real-world data for better model accuracy and reliability.</a:t>
            </a:r>
          </a:p>
          <a:p>
            <a:pPr>
              <a:lnSpc>
                <a:spcPct val="140000"/>
              </a:lnSpc>
              <a:spcAft>
                <a:spcPts val="1400"/>
              </a:spcAft>
              <a:defRPr sz="1800">
                <a:solidFill>
                  <a:srgbClr val="212529"/>
                </a:solidFill>
                <a:latin typeface="Segoe UI"/>
              </a:defRPr>
            </a:pPr>
            <a:r>
              <a:t>• • A robust fraud detection framework not only protects assets but also strengthens customer relationships.</a:t>
            </a:r>
          </a:p>
        </p:txBody>
      </p:sp>
      <p:sp>
        <p:nvSpPr>
          <p:cNvPr id="5" name="Rounded Rectangle 4"/>
          <p:cNvSpPr/>
          <p:nvPr/>
        </p:nvSpPr>
        <p:spPr>
          <a:xfrm>
            <a:off x="10543032" y="6400800"/>
            <a:ext cx="1188720" cy="3200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6C757D"/>
                </a:solidFill>
                <a:latin typeface="Segoe UI"/>
              </a:defRPr>
            </a:pPr>
            <a: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