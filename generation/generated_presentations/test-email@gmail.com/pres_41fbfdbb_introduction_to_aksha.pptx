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1212"/>
        </a:solidFill>
        <a:effectLst/>
      </p:bgPr>
    </p:bg>
    <p:spTree>
      <p:nvGrpSpPr>
        <p:cNvPr id="1" name=""/>
        <p:cNvGrpSpPr/>
        <p:nvPr/>
      </p:nvGrpSpPr>
      <p:grpSpPr/>
      <p:sp>
        <p:nvSpPr>
          <p:cNvPr id="2" name="Oval 1"/>
          <p:cNvSpPr/>
          <p:nvPr/>
        </p:nvSpPr>
        <p:spPr>
          <a:xfrm>
            <a:off x="1828800" y="914400"/>
            <a:ext cx="1097280" cy="1097280"/>
          </a:xfrm>
          <a:prstGeom prst="ellipse">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4572000" y="1371600"/>
            <a:ext cx="1097280" cy="1097280"/>
          </a:xfrm>
          <a:prstGeom prst="ellipse">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315200" y="1828800"/>
            <a:ext cx="1097280" cy="1097280"/>
          </a:xfrm>
          <a:prstGeom prst="ellipse">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10360152" cy="1371600"/>
          </a:xfrm>
          <a:prstGeom prst="rect">
            <a:avLst/>
          </a:prstGeom>
          <a:noFill/>
        </p:spPr>
        <p:txBody>
          <a:bodyPr wrap="none">
            <a:spAutoFit/>
          </a:bodyPr>
          <a:lstStyle/>
          <a:p>
            <a:pPr algn="ctr">
              <a:defRPr sz="4400" b="1">
                <a:solidFill>
                  <a:srgbClr val="FFFFFF"/>
                </a:solidFill>
                <a:latin typeface="Segoe UI"/>
              </a:defRPr>
            </a:pPr>
            <a:r>
              <a:t>Introduction to Aksha</a:t>
            </a:r>
          </a:p>
        </p:txBody>
      </p:sp>
      <p:sp>
        <p:nvSpPr>
          <p:cNvPr id="6" name="TextBox 5"/>
          <p:cNvSpPr txBox="1"/>
          <p:nvPr/>
        </p:nvSpPr>
        <p:spPr>
          <a:xfrm>
            <a:off x="1828800" y="3474720"/>
            <a:ext cx="8531352" cy="731520"/>
          </a:xfrm>
          <a:prstGeom prst="rect">
            <a:avLst/>
          </a:prstGeom>
          <a:noFill/>
        </p:spPr>
        <p:txBody>
          <a:bodyPr wrap="none">
            <a:spAutoFit/>
          </a:bodyPr>
          <a:lstStyle/>
          <a:p>
            <a:pPr algn="ctr">
              <a:defRPr sz="2000">
                <a:solidFill>
                  <a:srgbClr val="0096FF"/>
                </a:solidFill>
                <a:latin typeface="Segoe UI"/>
              </a:defRPr>
            </a:pPr>
            <a:r>
              <a:t>Advanced AI Solutions for Manufacturing Excellence</a:t>
            </a:r>
          </a:p>
        </p:txBody>
      </p:sp>
      <p:sp>
        <p:nvSpPr>
          <p:cNvPr id="7" name="Rectangle 6"/>
          <p:cNvSpPr/>
          <p:nvPr/>
        </p:nvSpPr>
        <p:spPr>
          <a:xfrm>
            <a:off x="2743200" y="6126480"/>
            <a:ext cx="6702552" cy="27432"/>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21212"/>
        </a:solidFill>
        <a:effectLst/>
      </p:bgPr>
    </p:bg>
    <p:spTree>
      <p:nvGrpSpPr>
        <p:cNvPr id="1" name=""/>
        <p:cNvGrpSpPr/>
        <p:nvPr/>
      </p:nvGrpSpPr>
      <p:grpSpPr/>
      <p:sp>
        <p:nvSpPr>
          <p:cNvPr id="2" name="TextBox 1"/>
          <p:cNvSpPr txBox="1"/>
          <p:nvPr/>
        </p:nvSpPr>
        <p:spPr>
          <a:xfrm>
            <a:off x="457200" y="274320"/>
            <a:ext cx="11274552" cy="731520"/>
          </a:xfrm>
          <a:prstGeom prst="rect">
            <a:avLst/>
          </a:prstGeom>
          <a:noFill/>
        </p:spPr>
        <p:txBody>
          <a:bodyPr wrap="none">
            <a:spAutoFit/>
          </a:bodyPr>
          <a:lstStyle/>
          <a:p>
            <a:pPr algn="ctr">
              <a:defRPr sz="2800" b="1">
                <a:solidFill>
                  <a:srgbClr val="FFFFFF"/>
                </a:solidFill>
                <a:latin typeface="Segoe UI"/>
              </a:defRPr>
            </a:pPr>
            <a:r>
              <a:t>What is Aksha?</a:t>
            </a:r>
          </a:p>
        </p:txBody>
      </p:sp>
      <p:sp>
        <p:nvSpPr>
          <p:cNvPr id="3" name="Rectangle 2"/>
          <p:cNvSpPr/>
          <p:nvPr/>
        </p:nvSpPr>
        <p:spPr>
          <a:xfrm>
            <a:off x="457200" y="1188720"/>
            <a:ext cx="5485028" cy="4754880"/>
          </a:xfrm>
          <a:prstGeom prst="rect">
            <a:avLst/>
          </a:prstGeom>
          <a:solidFill>
            <a:srgbClr val="1919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216548" y="1188720"/>
            <a:ext cx="6094476" cy="4754880"/>
          </a:xfrm>
          <a:prstGeom prst="rect">
            <a:avLst/>
          </a:prstGeom>
          <a:solidFill>
            <a:srgbClr val="1E1E1E"/>
          </a:solidFill>
          <a:ln w="25400">
            <a:solidFill>
              <a:srgbClr val="00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g_test-email@gmail.com_session_ed3f26f1_20251119_145209_5b321621_unit0_img0.jpg"/>
          <p:cNvPicPr>
            <a:picLocks noChangeAspect="1"/>
          </p:cNvPicPr>
          <p:nvPr/>
        </p:nvPicPr>
        <p:blipFill>
          <a:blip r:embed="rId2"/>
          <a:stretch>
            <a:fillRect/>
          </a:stretch>
        </p:blipFill>
        <p:spPr>
          <a:xfrm>
            <a:off x="914400" y="1645920"/>
            <a:ext cx="4570628" cy="3200400"/>
          </a:xfrm>
          <a:prstGeom prst="rect">
            <a:avLst/>
          </a:prstGeom>
        </p:spPr>
      </p:pic>
      <p:sp>
        <p:nvSpPr>
          <p:cNvPr id="6" name="TextBox 5"/>
          <p:cNvSpPr txBox="1"/>
          <p:nvPr/>
        </p:nvSpPr>
        <p:spPr>
          <a:xfrm>
            <a:off x="914400" y="4937760"/>
            <a:ext cx="3657600" cy="274320"/>
          </a:xfrm>
          <a:prstGeom prst="rect">
            <a:avLst/>
          </a:prstGeom>
          <a:noFill/>
        </p:spPr>
        <p:txBody>
          <a:bodyPr wrap="none">
            <a:spAutoFit/>
          </a:bodyPr>
          <a:lstStyle/>
          <a:p>
            <a:pPr algn="ctr">
              <a:defRPr sz="1100" i="1">
                <a:solidFill>
                  <a:srgbClr val="B4B4B4"/>
                </a:solidFill>
                <a:latin typeface="Segoe UI"/>
              </a:defRPr>
            </a:pPr>
            <a:r>
              <a:t>This is a logo for "Aksha," featuring a stylized blue eye with a plus sign, symbolizing health or medical care. The background is a lighter blue square, and the brand name "Aksha" is displayed prominently below the eye design</a:t>
            </a:r>
          </a:p>
        </p:txBody>
      </p:sp>
      <p:sp>
        <p:nvSpPr>
          <p:cNvPr id="7" name="TextBox 6"/>
          <p:cNvSpPr txBox="1"/>
          <p:nvPr/>
        </p:nvSpPr>
        <p:spPr>
          <a:xfrm>
            <a:off x="6582308" y="1645920"/>
            <a:ext cx="5362956" cy="3840480"/>
          </a:xfrm>
          <a:prstGeom prst="rect">
            <a:avLst/>
          </a:prstGeom>
          <a:noFill/>
        </p:spPr>
        <p:txBody>
          <a:bodyPr wrap="square">
            <a:spAutoFit/>
          </a:bodyPr>
          <a:lstStyle/>
          <a:p>
            <a:pPr>
              <a:lnSpc>
                <a:spcPct val="140000"/>
              </a:lnSpc>
              <a:spcAft>
                <a:spcPts val="1200"/>
              </a:spcAft>
              <a:defRPr sz="1600">
                <a:solidFill>
                  <a:srgbClr val="FFFFFF"/>
                </a:solidFill>
                <a:latin typeface="Segoe UI"/>
              </a:defRPr>
            </a:pPr>
            <a:r>
              <a:t>▸ • Aksha is an intelligent surveillance system designed for automated monitoring with minimal human intervention.</a:t>
            </a:r>
          </a:p>
          <a:p>
            <a:pPr>
              <a:lnSpc>
                <a:spcPct val="140000"/>
              </a:lnSpc>
              <a:spcAft>
                <a:spcPts val="1200"/>
              </a:spcAft>
              <a:defRPr sz="1600">
                <a:solidFill>
                  <a:srgbClr val="FFFFFF"/>
                </a:solidFill>
                <a:latin typeface="Segoe UI"/>
              </a:defRPr>
            </a:pPr>
            <a:r>
              <a:t>▸ • Utilizes advanced technologies such as Computer Vision, Artificial Intelligence, and Generative AI to enhance monitoring capabilities.</a:t>
            </a:r>
          </a:p>
          <a:p>
            <a:pPr>
              <a:lnSpc>
                <a:spcPct val="140000"/>
              </a:lnSpc>
              <a:spcAft>
                <a:spcPts val="1200"/>
              </a:spcAft>
              <a:defRPr sz="1600">
                <a:solidFill>
                  <a:srgbClr val="FFFFFF"/>
                </a:solidFill>
                <a:latin typeface="Segoe UI"/>
              </a:defRPr>
            </a:pPr>
            <a:r>
              <a:t>▸ • Key functionalities include object detection, anomaly detection, and real-time analysis of unusual situations.</a:t>
            </a:r>
          </a:p>
        </p:txBody>
      </p:sp>
      <p:sp>
        <p:nvSpPr>
          <p:cNvPr id="8" name="Rounded Rectangle 7"/>
          <p:cNvSpPr/>
          <p:nvPr/>
        </p:nvSpPr>
        <p:spPr>
          <a:xfrm>
            <a:off x="10543032" y="6400800"/>
            <a:ext cx="1188720" cy="320040"/>
          </a:xfrm>
          <a:prstGeom prst="roundRect">
            <a:avLst/>
          </a:prstGeom>
          <a:solidFill>
            <a:srgbClr val="282828"/>
          </a:solidFill>
          <a:ln w="12700">
            <a:solidFill>
              <a:srgbClr val="3C3C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43032" y="6400800"/>
            <a:ext cx="1188720" cy="320040"/>
          </a:xfrm>
          <a:prstGeom prst="rect">
            <a:avLst/>
          </a:prstGeom>
          <a:noFill/>
        </p:spPr>
        <p:txBody>
          <a:bodyPr wrap="none">
            <a:spAutoFit/>
          </a:bodyPr>
          <a:lstStyle/>
          <a:p>
            <a:pPr algn="ctr">
              <a:defRPr sz="1200">
                <a:solidFill>
                  <a:srgbClr val="B4B4B4"/>
                </a:solidFill>
                <a:latin typeface="Segoe UI"/>
              </a:defRPr>
            </a:pPr>
            <a:r>
              <a:t>2/7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21212"/>
        </a:solidFill>
        <a:effectLst/>
      </p:bgPr>
    </p:bg>
    <p:spTree>
      <p:nvGrpSpPr>
        <p:cNvPr id="1" name=""/>
        <p:cNvGrpSpPr/>
        <p:nvPr/>
      </p:nvGrpSpPr>
      <p:grpSpPr/>
      <p:sp>
        <p:nvSpPr>
          <p:cNvPr id="2" name="TextBox 1"/>
          <p:cNvSpPr txBox="1"/>
          <p:nvPr/>
        </p:nvSpPr>
        <p:spPr>
          <a:xfrm>
            <a:off x="457200" y="274320"/>
            <a:ext cx="11274552" cy="731520"/>
          </a:xfrm>
          <a:prstGeom prst="rect">
            <a:avLst/>
          </a:prstGeom>
          <a:noFill/>
        </p:spPr>
        <p:txBody>
          <a:bodyPr wrap="none">
            <a:spAutoFit/>
          </a:bodyPr>
          <a:lstStyle/>
          <a:p>
            <a:pPr algn="ctr">
              <a:defRPr sz="2800" b="1">
                <a:solidFill>
                  <a:srgbClr val="FFFFFF"/>
                </a:solidFill>
                <a:latin typeface="Segoe UI"/>
              </a:defRPr>
            </a:pPr>
            <a:r>
              <a:t>Architectural Approaches</a:t>
            </a:r>
          </a:p>
        </p:txBody>
      </p:sp>
      <p:sp>
        <p:nvSpPr>
          <p:cNvPr id="3" name="Rectangle 2"/>
          <p:cNvSpPr/>
          <p:nvPr/>
        </p:nvSpPr>
        <p:spPr>
          <a:xfrm>
            <a:off x="457200" y="1188720"/>
            <a:ext cx="5485028" cy="4754880"/>
          </a:xfrm>
          <a:prstGeom prst="rect">
            <a:avLst/>
          </a:prstGeom>
          <a:solidFill>
            <a:srgbClr val="1919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216548" y="1188720"/>
            <a:ext cx="6094476" cy="4754880"/>
          </a:xfrm>
          <a:prstGeom prst="rect">
            <a:avLst/>
          </a:prstGeom>
          <a:solidFill>
            <a:srgbClr val="1E1E1E"/>
          </a:solidFill>
          <a:ln w="25400">
            <a:solidFill>
              <a:srgbClr val="00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g_test-email@gmail.com_session_ed3f26f1_20251119_145209_5b321621_unit6_img0.jpg"/>
          <p:cNvPicPr>
            <a:picLocks noChangeAspect="1"/>
          </p:cNvPicPr>
          <p:nvPr/>
        </p:nvPicPr>
        <p:blipFill>
          <a:blip r:embed="rId2"/>
          <a:stretch>
            <a:fillRect/>
          </a:stretch>
        </p:blipFill>
        <p:spPr>
          <a:xfrm>
            <a:off x="914400" y="1645920"/>
            <a:ext cx="4570628" cy="3200400"/>
          </a:xfrm>
          <a:prstGeom prst="rect">
            <a:avLst/>
          </a:prstGeom>
        </p:spPr>
      </p:pic>
      <p:sp>
        <p:nvSpPr>
          <p:cNvPr id="6" name="TextBox 5"/>
          <p:cNvSpPr txBox="1"/>
          <p:nvPr/>
        </p:nvSpPr>
        <p:spPr>
          <a:xfrm>
            <a:off x="914400" y="4937760"/>
            <a:ext cx="3657600" cy="274320"/>
          </a:xfrm>
          <a:prstGeom prst="rect">
            <a:avLst/>
          </a:prstGeom>
          <a:noFill/>
        </p:spPr>
        <p:txBody>
          <a:bodyPr wrap="none">
            <a:spAutoFit/>
          </a:bodyPr>
          <a:lstStyle/>
          <a:p>
            <a:pPr algn="ctr">
              <a:defRPr sz="1100" i="1">
                <a:solidFill>
                  <a:srgbClr val="B4B4B4"/>
                </a:solidFill>
                <a:latin typeface="Segoe UI"/>
              </a:defRPr>
            </a:pPr>
            <a:r>
              <a:t>This is a screenshot of a surveillance monitoring interface displaying multiple camera feeds. The layout features several video thumbnails showing various indoor and outdoor scenes, including people and vehicles. Some thumbnails have green bounding boxes identifying detected objects like "person" and "truck." The</a:t>
            </a:r>
          </a:p>
        </p:txBody>
      </p:sp>
      <p:sp>
        <p:nvSpPr>
          <p:cNvPr id="7" name="TextBox 6"/>
          <p:cNvSpPr txBox="1"/>
          <p:nvPr/>
        </p:nvSpPr>
        <p:spPr>
          <a:xfrm>
            <a:off x="6582308" y="1645920"/>
            <a:ext cx="5362956" cy="3840480"/>
          </a:xfrm>
          <a:prstGeom prst="rect">
            <a:avLst/>
          </a:prstGeom>
          <a:noFill/>
        </p:spPr>
        <p:txBody>
          <a:bodyPr wrap="square">
            <a:spAutoFit/>
          </a:bodyPr>
          <a:lstStyle/>
          <a:p>
            <a:pPr>
              <a:lnSpc>
                <a:spcPct val="140000"/>
              </a:lnSpc>
              <a:spcAft>
                <a:spcPts val="1200"/>
              </a:spcAft>
              <a:defRPr sz="1600">
                <a:solidFill>
                  <a:srgbClr val="FFFFFF"/>
                </a:solidFill>
                <a:latin typeface="Segoe UI"/>
              </a:defRPr>
            </a:pPr>
            <a:r>
              <a:t>▸ • Offers multiple architectural configurations: On-Premise, Edge, and Cloud solutions.</a:t>
            </a:r>
          </a:p>
          <a:p>
            <a:pPr>
              <a:lnSpc>
                <a:spcPct val="140000"/>
              </a:lnSpc>
              <a:spcAft>
                <a:spcPts val="1200"/>
              </a:spcAft>
              <a:defRPr sz="1600">
                <a:solidFill>
                  <a:srgbClr val="FFFFFF"/>
                </a:solidFill>
                <a:latin typeface="Segoe UI"/>
              </a:defRPr>
            </a:pPr>
            <a:r>
              <a:t>▸ • Supports seamless integration with existing CCTV infrastructure using standard RTSP links.</a:t>
            </a:r>
          </a:p>
          <a:p>
            <a:pPr>
              <a:lnSpc>
                <a:spcPct val="140000"/>
              </a:lnSpc>
              <a:spcAft>
                <a:spcPts val="1200"/>
              </a:spcAft>
              <a:defRPr sz="1600">
                <a:solidFill>
                  <a:srgbClr val="FFFFFF"/>
                </a:solidFill>
                <a:latin typeface="Segoe UI"/>
              </a:defRPr>
            </a:pPr>
            <a:r>
              <a:t>▸ • Decoupled architecture enhances fault tolerance and allows independent service development.</a:t>
            </a:r>
          </a:p>
        </p:txBody>
      </p:sp>
      <p:sp>
        <p:nvSpPr>
          <p:cNvPr id="8" name="Rounded Rectangle 7"/>
          <p:cNvSpPr/>
          <p:nvPr/>
        </p:nvSpPr>
        <p:spPr>
          <a:xfrm>
            <a:off x="10543032" y="6400800"/>
            <a:ext cx="1188720" cy="320040"/>
          </a:xfrm>
          <a:prstGeom prst="roundRect">
            <a:avLst/>
          </a:prstGeom>
          <a:solidFill>
            <a:srgbClr val="282828"/>
          </a:solidFill>
          <a:ln w="12700">
            <a:solidFill>
              <a:srgbClr val="3C3C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43032" y="6400800"/>
            <a:ext cx="1188720" cy="320040"/>
          </a:xfrm>
          <a:prstGeom prst="rect">
            <a:avLst/>
          </a:prstGeom>
          <a:noFill/>
        </p:spPr>
        <p:txBody>
          <a:bodyPr wrap="none">
            <a:spAutoFit/>
          </a:bodyPr>
          <a:lstStyle/>
          <a:p>
            <a:pPr algn="ctr">
              <a:defRPr sz="1200">
                <a:solidFill>
                  <a:srgbClr val="B4B4B4"/>
                </a:solidFill>
                <a:latin typeface="Segoe UI"/>
              </a:defRPr>
            </a:pPr>
            <a:r>
              <a:t>3/7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21212"/>
        </a:solidFill>
        <a:effectLst/>
      </p:bgPr>
    </p:bg>
    <p:spTree>
      <p:nvGrpSpPr>
        <p:cNvPr id="1" name=""/>
        <p:cNvGrpSpPr/>
        <p:nvPr/>
      </p:nvGrpSpPr>
      <p:grpSpPr/>
      <p:sp>
        <p:nvSpPr>
          <p:cNvPr id="2" name="TextBox 1"/>
          <p:cNvSpPr txBox="1"/>
          <p:nvPr/>
        </p:nvSpPr>
        <p:spPr>
          <a:xfrm>
            <a:off x="457200" y="274320"/>
            <a:ext cx="11274552" cy="731520"/>
          </a:xfrm>
          <a:prstGeom prst="rect">
            <a:avLst/>
          </a:prstGeom>
          <a:noFill/>
        </p:spPr>
        <p:txBody>
          <a:bodyPr wrap="none">
            <a:spAutoFit/>
          </a:bodyPr>
          <a:lstStyle/>
          <a:p>
            <a:pPr algn="ctr">
              <a:defRPr sz="2800" b="1">
                <a:solidFill>
                  <a:srgbClr val="FFFFFF"/>
                </a:solidFill>
                <a:latin typeface="Segoe UI"/>
              </a:defRPr>
            </a:pPr>
            <a:r>
              <a:t>Key Features of Aksha</a:t>
            </a:r>
          </a:p>
        </p:txBody>
      </p:sp>
      <p:sp>
        <p:nvSpPr>
          <p:cNvPr id="3" name="Rectangle 2"/>
          <p:cNvSpPr/>
          <p:nvPr/>
        </p:nvSpPr>
        <p:spPr>
          <a:xfrm>
            <a:off x="457200" y="1188720"/>
            <a:ext cx="5485028" cy="4754880"/>
          </a:xfrm>
          <a:prstGeom prst="rect">
            <a:avLst/>
          </a:prstGeom>
          <a:solidFill>
            <a:srgbClr val="1919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216548" y="1188720"/>
            <a:ext cx="6094476" cy="4754880"/>
          </a:xfrm>
          <a:prstGeom prst="rect">
            <a:avLst/>
          </a:prstGeom>
          <a:solidFill>
            <a:srgbClr val="1E1E1E"/>
          </a:solidFill>
          <a:ln w="25400">
            <a:solidFill>
              <a:srgbClr val="00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g_test-email@gmail.com_session_ed3f26f1_20251119_145209_5b321621_unit13_img0.jpg"/>
          <p:cNvPicPr>
            <a:picLocks noChangeAspect="1"/>
          </p:cNvPicPr>
          <p:nvPr/>
        </p:nvPicPr>
        <p:blipFill>
          <a:blip r:embed="rId2"/>
          <a:stretch>
            <a:fillRect/>
          </a:stretch>
        </p:blipFill>
        <p:spPr>
          <a:xfrm>
            <a:off x="914400" y="1645920"/>
            <a:ext cx="4570628" cy="3200400"/>
          </a:xfrm>
          <a:prstGeom prst="rect">
            <a:avLst/>
          </a:prstGeom>
        </p:spPr>
      </p:pic>
      <p:sp>
        <p:nvSpPr>
          <p:cNvPr id="6" name="TextBox 5"/>
          <p:cNvSpPr txBox="1"/>
          <p:nvPr/>
        </p:nvSpPr>
        <p:spPr>
          <a:xfrm>
            <a:off x="914400" y="4937760"/>
            <a:ext cx="3657600" cy="274320"/>
          </a:xfrm>
          <a:prstGeom prst="rect">
            <a:avLst/>
          </a:prstGeom>
          <a:noFill/>
        </p:spPr>
        <p:txBody>
          <a:bodyPr wrap="none">
            <a:spAutoFit/>
          </a:bodyPr>
          <a:lstStyle/>
          <a:p>
            <a:pPr algn="ctr">
              <a:defRPr sz="1100" i="1">
                <a:solidFill>
                  <a:srgbClr val="B4B4B4"/>
                </a:solidFill>
                <a:latin typeface="Segoe UI"/>
              </a:defRPr>
            </a:pPr>
            <a:r>
              <a:t>This is a screenshot of a web application interface, specifically a camera directory management system. It displays fields for camera name, link, priority, and description, along with options to add features like live monitoring and object detection. On the right, alert settings</a:t>
            </a:r>
          </a:p>
        </p:txBody>
      </p:sp>
      <p:sp>
        <p:nvSpPr>
          <p:cNvPr id="7" name="TextBox 6"/>
          <p:cNvSpPr txBox="1"/>
          <p:nvPr/>
        </p:nvSpPr>
        <p:spPr>
          <a:xfrm>
            <a:off x="6582308" y="1645920"/>
            <a:ext cx="5362956" cy="3840480"/>
          </a:xfrm>
          <a:prstGeom prst="rect">
            <a:avLst/>
          </a:prstGeom>
          <a:noFill/>
        </p:spPr>
        <p:txBody>
          <a:bodyPr wrap="square">
            <a:spAutoFit/>
          </a:bodyPr>
          <a:lstStyle/>
          <a:p>
            <a:pPr>
              <a:lnSpc>
                <a:spcPct val="140000"/>
              </a:lnSpc>
              <a:spcAft>
                <a:spcPts val="1200"/>
              </a:spcAft>
              <a:defRPr sz="1600">
                <a:solidFill>
                  <a:srgbClr val="FFFFFF"/>
                </a:solidFill>
                <a:latin typeface="Segoe UI"/>
              </a:defRPr>
            </a:pPr>
            <a:r>
              <a:t>▸ • Live recording and processing of video data for immediate insights.</a:t>
            </a:r>
          </a:p>
          <a:p>
            <a:pPr>
              <a:lnSpc>
                <a:spcPct val="140000"/>
              </a:lnSpc>
              <a:spcAft>
                <a:spcPts val="1200"/>
              </a:spcAft>
              <a:defRPr sz="1600">
                <a:solidFill>
                  <a:srgbClr val="FFFFFF"/>
                </a:solidFill>
                <a:latin typeface="Segoe UI"/>
              </a:defRPr>
            </a:pPr>
            <a:r>
              <a:t>▸ • Advanced object detection capabilities, identifying various entities like vehicles, personnel, and anomalies.</a:t>
            </a:r>
          </a:p>
          <a:p>
            <a:pPr>
              <a:lnSpc>
                <a:spcPct val="140000"/>
              </a:lnSpc>
              <a:spcAft>
                <a:spcPts val="1200"/>
              </a:spcAft>
              <a:defRPr sz="1600">
                <a:solidFill>
                  <a:srgbClr val="FFFFFF"/>
                </a:solidFill>
                <a:latin typeface="Segoe UI"/>
              </a:defRPr>
            </a:pPr>
            <a:r>
              <a:t>▸ • Customizable alerts enable users to receive notifications tailored to specific scenarios.</a:t>
            </a:r>
          </a:p>
        </p:txBody>
      </p:sp>
      <p:sp>
        <p:nvSpPr>
          <p:cNvPr id="8" name="Rounded Rectangle 7"/>
          <p:cNvSpPr/>
          <p:nvPr/>
        </p:nvSpPr>
        <p:spPr>
          <a:xfrm>
            <a:off x="10543032" y="6400800"/>
            <a:ext cx="1188720" cy="320040"/>
          </a:xfrm>
          <a:prstGeom prst="roundRect">
            <a:avLst/>
          </a:prstGeom>
          <a:solidFill>
            <a:srgbClr val="282828"/>
          </a:solidFill>
          <a:ln w="12700">
            <a:solidFill>
              <a:srgbClr val="3C3C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43032" y="6400800"/>
            <a:ext cx="1188720" cy="320040"/>
          </a:xfrm>
          <a:prstGeom prst="rect">
            <a:avLst/>
          </a:prstGeom>
          <a:noFill/>
        </p:spPr>
        <p:txBody>
          <a:bodyPr wrap="none">
            <a:spAutoFit/>
          </a:bodyPr>
          <a:lstStyle/>
          <a:p>
            <a:pPr algn="ctr">
              <a:defRPr sz="1200">
                <a:solidFill>
                  <a:srgbClr val="B4B4B4"/>
                </a:solidFill>
                <a:latin typeface="Segoe UI"/>
              </a:defRPr>
            </a:pPr>
            <a:r>
              <a:t>4/7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21212"/>
        </a:solidFill>
        <a:effectLst/>
      </p:bgPr>
    </p:bg>
    <p:spTree>
      <p:nvGrpSpPr>
        <p:cNvPr id="1" name=""/>
        <p:cNvGrpSpPr/>
        <p:nvPr/>
      </p:nvGrpSpPr>
      <p:grpSpPr/>
      <p:sp>
        <p:nvSpPr>
          <p:cNvPr id="2" name="TextBox 1"/>
          <p:cNvSpPr txBox="1"/>
          <p:nvPr/>
        </p:nvSpPr>
        <p:spPr>
          <a:xfrm>
            <a:off x="457200" y="274320"/>
            <a:ext cx="11274552" cy="731520"/>
          </a:xfrm>
          <a:prstGeom prst="rect">
            <a:avLst/>
          </a:prstGeom>
          <a:noFill/>
        </p:spPr>
        <p:txBody>
          <a:bodyPr wrap="none">
            <a:spAutoFit/>
          </a:bodyPr>
          <a:lstStyle/>
          <a:p>
            <a:pPr algn="ctr">
              <a:defRPr sz="2800" b="1">
                <a:solidFill>
                  <a:srgbClr val="FFFFFF"/>
                </a:solidFill>
                <a:latin typeface="Segoe UI"/>
              </a:defRPr>
            </a:pPr>
            <a:r>
              <a:t>Customer Success Stories</a:t>
            </a:r>
          </a:p>
        </p:txBody>
      </p:sp>
      <p:sp>
        <p:nvSpPr>
          <p:cNvPr id="3" name="Rectangle 2"/>
          <p:cNvSpPr/>
          <p:nvPr/>
        </p:nvSpPr>
        <p:spPr>
          <a:xfrm>
            <a:off x="1522476" y="1371600"/>
            <a:ext cx="9144000" cy="4572000"/>
          </a:xfrm>
          <a:prstGeom prst="rect">
            <a:avLst/>
          </a:prstGeom>
          <a:solidFill>
            <a:srgbClr val="1E1E1E"/>
          </a:solidFill>
          <a:ln w="25400">
            <a:solidFill>
              <a:srgbClr val="00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53996" y="1645920"/>
            <a:ext cx="7680960" cy="4023360"/>
          </a:xfrm>
          <a:prstGeom prst="rect">
            <a:avLst/>
          </a:prstGeom>
          <a:noFill/>
        </p:spPr>
        <p:txBody>
          <a:bodyPr wrap="square">
            <a:spAutoFit/>
          </a:bodyPr>
          <a:lstStyle/>
          <a:p>
            <a:pPr>
              <a:lnSpc>
                <a:spcPct val="140000"/>
              </a:lnSpc>
              <a:spcAft>
                <a:spcPts val="1400"/>
              </a:spcAft>
              <a:defRPr sz="1800">
                <a:solidFill>
                  <a:srgbClr val="FFFFFF"/>
                </a:solidFill>
                <a:latin typeface="Segoe UI"/>
              </a:defRPr>
            </a:pPr>
            <a:r>
              <a:t>▸ • Clients report significant reductions in human monitoring efforts and enhanced detection of unforeseen events.</a:t>
            </a:r>
          </a:p>
          <a:p>
            <a:pPr>
              <a:lnSpc>
                <a:spcPct val="140000"/>
              </a:lnSpc>
              <a:spcAft>
                <a:spcPts val="1400"/>
              </a:spcAft>
              <a:defRPr sz="1800">
                <a:solidFill>
                  <a:srgbClr val="FFFFFF"/>
                </a:solidFill>
                <a:latin typeface="Segoe UI"/>
              </a:defRPr>
            </a:pPr>
            <a:r>
              <a:t>▸ • Positive feedback highlights the system's ability to provide actionable insights and improve safety protocols.</a:t>
            </a:r>
          </a:p>
          <a:p>
            <a:pPr>
              <a:lnSpc>
                <a:spcPct val="140000"/>
              </a:lnSpc>
              <a:spcAft>
                <a:spcPts val="1400"/>
              </a:spcAft>
              <a:defRPr sz="1800">
                <a:solidFill>
                  <a:srgbClr val="FFFFFF"/>
                </a:solidFill>
                <a:latin typeface="Segoe UI"/>
              </a:defRPr>
            </a:pPr>
            <a:r>
              <a:t>▸ • Ongoing updates and innovations are anticipated to further enhance system capabilities.</a:t>
            </a:r>
          </a:p>
        </p:txBody>
      </p:sp>
      <p:sp>
        <p:nvSpPr>
          <p:cNvPr id="5" name="Rounded Rectangle 4"/>
          <p:cNvSpPr/>
          <p:nvPr/>
        </p:nvSpPr>
        <p:spPr>
          <a:xfrm>
            <a:off x="10543032" y="6400800"/>
            <a:ext cx="1188720" cy="320040"/>
          </a:xfrm>
          <a:prstGeom prst="roundRect">
            <a:avLst/>
          </a:prstGeom>
          <a:solidFill>
            <a:srgbClr val="282828"/>
          </a:solidFill>
          <a:ln w="12700">
            <a:solidFill>
              <a:srgbClr val="3C3C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43032" y="6400800"/>
            <a:ext cx="1188720" cy="320040"/>
          </a:xfrm>
          <a:prstGeom prst="rect">
            <a:avLst/>
          </a:prstGeom>
          <a:noFill/>
        </p:spPr>
        <p:txBody>
          <a:bodyPr wrap="none">
            <a:spAutoFit/>
          </a:bodyPr>
          <a:lstStyle/>
          <a:p>
            <a:pPr algn="ctr">
              <a:defRPr sz="1200">
                <a:solidFill>
                  <a:srgbClr val="B4B4B4"/>
                </a:solidFill>
                <a:latin typeface="Segoe UI"/>
              </a:defRPr>
            </a:pPr>
            <a:r>
              <a:t>5/7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21212"/>
        </a:solidFill>
        <a:effectLst/>
      </p:bgPr>
    </p:bg>
    <p:spTree>
      <p:nvGrpSpPr>
        <p:cNvPr id="1" name=""/>
        <p:cNvGrpSpPr/>
        <p:nvPr/>
      </p:nvGrpSpPr>
      <p:grpSpPr/>
      <p:sp>
        <p:nvSpPr>
          <p:cNvPr id="2" name="TextBox 1"/>
          <p:cNvSpPr txBox="1"/>
          <p:nvPr/>
        </p:nvSpPr>
        <p:spPr>
          <a:xfrm>
            <a:off x="457200" y="274320"/>
            <a:ext cx="11274552" cy="731520"/>
          </a:xfrm>
          <a:prstGeom prst="rect">
            <a:avLst/>
          </a:prstGeom>
          <a:noFill/>
        </p:spPr>
        <p:txBody>
          <a:bodyPr wrap="none">
            <a:spAutoFit/>
          </a:bodyPr>
          <a:lstStyle/>
          <a:p>
            <a:pPr algn="ctr">
              <a:defRPr sz="2800" b="1">
                <a:solidFill>
                  <a:srgbClr val="FFFFFF"/>
                </a:solidFill>
                <a:latin typeface="Segoe UI"/>
              </a:defRPr>
            </a:pPr>
            <a:r>
              <a:t>Scalability and Performance</a:t>
            </a:r>
          </a:p>
        </p:txBody>
      </p:sp>
      <p:sp>
        <p:nvSpPr>
          <p:cNvPr id="3" name="Rectangle 2"/>
          <p:cNvSpPr/>
          <p:nvPr/>
        </p:nvSpPr>
        <p:spPr>
          <a:xfrm>
            <a:off x="1522476" y="1371600"/>
            <a:ext cx="9144000" cy="4572000"/>
          </a:xfrm>
          <a:prstGeom prst="rect">
            <a:avLst/>
          </a:prstGeom>
          <a:solidFill>
            <a:srgbClr val="1E1E1E"/>
          </a:solidFill>
          <a:ln w="25400">
            <a:solidFill>
              <a:srgbClr val="00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53996" y="1645920"/>
            <a:ext cx="7680960" cy="4023360"/>
          </a:xfrm>
          <a:prstGeom prst="rect">
            <a:avLst/>
          </a:prstGeom>
          <a:noFill/>
        </p:spPr>
        <p:txBody>
          <a:bodyPr wrap="square">
            <a:spAutoFit/>
          </a:bodyPr>
          <a:lstStyle/>
          <a:p>
            <a:pPr>
              <a:lnSpc>
                <a:spcPct val="140000"/>
              </a:lnSpc>
              <a:spcAft>
                <a:spcPts val="1400"/>
              </a:spcAft>
              <a:defRPr sz="1800">
                <a:solidFill>
                  <a:srgbClr val="FFFFFF"/>
                </a:solidFill>
                <a:latin typeface="Segoe UI"/>
              </a:defRPr>
            </a:pPr>
            <a:r>
              <a:t>▸ • Effortless scalability through Kubernetes for managing microservices and high message volumes.</a:t>
            </a:r>
          </a:p>
          <a:p>
            <a:pPr>
              <a:lnSpc>
                <a:spcPct val="140000"/>
              </a:lnSpc>
              <a:spcAft>
                <a:spcPts val="1400"/>
              </a:spcAft>
              <a:defRPr sz="1800">
                <a:solidFill>
                  <a:srgbClr val="FFFFFF"/>
                </a:solidFill>
                <a:latin typeface="Segoe UI"/>
              </a:defRPr>
            </a:pPr>
            <a:r>
              <a:t>▸ • Real-time data processing ensures timely insights and actions, critical for operational efficiency.</a:t>
            </a:r>
          </a:p>
          <a:p>
            <a:pPr>
              <a:lnSpc>
                <a:spcPct val="140000"/>
              </a:lnSpc>
              <a:spcAft>
                <a:spcPts val="1400"/>
              </a:spcAft>
              <a:defRPr sz="1800">
                <a:solidFill>
                  <a:srgbClr val="FFFFFF"/>
                </a:solidFill>
                <a:latin typeface="Segoe UI"/>
              </a:defRPr>
            </a:pPr>
            <a:r>
              <a:t>▸ • High availability maintained through distributed messaging systems like Kafka.</a:t>
            </a:r>
          </a:p>
        </p:txBody>
      </p:sp>
      <p:sp>
        <p:nvSpPr>
          <p:cNvPr id="5" name="Rounded Rectangle 4"/>
          <p:cNvSpPr/>
          <p:nvPr/>
        </p:nvSpPr>
        <p:spPr>
          <a:xfrm>
            <a:off x="10543032" y="6400800"/>
            <a:ext cx="1188720" cy="320040"/>
          </a:xfrm>
          <a:prstGeom prst="roundRect">
            <a:avLst/>
          </a:prstGeom>
          <a:solidFill>
            <a:srgbClr val="282828"/>
          </a:solidFill>
          <a:ln w="12700">
            <a:solidFill>
              <a:srgbClr val="3C3C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43032" y="6400800"/>
            <a:ext cx="1188720" cy="320040"/>
          </a:xfrm>
          <a:prstGeom prst="rect">
            <a:avLst/>
          </a:prstGeom>
          <a:noFill/>
        </p:spPr>
        <p:txBody>
          <a:bodyPr wrap="none">
            <a:spAutoFit/>
          </a:bodyPr>
          <a:lstStyle/>
          <a:p>
            <a:pPr algn="ctr">
              <a:defRPr sz="1200">
                <a:solidFill>
                  <a:srgbClr val="B4B4B4"/>
                </a:solidFill>
                <a:latin typeface="Segoe UI"/>
              </a:defRPr>
            </a:pPr>
            <a:r>
              <a:t>6/7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21212"/>
        </a:solidFill>
        <a:effectLst/>
      </p:bgPr>
    </p:bg>
    <p:spTree>
      <p:nvGrpSpPr>
        <p:cNvPr id="1" name=""/>
        <p:cNvGrpSpPr/>
        <p:nvPr/>
      </p:nvGrpSpPr>
      <p:grpSpPr/>
      <p:sp>
        <p:nvSpPr>
          <p:cNvPr id="2" name="TextBox 1"/>
          <p:cNvSpPr txBox="1"/>
          <p:nvPr/>
        </p:nvSpPr>
        <p:spPr>
          <a:xfrm>
            <a:off x="457200" y="274320"/>
            <a:ext cx="11274552" cy="731520"/>
          </a:xfrm>
          <a:prstGeom prst="rect">
            <a:avLst/>
          </a:prstGeom>
          <a:noFill/>
        </p:spPr>
        <p:txBody>
          <a:bodyPr wrap="none">
            <a:spAutoFit/>
          </a:bodyPr>
          <a:lstStyle/>
          <a:p>
            <a:pPr algn="ctr">
              <a:defRPr sz="2800" b="1">
                <a:solidFill>
                  <a:srgbClr val="FFFFFF"/>
                </a:solidFill>
                <a:latin typeface="Segoe UI"/>
              </a:defRPr>
            </a:pPr>
            <a:r>
              <a:t>Getting Started with Aksha</a:t>
            </a:r>
          </a:p>
        </p:txBody>
      </p:sp>
      <p:sp>
        <p:nvSpPr>
          <p:cNvPr id="3" name="Rectangle 2"/>
          <p:cNvSpPr/>
          <p:nvPr/>
        </p:nvSpPr>
        <p:spPr>
          <a:xfrm>
            <a:off x="1522476" y="1371600"/>
            <a:ext cx="9144000" cy="4572000"/>
          </a:xfrm>
          <a:prstGeom prst="rect">
            <a:avLst/>
          </a:prstGeom>
          <a:solidFill>
            <a:srgbClr val="1E1E1E"/>
          </a:solidFill>
          <a:ln w="25400">
            <a:solidFill>
              <a:srgbClr val="00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53996" y="1645920"/>
            <a:ext cx="7680960" cy="4023360"/>
          </a:xfrm>
          <a:prstGeom prst="rect">
            <a:avLst/>
          </a:prstGeom>
          <a:noFill/>
        </p:spPr>
        <p:txBody>
          <a:bodyPr wrap="square">
            <a:spAutoFit/>
          </a:bodyPr>
          <a:lstStyle/>
          <a:p>
            <a:pPr>
              <a:lnSpc>
                <a:spcPct val="140000"/>
              </a:lnSpc>
              <a:spcAft>
                <a:spcPts val="1400"/>
              </a:spcAft>
              <a:defRPr sz="1800">
                <a:solidFill>
                  <a:srgbClr val="FFFFFF"/>
                </a:solidFill>
                <a:latin typeface="Segoe UI"/>
              </a:defRPr>
            </a:pPr>
            <a:r>
              <a:t>▸ • Installation requires connecting to the same network as existing DVR/NVR systems.</a:t>
            </a:r>
          </a:p>
          <a:p>
            <a:pPr>
              <a:lnSpc>
                <a:spcPct val="140000"/>
              </a:lnSpc>
              <a:spcAft>
                <a:spcPts val="1400"/>
              </a:spcAft>
              <a:defRPr sz="1800">
                <a:solidFill>
                  <a:srgbClr val="FFFFFF"/>
                </a:solidFill>
                <a:latin typeface="Segoe UI"/>
              </a:defRPr>
            </a:pPr>
            <a:r>
              <a:t>▸ • Compatible with any standard CCTV camera that supports RTSP links.</a:t>
            </a:r>
          </a:p>
          <a:p>
            <a:pPr>
              <a:lnSpc>
                <a:spcPct val="140000"/>
              </a:lnSpc>
              <a:spcAft>
                <a:spcPts val="1400"/>
              </a:spcAft>
              <a:defRPr sz="1800">
                <a:solidFill>
                  <a:srgbClr val="FFFFFF"/>
                </a:solidFill>
                <a:latin typeface="Segoe UI"/>
              </a:defRPr>
            </a:pPr>
            <a:r>
              <a:t>▸ • Comprehensive support and documentation available for seamless implementation.</a:t>
            </a:r>
          </a:p>
        </p:txBody>
      </p:sp>
      <p:sp>
        <p:nvSpPr>
          <p:cNvPr id="5" name="Rounded Rectangle 4"/>
          <p:cNvSpPr/>
          <p:nvPr/>
        </p:nvSpPr>
        <p:spPr>
          <a:xfrm>
            <a:off x="10543032" y="6400800"/>
            <a:ext cx="1188720" cy="320040"/>
          </a:xfrm>
          <a:prstGeom prst="roundRect">
            <a:avLst/>
          </a:prstGeom>
          <a:solidFill>
            <a:srgbClr val="282828"/>
          </a:solidFill>
          <a:ln w="12700">
            <a:solidFill>
              <a:srgbClr val="3C3C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43032" y="6400800"/>
            <a:ext cx="1188720" cy="320040"/>
          </a:xfrm>
          <a:prstGeom prst="rect">
            <a:avLst/>
          </a:prstGeom>
          <a:noFill/>
        </p:spPr>
        <p:txBody>
          <a:bodyPr wrap="none">
            <a:spAutoFit/>
          </a:bodyPr>
          <a:lstStyle/>
          <a:p>
            <a:pPr algn="ctr">
              <a:defRPr sz="1200">
                <a:solidFill>
                  <a:srgbClr val="B4B4B4"/>
                </a:solidFill>
                <a:latin typeface="Segoe UI"/>
              </a:defRPr>
            </a:pPr>
            <a:r>
              <a:t>7/7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