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5" r:id="rId6"/>
    <p:sldMasterId id="2147483691" r:id="rId7"/>
    <p:sldMasterId id="2147483707" r:id="rId8"/>
    <p:sldMasterId id="2147483720" r:id="rId9"/>
    <p:sldMasterId id="2147483737" r:id="rId10"/>
    <p:sldMasterId id="2147483756" r:id="rId11"/>
    <p:sldMasterId id="2147483772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</p:sldIdLst>
  <p:sldSz cy="6858000" cx="12192000"/>
  <p:notesSz cx="68580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iRN/yXHORtlZTS55Kvivi+Xcte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1B6BF-086A-490F-9F44-55C47A062FF5}">
  <a:tblStyle styleId="{4341B6BF-086A-490F-9F44-55C47A062F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7.xml"/><Relationship Id="rId20" Type="http://schemas.openxmlformats.org/officeDocument/2006/relationships/slide" Target="slides/slide7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9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8.xml"/><Relationship Id="rId43" Type="http://schemas.openxmlformats.org/officeDocument/2006/relationships/font" Target="fonts/Roboto-italic.fntdata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45" Type="http://customschemas.google.com/relationships/presentationmetadata" Target="metadata"/><Relationship Id="rId1" Type="http://schemas.openxmlformats.org/officeDocument/2006/relationships/theme" Target="theme/theme6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6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33" Type="http://schemas.openxmlformats.org/officeDocument/2006/relationships/slide" Target="slides/slide20.xml"/><Relationship Id="rId10" Type="http://schemas.openxmlformats.org/officeDocument/2006/relationships/slideMaster" Target="slideMasters/slideMaster7.xml"/><Relationship Id="rId32" Type="http://schemas.openxmlformats.org/officeDocument/2006/relationships/slide" Target="slides/slide19.xml"/><Relationship Id="rId13" Type="http://schemas.openxmlformats.org/officeDocument/2006/relationships/notesMaster" Target="notesMasters/notesMaster1.xml"/><Relationship Id="rId35" Type="http://schemas.openxmlformats.org/officeDocument/2006/relationships/slide" Target="slides/slide22.xml"/><Relationship Id="rId12" Type="http://schemas.openxmlformats.org/officeDocument/2006/relationships/slideMaster" Target="slideMasters/slideMaster9.xml"/><Relationship Id="rId34" Type="http://schemas.openxmlformats.org/officeDocument/2006/relationships/slide" Target="slides/slide21.xml"/><Relationship Id="rId15" Type="http://schemas.openxmlformats.org/officeDocument/2006/relationships/slide" Target="slides/slide2.xml"/><Relationship Id="rId37" Type="http://schemas.openxmlformats.org/officeDocument/2006/relationships/slide" Target="slides/slide24.xml"/><Relationship Id="rId14" Type="http://schemas.openxmlformats.org/officeDocument/2006/relationships/slide" Target="slides/slide1.xml"/><Relationship Id="rId36" Type="http://schemas.openxmlformats.org/officeDocument/2006/relationships/slide" Target="slides/slide23.xml"/><Relationship Id="rId17" Type="http://schemas.openxmlformats.org/officeDocument/2006/relationships/slide" Target="slides/slide4.xml"/><Relationship Id="rId39" Type="http://schemas.openxmlformats.org/officeDocument/2006/relationships/slide" Target="slides/slide26.xml"/><Relationship Id="rId16" Type="http://schemas.openxmlformats.org/officeDocument/2006/relationships/slide" Target="slides/slide3.xml"/><Relationship Id="rId38" Type="http://schemas.openxmlformats.org/officeDocument/2006/relationships/slide" Target="slides/slide25.xml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2882" lvl="0" marL="34289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We have </a:t>
            </a:r>
            <a:r>
              <a:rPr b="1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technical expertise across multiple spheres of AI/ML and Cloud</a:t>
            </a: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42882" lvl="0" marL="34289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Our expertise with </a:t>
            </a:r>
            <a:r>
              <a:rPr b="1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Deep Learning algorithms can efficiently deploy the high level statistical and AI models on the various Cloud Platforms.</a:t>
            </a:r>
            <a:endParaRPr/>
          </a:p>
          <a:p>
            <a:pPr indent="-242882" lvl="0" marL="34289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Since our inception, our hands-on approach and in-depth knowledge of multiple input data types has been successfully implemented for our global clients.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4" name="Google Shape;86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4" name="Google Shape;91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0" name="Google Shape;9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6" name="Google Shape;966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08" name="Google Shape;10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8" name="Google Shape;10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Sources:</a:t>
            </a:r>
            <a:endParaRPr/>
          </a:p>
          <a:p>
            <a:pPr indent="-228600" lvl="0" marL="387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https://research.aimultiple.com/large-language-models-in-healthcare/#:~:text=While%20primarily%20text%2Doriented%2C%20LLMs,potential%20health%20risks%20or%20patterns.</a:t>
            </a:r>
            <a:endParaRPr/>
          </a:p>
          <a:p>
            <a:pPr indent="-228600" lvl="0" marL="387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https://www.johnsnowlabs.com/the-power-of-medical-large-language-models-llms-in-healthcare/</a:t>
            </a:r>
            <a:endParaRPr/>
          </a:p>
          <a:p>
            <a:pPr indent="-152400" lvl="0" marL="387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387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4" name="Google Shape;11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0" name="Google Shape;11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8" name="Google Shape;12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"/>
              <a:t>Client: Prescient Healthcare Group - London, UK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9" name="Google Shape;1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"/>
              <a:t>Client: NHS, UK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"/>
              <a:t>NTT Data R&amp;D project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4" name="Google Shape;13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"/>
              <a:t>Client: Indo Health Software Solutions Pvt. Ltd., India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3" name="Google Shape;135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"/>
              <a:t>Deenanath Mangeshkar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/>
              <a:t>Project approach is “Temporal Data Mining 🡪 Temporal Abstraction 🡪 Temporal Relations 🡪 Time Interval Related Patterns”</a:t>
            </a:r>
            <a:endParaRPr/>
          </a:p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9" name="Google Shape;136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6" name="Google Shape;139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"/>
              <a:t>NTTD R&amp;D project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3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1" y="339509"/>
            <a:ext cx="12192000" cy="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p30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0"/>
          <p:cNvSpPr txBox="1"/>
          <p:nvPr>
            <p:ph idx="11" type="ftr"/>
          </p:nvPr>
        </p:nvSpPr>
        <p:spPr>
          <a:xfrm>
            <a:off x="8755811" y="6356349"/>
            <a:ext cx="2355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/>
          <p:nvPr>
            <p:ph type="title"/>
          </p:nvPr>
        </p:nvSpPr>
        <p:spPr>
          <a:xfrm>
            <a:off x="80552" y="77740"/>
            <a:ext cx="12015653" cy="603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" type="body"/>
          </p:nvPr>
        </p:nvSpPr>
        <p:spPr>
          <a:xfrm>
            <a:off x="838200" y="875211"/>
            <a:ext cx="10515600" cy="5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3"/>
          <p:cNvSpPr txBox="1"/>
          <p:nvPr>
            <p:ph type="title"/>
          </p:nvPr>
        </p:nvSpPr>
        <p:spPr>
          <a:xfrm>
            <a:off x="80552" y="77740"/>
            <a:ext cx="12015653" cy="603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3"/>
          <p:cNvSpPr txBox="1"/>
          <p:nvPr>
            <p:ph idx="1" type="body"/>
          </p:nvPr>
        </p:nvSpPr>
        <p:spPr>
          <a:xfrm>
            <a:off x="838200" y="862149"/>
            <a:ext cx="5181600" cy="531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2" type="body"/>
          </p:nvPr>
        </p:nvSpPr>
        <p:spPr>
          <a:xfrm>
            <a:off x="6172200" y="862149"/>
            <a:ext cx="5181600" cy="531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5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5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5"/>
          <p:cNvSpPr txBox="1"/>
          <p:nvPr>
            <p:ph type="title"/>
          </p:nvPr>
        </p:nvSpPr>
        <p:spPr>
          <a:xfrm>
            <a:off x="80552" y="77740"/>
            <a:ext cx="12015653" cy="603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" type="body"/>
          </p:nvPr>
        </p:nvSpPr>
        <p:spPr>
          <a:xfrm>
            <a:off x="5183188" y="457200"/>
            <a:ext cx="6172200" cy="541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p5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8"/>
          <p:cNvSpPr/>
          <p:nvPr>
            <p:ph idx="2" type="pic"/>
          </p:nvPr>
        </p:nvSpPr>
        <p:spPr>
          <a:xfrm>
            <a:off x="5183188" y="457200"/>
            <a:ext cx="6172200" cy="5411787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5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9"/>
          <p:cNvSpPr txBox="1"/>
          <p:nvPr>
            <p:ph type="title"/>
          </p:nvPr>
        </p:nvSpPr>
        <p:spPr>
          <a:xfrm>
            <a:off x="80552" y="77740"/>
            <a:ext cx="12015653" cy="603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9"/>
          <p:cNvSpPr txBox="1"/>
          <p:nvPr>
            <p:ph idx="1" type="body"/>
          </p:nvPr>
        </p:nvSpPr>
        <p:spPr>
          <a:xfrm rot="5400000">
            <a:off x="3445124" y="-1731713"/>
            <a:ext cx="5301752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3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2"/>
          <p:cNvSpPr/>
          <p:nvPr/>
        </p:nvSpPr>
        <p:spPr>
          <a:xfrm>
            <a:off x="8301789" y="-866273"/>
            <a:ext cx="4066800" cy="4066800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2"/>
          <p:cNvSpPr txBox="1"/>
          <p:nvPr>
            <p:ph idx="11" type="ftr"/>
          </p:nvPr>
        </p:nvSpPr>
        <p:spPr>
          <a:xfrm>
            <a:off x="8704053" y="6356349"/>
            <a:ext cx="2406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02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03"/>
          <p:cNvSpPr txBox="1"/>
          <p:nvPr>
            <p:ph idx="1" type="subTitle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/>
        </p:txBody>
      </p:sp>
      <p:sp>
        <p:nvSpPr>
          <p:cNvPr id="118" name="Google Shape;118;p10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10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103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4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104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5"/>
          <p:cNvSpPr txBox="1"/>
          <p:nvPr>
            <p:ph idx="1" type="body"/>
          </p:nvPr>
        </p:nvSpPr>
        <p:spPr>
          <a:xfrm>
            <a:off x="1" y="339509"/>
            <a:ext cx="12192000" cy="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105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5"/>
          <p:cNvSpPr txBox="1"/>
          <p:nvPr>
            <p:ph idx="11" type="ftr"/>
          </p:nvPr>
        </p:nvSpPr>
        <p:spPr>
          <a:xfrm>
            <a:off x="8755811" y="6356349"/>
            <a:ext cx="2355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105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6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106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7"/>
          <p:cNvSpPr txBox="1"/>
          <p:nvPr>
            <p:ph type="title"/>
          </p:nvPr>
        </p:nvSpPr>
        <p:spPr>
          <a:xfrm>
            <a:off x="831851" y="1709737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107"/>
          <p:cNvSpPr txBox="1"/>
          <p:nvPr>
            <p:ph idx="1" type="body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7" name="Google Shape;137;p107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107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107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0" name="Google Shape;140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8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108"/>
          <p:cNvSpPr txBox="1"/>
          <p:nvPr>
            <p:ph idx="1" type="body"/>
          </p:nvPr>
        </p:nvSpPr>
        <p:spPr>
          <a:xfrm>
            <a:off x="838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108"/>
          <p:cNvSpPr txBox="1"/>
          <p:nvPr>
            <p:ph idx="2" type="body"/>
          </p:nvPr>
        </p:nvSpPr>
        <p:spPr>
          <a:xfrm>
            <a:off x="6172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10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10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108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9"/>
          <p:cNvSpPr txBox="1"/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109"/>
          <p:cNvSpPr txBox="1"/>
          <p:nvPr>
            <p:ph idx="1" type="body"/>
          </p:nvPr>
        </p:nvSpPr>
        <p:spPr>
          <a:xfrm>
            <a:off x="839788" y="1681163"/>
            <a:ext cx="51580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151" name="Google Shape;151;p109"/>
          <p:cNvSpPr txBox="1"/>
          <p:nvPr>
            <p:ph idx="2" type="body"/>
          </p:nvPr>
        </p:nvSpPr>
        <p:spPr>
          <a:xfrm>
            <a:off x="839788" y="2505075"/>
            <a:ext cx="51580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109"/>
          <p:cNvSpPr txBox="1"/>
          <p:nvPr>
            <p:ph idx="3" type="body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153" name="Google Shape;153;p109"/>
          <p:cNvSpPr txBox="1"/>
          <p:nvPr>
            <p:ph idx="4" type="body"/>
          </p:nvPr>
        </p:nvSpPr>
        <p:spPr>
          <a:xfrm>
            <a:off x="6172200" y="2505075"/>
            <a:ext cx="51832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10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10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10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0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10"/>
          <p:cNvSpPr txBox="1"/>
          <p:nvPr>
            <p:ph idx="1" type="body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indent="-36195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2385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indent="-32385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indent="-32385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indent="-32385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indent="-32385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indent="-32385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/>
        </p:txBody>
      </p:sp>
      <p:sp>
        <p:nvSpPr>
          <p:cNvPr id="160" name="Google Shape;160;p110"/>
          <p:cNvSpPr txBox="1"/>
          <p:nvPr>
            <p:ph idx="2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161" name="Google Shape;161;p11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11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110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1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111"/>
          <p:cNvSpPr/>
          <p:nvPr>
            <p:ph idx="2" type="pic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111"/>
          <p:cNvSpPr txBox="1"/>
          <p:nvPr>
            <p:ph idx="1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168" name="Google Shape;168;p111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111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111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2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112"/>
          <p:cNvSpPr txBox="1"/>
          <p:nvPr>
            <p:ph idx="1" type="body"/>
          </p:nvPr>
        </p:nvSpPr>
        <p:spPr>
          <a:xfrm rot="5400000">
            <a:off x="3445000" y="-1731589"/>
            <a:ext cx="53020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112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112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112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3"/>
          <p:cNvSpPr txBox="1"/>
          <p:nvPr>
            <p:ph type="title"/>
          </p:nvPr>
        </p:nvSpPr>
        <p:spPr>
          <a:xfrm rot="5400000">
            <a:off x="7133400" y="1956725"/>
            <a:ext cx="58120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113"/>
          <p:cNvSpPr txBox="1"/>
          <p:nvPr>
            <p:ph idx="1" type="body"/>
          </p:nvPr>
        </p:nvSpPr>
        <p:spPr>
          <a:xfrm rot="5400000">
            <a:off x="1799300" y="-596075"/>
            <a:ext cx="58120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0" name="Google Shape;180;p11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11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113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838200" y="875211"/>
            <a:ext cx="10515600" cy="53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9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9"/>
          <p:cNvSpPr txBox="1"/>
          <p:nvPr>
            <p:ph idx="1" type="body"/>
          </p:nvPr>
        </p:nvSpPr>
        <p:spPr>
          <a:xfrm>
            <a:off x="831851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1" name="Google Shape;201;p3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1"/>
            <a:ext cx="2329236" cy="232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1"/>
          <p:cNvSpPr txBox="1"/>
          <p:nvPr>
            <p:ph idx="11" type="ftr"/>
          </p:nvPr>
        </p:nvSpPr>
        <p:spPr>
          <a:xfrm>
            <a:off x="8712679" y="6356350"/>
            <a:ext cx="239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1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3"/>
          <p:cNvSpPr/>
          <p:nvPr/>
        </p:nvSpPr>
        <p:spPr>
          <a:xfrm>
            <a:off x="8301789" y="-866275"/>
            <a:ext cx="4066800" cy="4066800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3"/>
          <p:cNvSpPr txBox="1"/>
          <p:nvPr>
            <p:ph idx="11" type="ftr"/>
          </p:nvPr>
        </p:nvSpPr>
        <p:spPr>
          <a:xfrm>
            <a:off x="8704054" y="6356350"/>
            <a:ext cx="2406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63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4"/>
          <p:cNvSpPr txBox="1"/>
          <p:nvPr>
            <p:ph idx="11" type="ftr"/>
          </p:nvPr>
        </p:nvSpPr>
        <p:spPr>
          <a:xfrm>
            <a:off x="8712679" y="6356350"/>
            <a:ext cx="239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64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5"/>
          <p:cNvSpPr txBox="1"/>
          <p:nvPr>
            <p:ph idx="1" type="body"/>
          </p:nvPr>
        </p:nvSpPr>
        <p:spPr>
          <a:xfrm>
            <a:off x="1" y="339509"/>
            <a:ext cx="1219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65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5"/>
          <p:cNvSpPr txBox="1"/>
          <p:nvPr>
            <p:ph idx="11" type="ftr"/>
          </p:nvPr>
        </p:nvSpPr>
        <p:spPr>
          <a:xfrm>
            <a:off x="8755811" y="6356350"/>
            <a:ext cx="235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65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6"/>
          <p:cNvSpPr txBox="1"/>
          <p:nvPr>
            <p:ph idx="1" type="subTitle"/>
          </p:nvPr>
        </p:nvSpPr>
        <p:spPr>
          <a:xfrm>
            <a:off x="1524000" y="360203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9" name="Google Shape;229;p6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6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2" name="Google Shape;232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3"/>
            <a:ext cx="2329236" cy="232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7"/>
          <p:cNvSpPr txBox="1"/>
          <p:nvPr>
            <p:ph idx="1" type="body"/>
          </p:nvPr>
        </p:nvSpPr>
        <p:spPr>
          <a:xfrm>
            <a:off x="838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67"/>
          <p:cNvSpPr txBox="1"/>
          <p:nvPr>
            <p:ph idx="2" type="body"/>
          </p:nvPr>
        </p:nvSpPr>
        <p:spPr>
          <a:xfrm>
            <a:off x="6172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6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6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8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8"/>
          <p:cNvSpPr txBox="1"/>
          <p:nvPr>
            <p:ph idx="1" type="body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3" name="Google Shape;243;p68"/>
          <p:cNvSpPr txBox="1"/>
          <p:nvPr>
            <p:ph idx="2" type="body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68"/>
          <p:cNvSpPr txBox="1"/>
          <p:nvPr>
            <p:ph idx="3" type="body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5" name="Google Shape;245;p68"/>
          <p:cNvSpPr txBox="1"/>
          <p:nvPr>
            <p:ph idx="4" type="body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6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6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9"/>
          <p:cNvSpPr txBox="1"/>
          <p:nvPr>
            <p:ph type="title"/>
          </p:nvPr>
        </p:nvSpPr>
        <p:spPr>
          <a:xfrm>
            <a:off x="839789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9"/>
          <p:cNvSpPr txBox="1"/>
          <p:nvPr>
            <p:ph idx="1" type="body"/>
          </p:nvPr>
        </p:nvSpPr>
        <p:spPr>
          <a:xfrm>
            <a:off x="5183188" y="457201"/>
            <a:ext cx="6172200" cy="54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52" name="Google Shape;252;p69"/>
          <p:cNvSpPr txBox="1"/>
          <p:nvPr>
            <p:ph idx="2" type="body"/>
          </p:nvPr>
        </p:nvSpPr>
        <p:spPr>
          <a:xfrm>
            <a:off x="839789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3" name="Google Shape;253;p6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6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6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0"/>
          <p:cNvSpPr txBox="1"/>
          <p:nvPr>
            <p:ph type="title"/>
          </p:nvPr>
        </p:nvSpPr>
        <p:spPr>
          <a:xfrm>
            <a:off x="839789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70"/>
          <p:cNvSpPr/>
          <p:nvPr>
            <p:ph idx="2" type="pic"/>
          </p:nvPr>
        </p:nvSpPr>
        <p:spPr>
          <a:xfrm>
            <a:off x="5183188" y="457201"/>
            <a:ext cx="6172200" cy="5411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70"/>
          <p:cNvSpPr txBox="1"/>
          <p:nvPr>
            <p:ph idx="1" type="body"/>
          </p:nvPr>
        </p:nvSpPr>
        <p:spPr>
          <a:xfrm>
            <a:off x="839789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60" name="Google Shape;260;p7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7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7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1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71"/>
          <p:cNvSpPr txBox="1"/>
          <p:nvPr>
            <p:ph idx="1" type="body"/>
          </p:nvPr>
        </p:nvSpPr>
        <p:spPr>
          <a:xfrm rot="5400000">
            <a:off x="3445051" y="-1731639"/>
            <a:ext cx="53019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7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7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7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2"/>
          <p:cNvSpPr txBox="1"/>
          <p:nvPr>
            <p:ph type="title"/>
          </p:nvPr>
        </p:nvSpPr>
        <p:spPr>
          <a:xfrm rot="5400000">
            <a:off x="7133401" y="1956626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72"/>
          <p:cNvSpPr txBox="1"/>
          <p:nvPr>
            <p:ph idx="1" type="body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7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7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7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3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7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7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7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8"/>
          <p:cNvSpPr txBox="1"/>
          <p:nvPr>
            <p:ph idx="1" type="body"/>
          </p:nvPr>
        </p:nvSpPr>
        <p:spPr>
          <a:xfrm>
            <a:off x="838200" y="875211"/>
            <a:ext cx="10515600" cy="53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3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7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7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5"/>
          <p:cNvSpPr/>
          <p:nvPr/>
        </p:nvSpPr>
        <p:spPr>
          <a:xfrm>
            <a:off x="8301789" y="-866275"/>
            <a:ext cx="4066800" cy="4066800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1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5"/>
          <p:cNvSpPr txBox="1"/>
          <p:nvPr>
            <p:ph idx="11" type="ftr"/>
          </p:nvPr>
        </p:nvSpPr>
        <p:spPr>
          <a:xfrm>
            <a:off x="8704054" y="6356350"/>
            <a:ext cx="2406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75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6"/>
          <p:cNvSpPr txBox="1"/>
          <p:nvPr>
            <p:ph idx="11" type="ftr"/>
          </p:nvPr>
        </p:nvSpPr>
        <p:spPr>
          <a:xfrm>
            <a:off x="8712679" y="6356350"/>
            <a:ext cx="239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76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7"/>
          <p:cNvSpPr txBox="1"/>
          <p:nvPr>
            <p:ph idx="1" type="body"/>
          </p:nvPr>
        </p:nvSpPr>
        <p:spPr>
          <a:xfrm>
            <a:off x="1" y="339509"/>
            <a:ext cx="1219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77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7"/>
          <p:cNvSpPr txBox="1"/>
          <p:nvPr>
            <p:ph idx="11" type="ftr"/>
          </p:nvPr>
        </p:nvSpPr>
        <p:spPr>
          <a:xfrm>
            <a:off x="8755811" y="6356350"/>
            <a:ext cx="235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77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8"/>
          <p:cNvSpPr txBox="1"/>
          <p:nvPr>
            <p:ph idx="11" type="ftr"/>
          </p:nvPr>
        </p:nvSpPr>
        <p:spPr>
          <a:xfrm>
            <a:off x="8712679" y="6356350"/>
            <a:ext cx="239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78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79"/>
          <p:cNvSpPr txBox="1"/>
          <p:nvPr>
            <p:ph idx="1" type="subTitle"/>
          </p:nvPr>
        </p:nvSpPr>
        <p:spPr>
          <a:xfrm>
            <a:off x="1524000" y="360203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8" name="Google Shape;318;p7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7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7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1" name="Google Shape;321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3"/>
            <a:ext cx="2329236" cy="232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0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80"/>
          <p:cNvSpPr txBox="1"/>
          <p:nvPr>
            <p:ph idx="1" type="body"/>
          </p:nvPr>
        </p:nvSpPr>
        <p:spPr>
          <a:xfrm>
            <a:off x="831851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6" name="Google Shape;326;p8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8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8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1"/>
            <a:ext cx="2329236" cy="232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1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81"/>
          <p:cNvSpPr txBox="1"/>
          <p:nvPr>
            <p:ph idx="1" type="body"/>
          </p:nvPr>
        </p:nvSpPr>
        <p:spPr>
          <a:xfrm>
            <a:off x="838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81"/>
          <p:cNvSpPr txBox="1"/>
          <p:nvPr>
            <p:ph idx="2" type="body"/>
          </p:nvPr>
        </p:nvSpPr>
        <p:spPr>
          <a:xfrm>
            <a:off x="6172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8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8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8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2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82"/>
          <p:cNvSpPr txBox="1"/>
          <p:nvPr>
            <p:ph idx="1" type="body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0" name="Google Shape;340;p82"/>
          <p:cNvSpPr txBox="1"/>
          <p:nvPr>
            <p:ph idx="2" type="body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82"/>
          <p:cNvSpPr txBox="1"/>
          <p:nvPr>
            <p:ph idx="3" type="body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2" name="Google Shape;342;p82"/>
          <p:cNvSpPr txBox="1"/>
          <p:nvPr>
            <p:ph idx="4" type="body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8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8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8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3"/>
          <p:cNvSpPr txBox="1"/>
          <p:nvPr>
            <p:ph type="title"/>
          </p:nvPr>
        </p:nvSpPr>
        <p:spPr>
          <a:xfrm>
            <a:off x="839789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83"/>
          <p:cNvSpPr txBox="1"/>
          <p:nvPr>
            <p:ph idx="1" type="body"/>
          </p:nvPr>
        </p:nvSpPr>
        <p:spPr>
          <a:xfrm>
            <a:off x="5183188" y="457201"/>
            <a:ext cx="6172200" cy="54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49" name="Google Shape;349;p83"/>
          <p:cNvSpPr txBox="1"/>
          <p:nvPr>
            <p:ph idx="2" type="body"/>
          </p:nvPr>
        </p:nvSpPr>
        <p:spPr>
          <a:xfrm>
            <a:off x="839789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50" name="Google Shape;350;p8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8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8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4"/>
          <p:cNvSpPr txBox="1"/>
          <p:nvPr>
            <p:ph type="title"/>
          </p:nvPr>
        </p:nvSpPr>
        <p:spPr>
          <a:xfrm>
            <a:off x="839789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84"/>
          <p:cNvSpPr/>
          <p:nvPr>
            <p:ph idx="2" type="pic"/>
          </p:nvPr>
        </p:nvSpPr>
        <p:spPr>
          <a:xfrm>
            <a:off x="5183188" y="457201"/>
            <a:ext cx="6172200" cy="541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84"/>
          <p:cNvSpPr txBox="1"/>
          <p:nvPr>
            <p:ph idx="1" type="body"/>
          </p:nvPr>
        </p:nvSpPr>
        <p:spPr>
          <a:xfrm>
            <a:off x="839789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57" name="Google Shape;357;p8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8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8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5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85"/>
          <p:cNvSpPr txBox="1"/>
          <p:nvPr>
            <p:ph idx="1" type="body"/>
          </p:nvPr>
        </p:nvSpPr>
        <p:spPr>
          <a:xfrm rot="5400000">
            <a:off x="3445051" y="-1731639"/>
            <a:ext cx="53019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3" name="Google Shape;363;p8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8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8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6"/>
          <p:cNvSpPr txBox="1"/>
          <p:nvPr>
            <p:ph type="title"/>
          </p:nvPr>
        </p:nvSpPr>
        <p:spPr>
          <a:xfrm rot="5400000">
            <a:off x="7133401" y="1956626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86"/>
          <p:cNvSpPr txBox="1"/>
          <p:nvPr>
            <p:ph idx="1" type="body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8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8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8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7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8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8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8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idx="1" type="body"/>
          </p:nvPr>
        </p:nvSpPr>
        <p:spPr>
          <a:xfrm>
            <a:off x="838200" y="875211"/>
            <a:ext cx="10515600" cy="5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89" name="Google Shape;389;p4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90" name="Google Shape;390;p4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1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4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94" name="Google Shape;394;p14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95" name="Google Shape;395;p14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294"/>
            </a:schemeClr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42"/>
          <p:cNvSpPr txBox="1"/>
          <p:nvPr>
            <p:ph idx="1" type="subTitle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/>
        </p:txBody>
      </p:sp>
      <p:sp>
        <p:nvSpPr>
          <p:cNvPr id="400" name="Google Shape;400;p14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01" name="Google Shape;401;p14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02" name="Google Shape;402;p14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3" name="Google Shape;403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3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143"/>
          <p:cNvSpPr txBox="1"/>
          <p:nvPr>
            <p:ph idx="1" type="body"/>
          </p:nvPr>
        </p:nvSpPr>
        <p:spPr>
          <a:xfrm>
            <a:off x="838200" y="862150"/>
            <a:ext cx="5181600" cy="5314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7" name="Google Shape;407;p143"/>
          <p:cNvSpPr txBox="1"/>
          <p:nvPr>
            <p:ph idx="2" type="body"/>
          </p:nvPr>
        </p:nvSpPr>
        <p:spPr>
          <a:xfrm>
            <a:off x="6172200" y="862150"/>
            <a:ext cx="5181600" cy="5314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14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09" name="Google Shape;409;p14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10" name="Google Shape;410;p14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144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414" name="Google Shape;414;p144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5" name="Google Shape;415;p144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416" name="Google Shape;416;p144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7" name="Google Shape;417;p14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18" name="Google Shape;418;p14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19" name="Google Shape;419;p14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145"/>
          <p:cNvSpPr txBox="1"/>
          <p:nvPr>
            <p:ph idx="1" type="body"/>
          </p:nvPr>
        </p:nvSpPr>
        <p:spPr>
          <a:xfrm>
            <a:off x="5183188" y="457201"/>
            <a:ext cx="6172200" cy="541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indent="-3619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indent="-3238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/>
        </p:txBody>
      </p:sp>
      <p:sp>
        <p:nvSpPr>
          <p:cNvPr id="423" name="Google Shape;423;p145"/>
          <p:cNvSpPr txBox="1"/>
          <p:nvPr>
            <p:ph idx="2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9pPr>
          </a:lstStyle>
          <a:p/>
        </p:txBody>
      </p:sp>
      <p:sp>
        <p:nvSpPr>
          <p:cNvPr id="424" name="Google Shape;424;p14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25" name="Google Shape;425;p14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26" name="Google Shape;426;p14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146"/>
          <p:cNvSpPr/>
          <p:nvPr>
            <p:ph idx="2" type="pic"/>
          </p:nvPr>
        </p:nvSpPr>
        <p:spPr>
          <a:xfrm>
            <a:off x="5183188" y="457201"/>
            <a:ext cx="6172200" cy="5411787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146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9pPr>
          </a:lstStyle>
          <a:p/>
        </p:txBody>
      </p:sp>
      <p:sp>
        <p:nvSpPr>
          <p:cNvPr id="431" name="Google Shape;431;p14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32" name="Google Shape;432;p14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33" name="Google Shape;433;p14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7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147"/>
          <p:cNvSpPr txBox="1"/>
          <p:nvPr>
            <p:ph idx="1" type="body"/>
          </p:nvPr>
        </p:nvSpPr>
        <p:spPr>
          <a:xfrm rot="5400000">
            <a:off x="3445124" y="-1731713"/>
            <a:ext cx="5301752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7" name="Google Shape;437;p147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38" name="Google Shape;438;p14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39" name="Google Shape;439;p147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8"/>
          <p:cNvSpPr txBox="1"/>
          <p:nvPr>
            <p:ph type="title"/>
          </p:nvPr>
        </p:nvSpPr>
        <p:spPr>
          <a:xfrm rot="5400000">
            <a:off x="7133431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148"/>
          <p:cNvSpPr txBox="1"/>
          <p:nvPr>
            <p:ph idx="1" type="body"/>
          </p:nvPr>
        </p:nvSpPr>
        <p:spPr>
          <a:xfrm rot="5400000">
            <a:off x="1799431" y="-596105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3" name="Google Shape;443;p148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44" name="Google Shape;444;p14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45" name="Google Shape;445;p148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294"/>
            </a:schemeClr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49"/>
          <p:cNvSpPr/>
          <p:nvPr/>
        </p:nvSpPr>
        <p:spPr>
          <a:xfrm>
            <a:off x="8301790" y="-866273"/>
            <a:ext cx="4066673" cy="4066673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1137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9"/>
          <p:cNvSpPr txBox="1"/>
          <p:nvPr>
            <p:ph idx="11" type="ftr"/>
          </p:nvPr>
        </p:nvSpPr>
        <p:spPr>
          <a:xfrm>
            <a:off x="8704053" y="6356350"/>
            <a:ext cx="24067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50" name="Google Shape;450;p149"/>
          <p:cNvSpPr txBox="1"/>
          <p:nvPr>
            <p:ph idx="12" type="sldNum"/>
          </p:nvPr>
        </p:nvSpPr>
        <p:spPr>
          <a:xfrm>
            <a:off x="10972802" y="6356351"/>
            <a:ext cx="380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>
  <p:cSld name="白紙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0"/>
          <p:cNvSpPr txBox="1"/>
          <p:nvPr>
            <p:ph type="title"/>
          </p:nvPr>
        </p:nvSpPr>
        <p:spPr>
          <a:xfrm>
            <a:off x="834771" y="0"/>
            <a:ext cx="949326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コンテンツB">
  <p:cSld name="コンテンツB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1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151"/>
          <p:cNvSpPr txBox="1"/>
          <p:nvPr>
            <p:ph idx="1" type="body"/>
          </p:nvPr>
        </p:nvSpPr>
        <p:spPr>
          <a:xfrm>
            <a:off x="407989" y="692151"/>
            <a:ext cx="11376027" cy="6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3"/>
          <p:cNvSpPr txBox="1"/>
          <p:nvPr>
            <p:ph type="title"/>
          </p:nvPr>
        </p:nvSpPr>
        <p:spPr>
          <a:xfrm>
            <a:off x="80552" y="77741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5" name="Google Shape;465;p4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6" name="Google Shape;466;p4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7" name="Google Shape;467;p43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7"/>
          <p:cNvSpPr txBox="1"/>
          <p:nvPr>
            <p:ph type="title"/>
          </p:nvPr>
        </p:nvSpPr>
        <p:spPr>
          <a:xfrm>
            <a:off x="831851" y="1709739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1" name="Google Shape;471;p47"/>
          <p:cNvSpPr txBox="1"/>
          <p:nvPr>
            <p:ph idx="1" type="body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2" name="Google Shape;472;p47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3" name="Google Shape;473;p47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4" name="Google Shape;474;p47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5" name="Google Shape;47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8"/>
          <p:cNvSpPr txBox="1"/>
          <p:nvPr>
            <p:ph type="title"/>
          </p:nvPr>
        </p:nvSpPr>
        <p:spPr>
          <a:xfrm>
            <a:off x="80552" y="77741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8" name="Google Shape;478;p88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9" name="Google Shape;479;p8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0" name="Google Shape;480;p8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1" name="Google Shape;481;p88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4" name="Google Shape;484;p8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5" name="Google Shape;485;p8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0"/>
          <p:cNvSpPr/>
          <p:nvPr/>
        </p:nvSpPr>
        <p:spPr>
          <a:xfrm>
            <a:off x="8301789" y="-866275"/>
            <a:ext cx="4066800" cy="4066800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0"/>
          <p:cNvSpPr txBox="1"/>
          <p:nvPr>
            <p:ph idx="11" type="ftr"/>
          </p:nvPr>
        </p:nvSpPr>
        <p:spPr>
          <a:xfrm>
            <a:off x="8704055" y="6356351"/>
            <a:ext cx="2406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0" name="Google Shape;490;p90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91"/>
          <p:cNvSpPr txBox="1"/>
          <p:nvPr>
            <p:ph idx="11" type="ftr"/>
          </p:nvPr>
        </p:nvSpPr>
        <p:spPr>
          <a:xfrm>
            <a:off x="8712679" y="6356351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91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2"/>
          <p:cNvSpPr txBox="1"/>
          <p:nvPr>
            <p:ph idx="1" type="body"/>
          </p:nvPr>
        </p:nvSpPr>
        <p:spPr>
          <a:xfrm>
            <a:off x="1" y="339509"/>
            <a:ext cx="12192000" cy="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6" name="Google Shape;496;p92"/>
          <p:cNvSpPr txBox="1"/>
          <p:nvPr>
            <p:ph idx="11" type="ftr"/>
          </p:nvPr>
        </p:nvSpPr>
        <p:spPr>
          <a:xfrm>
            <a:off x="8755811" y="6356351"/>
            <a:ext cx="2355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7" name="Google Shape;497;p92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3"/>
          <p:cNvSpPr txBox="1"/>
          <p:nvPr>
            <p:ph idx="11" type="ftr"/>
          </p:nvPr>
        </p:nvSpPr>
        <p:spPr>
          <a:xfrm>
            <a:off x="8712679" y="6356351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0" name="Google Shape;500;p93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4" name="Google Shape;504;p94"/>
          <p:cNvSpPr txBox="1"/>
          <p:nvPr>
            <p:ph idx="1" type="subTitle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/>
        </p:txBody>
      </p:sp>
      <p:sp>
        <p:nvSpPr>
          <p:cNvPr id="505" name="Google Shape;505;p9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6" name="Google Shape;506;p9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7" name="Google Shape;507;p94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8" name="Google Shape;508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4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5"/>
          <p:cNvSpPr txBox="1"/>
          <p:nvPr>
            <p:ph type="title"/>
          </p:nvPr>
        </p:nvSpPr>
        <p:spPr>
          <a:xfrm>
            <a:off x="80552" y="77741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1" name="Google Shape;511;p95"/>
          <p:cNvSpPr txBox="1"/>
          <p:nvPr>
            <p:ph idx="1" type="body"/>
          </p:nvPr>
        </p:nvSpPr>
        <p:spPr>
          <a:xfrm>
            <a:off x="838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2" name="Google Shape;512;p95"/>
          <p:cNvSpPr txBox="1"/>
          <p:nvPr>
            <p:ph idx="2" type="body"/>
          </p:nvPr>
        </p:nvSpPr>
        <p:spPr>
          <a:xfrm>
            <a:off x="6172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3" name="Google Shape;513;p95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4" name="Google Shape;514;p95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5" name="Google Shape;515;p95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96"/>
          <p:cNvSpPr txBox="1"/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8" name="Google Shape;518;p96"/>
          <p:cNvSpPr txBox="1"/>
          <p:nvPr>
            <p:ph idx="1" type="body"/>
          </p:nvPr>
        </p:nvSpPr>
        <p:spPr>
          <a:xfrm>
            <a:off x="839789" y="1681163"/>
            <a:ext cx="51580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519" name="Google Shape;519;p96"/>
          <p:cNvSpPr txBox="1"/>
          <p:nvPr>
            <p:ph idx="2" type="body"/>
          </p:nvPr>
        </p:nvSpPr>
        <p:spPr>
          <a:xfrm>
            <a:off x="839789" y="2505075"/>
            <a:ext cx="51580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0" name="Google Shape;520;p96"/>
          <p:cNvSpPr txBox="1"/>
          <p:nvPr>
            <p:ph idx="3" type="body"/>
          </p:nvPr>
        </p:nvSpPr>
        <p:spPr>
          <a:xfrm>
            <a:off x="6172201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521" name="Google Shape;521;p96"/>
          <p:cNvSpPr txBox="1"/>
          <p:nvPr>
            <p:ph idx="4" type="body"/>
          </p:nvPr>
        </p:nvSpPr>
        <p:spPr>
          <a:xfrm>
            <a:off x="6172201" y="2505075"/>
            <a:ext cx="51832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2" name="Google Shape;522;p96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3" name="Google Shape;523;p96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4" name="Google Shape;524;p96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7"/>
          <p:cNvSpPr txBox="1"/>
          <p:nvPr>
            <p:ph type="title"/>
          </p:nvPr>
        </p:nvSpPr>
        <p:spPr>
          <a:xfrm>
            <a:off x="839789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7" name="Google Shape;527;p97"/>
          <p:cNvSpPr txBox="1"/>
          <p:nvPr>
            <p:ph idx="1" type="body"/>
          </p:nvPr>
        </p:nvSpPr>
        <p:spPr>
          <a:xfrm>
            <a:off x="5183188" y="457201"/>
            <a:ext cx="6172400" cy="5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indent="-36195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2385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indent="-32385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indent="-32385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indent="-32385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indent="-32385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indent="-32385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/>
        </p:txBody>
      </p:sp>
      <p:sp>
        <p:nvSpPr>
          <p:cNvPr id="528" name="Google Shape;528;p97"/>
          <p:cNvSpPr txBox="1"/>
          <p:nvPr>
            <p:ph idx="2" type="body"/>
          </p:nvPr>
        </p:nvSpPr>
        <p:spPr>
          <a:xfrm>
            <a:off x="839789" y="2057401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529" name="Google Shape;529;p97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0" name="Google Shape;530;p97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1" name="Google Shape;531;p97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8"/>
          <p:cNvSpPr txBox="1"/>
          <p:nvPr>
            <p:ph type="title"/>
          </p:nvPr>
        </p:nvSpPr>
        <p:spPr>
          <a:xfrm>
            <a:off x="839789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4" name="Google Shape;534;p98"/>
          <p:cNvSpPr/>
          <p:nvPr>
            <p:ph idx="2" type="pic"/>
          </p:nvPr>
        </p:nvSpPr>
        <p:spPr>
          <a:xfrm>
            <a:off x="5183188" y="457201"/>
            <a:ext cx="6172400" cy="541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98"/>
          <p:cNvSpPr txBox="1"/>
          <p:nvPr>
            <p:ph idx="1" type="body"/>
          </p:nvPr>
        </p:nvSpPr>
        <p:spPr>
          <a:xfrm>
            <a:off x="839789" y="2057401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536" name="Google Shape;536;p9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7" name="Google Shape;537;p9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8" name="Google Shape;538;p98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9"/>
          <p:cNvSpPr txBox="1"/>
          <p:nvPr>
            <p:ph type="title"/>
          </p:nvPr>
        </p:nvSpPr>
        <p:spPr>
          <a:xfrm>
            <a:off x="80552" y="77741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1" name="Google Shape;541;p99"/>
          <p:cNvSpPr txBox="1"/>
          <p:nvPr>
            <p:ph idx="1" type="body"/>
          </p:nvPr>
        </p:nvSpPr>
        <p:spPr>
          <a:xfrm rot="5400000">
            <a:off x="3445001" y="-1731589"/>
            <a:ext cx="53020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2" name="Google Shape;542;p9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3" name="Google Shape;543;p9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4" name="Google Shape;544;p9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0"/>
          <p:cNvSpPr txBox="1"/>
          <p:nvPr>
            <p:ph type="title"/>
          </p:nvPr>
        </p:nvSpPr>
        <p:spPr>
          <a:xfrm rot="5400000">
            <a:off x="7133401" y="1956727"/>
            <a:ext cx="58120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7" name="Google Shape;547;p100"/>
          <p:cNvSpPr txBox="1"/>
          <p:nvPr>
            <p:ph idx="1" type="body"/>
          </p:nvPr>
        </p:nvSpPr>
        <p:spPr>
          <a:xfrm rot="5400000">
            <a:off x="1799301" y="-596075"/>
            <a:ext cx="58120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8" name="Google Shape;548;p10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9" name="Google Shape;549;p10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0" name="Google Shape;550;p100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01"/>
          <p:cNvSpPr txBox="1"/>
          <p:nvPr>
            <p:ph type="title"/>
          </p:nvPr>
        </p:nvSpPr>
        <p:spPr>
          <a:xfrm>
            <a:off x="415600" y="11123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3" name="Google Shape;553;p10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4" name="Google Shape;564;p45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5" name="Google Shape;565;p45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6" name="Google Shape;566;p45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7" name="Google Shape;567;p45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0" name="Google Shape;570;p46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1" name="Google Shape;571;p46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2"/>
          <p:cNvSpPr/>
          <p:nvPr/>
        </p:nvSpPr>
        <p:spPr>
          <a:xfrm>
            <a:off x="8301789" y="-866273"/>
            <a:ext cx="4066800" cy="4066800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1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2"/>
          <p:cNvSpPr txBox="1"/>
          <p:nvPr>
            <p:ph idx="11" type="ftr"/>
          </p:nvPr>
        </p:nvSpPr>
        <p:spPr>
          <a:xfrm>
            <a:off x="8704053" y="6356349"/>
            <a:ext cx="2406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6" name="Google Shape;576;p152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53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9" name="Google Shape;579;p153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54"/>
          <p:cNvSpPr txBox="1"/>
          <p:nvPr>
            <p:ph idx="1" type="body"/>
          </p:nvPr>
        </p:nvSpPr>
        <p:spPr>
          <a:xfrm>
            <a:off x="1" y="339509"/>
            <a:ext cx="12192000" cy="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2" name="Google Shape;582;p154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4"/>
          <p:cNvSpPr txBox="1"/>
          <p:nvPr>
            <p:ph idx="11" type="ftr"/>
          </p:nvPr>
        </p:nvSpPr>
        <p:spPr>
          <a:xfrm>
            <a:off x="8755811" y="6356349"/>
            <a:ext cx="2355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4" name="Google Shape;584;p154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55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7" name="Google Shape;587;p155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1" name="Google Shape;591;p156"/>
          <p:cNvSpPr txBox="1"/>
          <p:nvPr>
            <p:ph idx="1" type="subTitle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/>
        </p:txBody>
      </p:sp>
      <p:sp>
        <p:nvSpPr>
          <p:cNvPr id="592" name="Google Shape;592;p156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3" name="Google Shape;593;p156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4" name="Google Shape;594;p156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5" name="Google Shape;595;p1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7"/>
          <p:cNvSpPr txBox="1"/>
          <p:nvPr>
            <p:ph type="title"/>
          </p:nvPr>
        </p:nvSpPr>
        <p:spPr>
          <a:xfrm>
            <a:off x="831851" y="1709737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9" name="Google Shape;599;p157"/>
          <p:cNvSpPr txBox="1"/>
          <p:nvPr>
            <p:ph idx="1" type="body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0" name="Google Shape;600;p157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1" name="Google Shape;601;p157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2" name="Google Shape;602;p157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3" name="Google Shape;603;p1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8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6" name="Google Shape;606;p158"/>
          <p:cNvSpPr txBox="1"/>
          <p:nvPr>
            <p:ph idx="1" type="body"/>
          </p:nvPr>
        </p:nvSpPr>
        <p:spPr>
          <a:xfrm>
            <a:off x="838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7" name="Google Shape;607;p158"/>
          <p:cNvSpPr txBox="1"/>
          <p:nvPr>
            <p:ph idx="2" type="body"/>
          </p:nvPr>
        </p:nvSpPr>
        <p:spPr>
          <a:xfrm>
            <a:off x="6172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8" name="Google Shape;608;p15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9" name="Google Shape;609;p15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0" name="Google Shape;610;p158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59"/>
          <p:cNvSpPr txBox="1"/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3" name="Google Shape;613;p159"/>
          <p:cNvSpPr txBox="1"/>
          <p:nvPr>
            <p:ph idx="1" type="body"/>
          </p:nvPr>
        </p:nvSpPr>
        <p:spPr>
          <a:xfrm>
            <a:off x="839788" y="1681163"/>
            <a:ext cx="51580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614" name="Google Shape;614;p159"/>
          <p:cNvSpPr txBox="1"/>
          <p:nvPr>
            <p:ph idx="2" type="body"/>
          </p:nvPr>
        </p:nvSpPr>
        <p:spPr>
          <a:xfrm>
            <a:off x="839788" y="2505075"/>
            <a:ext cx="51580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5" name="Google Shape;615;p159"/>
          <p:cNvSpPr txBox="1"/>
          <p:nvPr>
            <p:ph idx="3" type="body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616" name="Google Shape;616;p159"/>
          <p:cNvSpPr txBox="1"/>
          <p:nvPr>
            <p:ph idx="4" type="body"/>
          </p:nvPr>
        </p:nvSpPr>
        <p:spPr>
          <a:xfrm>
            <a:off x="6172200" y="2505075"/>
            <a:ext cx="51832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7" name="Google Shape;617;p15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8" name="Google Shape;618;p15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9" name="Google Shape;619;p15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60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2" name="Google Shape;622;p16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3" name="Google Shape;623;p16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4" name="Google Shape;624;p160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61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7" name="Google Shape;627;p161"/>
          <p:cNvSpPr txBox="1"/>
          <p:nvPr>
            <p:ph idx="1" type="body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indent="-36195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2385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indent="-32385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indent="-32385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indent="-32385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indent="-32385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indent="-32385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/>
        </p:txBody>
      </p:sp>
      <p:sp>
        <p:nvSpPr>
          <p:cNvPr id="628" name="Google Shape;628;p161"/>
          <p:cNvSpPr txBox="1"/>
          <p:nvPr>
            <p:ph idx="2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629" name="Google Shape;629;p161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0" name="Google Shape;630;p161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1" name="Google Shape;631;p161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62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4" name="Google Shape;634;p162"/>
          <p:cNvSpPr/>
          <p:nvPr>
            <p:ph idx="2" type="pic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</p:sp>
      <p:sp>
        <p:nvSpPr>
          <p:cNvPr id="635" name="Google Shape;635;p162"/>
          <p:cNvSpPr txBox="1"/>
          <p:nvPr>
            <p:ph idx="1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636" name="Google Shape;636;p162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7" name="Google Shape;637;p162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8" name="Google Shape;638;p162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63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1" name="Google Shape;641;p163"/>
          <p:cNvSpPr txBox="1"/>
          <p:nvPr>
            <p:ph idx="1" type="body"/>
          </p:nvPr>
        </p:nvSpPr>
        <p:spPr>
          <a:xfrm rot="5400000">
            <a:off x="3445000" y="-1731589"/>
            <a:ext cx="53020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2" name="Google Shape;642;p16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3" name="Google Shape;643;p16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4" name="Google Shape;644;p163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64"/>
          <p:cNvSpPr txBox="1"/>
          <p:nvPr>
            <p:ph type="title"/>
          </p:nvPr>
        </p:nvSpPr>
        <p:spPr>
          <a:xfrm rot="5400000">
            <a:off x="7133400" y="1956725"/>
            <a:ext cx="58120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7" name="Google Shape;647;p164"/>
          <p:cNvSpPr txBox="1"/>
          <p:nvPr>
            <p:ph idx="1" type="body"/>
          </p:nvPr>
        </p:nvSpPr>
        <p:spPr>
          <a:xfrm rot="5400000">
            <a:off x="1799300" y="-596075"/>
            <a:ext cx="58120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8" name="Google Shape;648;p16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9" name="Google Shape;649;p16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0" name="Google Shape;650;p164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6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3" name="Google Shape;653;p16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54" name="Google Shape;654;p16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66"/>
          <p:cNvSpPr txBox="1"/>
          <p:nvPr>
            <p:ph type="title"/>
          </p:nvPr>
        </p:nvSpPr>
        <p:spPr>
          <a:xfrm>
            <a:off x="609480" y="273600"/>
            <a:ext cx="109724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7" name="Google Shape;657;p166"/>
          <p:cNvSpPr txBox="1"/>
          <p:nvPr>
            <p:ph idx="1" type="subTitle"/>
          </p:nvPr>
        </p:nvSpPr>
        <p:spPr>
          <a:xfrm>
            <a:off x="609480" y="1604520"/>
            <a:ext cx="10972400" cy="39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67"/>
          <p:cNvSpPr txBox="1"/>
          <p:nvPr>
            <p:ph type="title"/>
          </p:nvPr>
        </p:nvSpPr>
        <p:spPr>
          <a:xfrm>
            <a:off x="609480" y="273600"/>
            <a:ext cx="109724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0" name="Google Shape;660;p167"/>
          <p:cNvSpPr txBox="1"/>
          <p:nvPr>
            <p:ph idx="1" type="subTitle"/>
          </p:nvPr>
        </p:nvSpPr>
        <p:spPr>
          <a:xfrm>
            <a:off x="609480" y="1604520"/>
            <a:ext cx="10972400" cy="39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9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1" name="Google Shape;671;p4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2" name="Google Shape;672;p4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3" name="Google Shape;673;p4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2"/>
          <p:cNvSpPr txBox="1"/>
          <p:nvPr>
            <p:ph idx="1" type="body"/>
          </p:nvPr>
        </p:nvSpPr>
        <p:spPr>
          <a:xfrm>
            <a:off x="1" y="339509"/>
            <a:ext cx="12192000" cy="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6" name="Google Shape;676;p52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2"/>
          <p:cNvSpPr txBox="1"/>
          <p:nvPr>
            <p:ph idx="11" type="ftr"/>
          </p:nvPr>
        </p:nvSpPr>
        <p:spPr>
          <a:xfrm>
            <a:off x="8755811" y="6356349"/>
            <a:ext cx="2355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8" name="Google Shape;678;p52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14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1" name="Google Shape;681;p114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2" name="Google Shape;682;p11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3" name="Google Shape;683;p11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4" name="Google Shape;684;p114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15"/>
          <p:cNvSpPr/>
          <p:nvPr/>
        </p:nvSpPr>
        <p:spPr>
          <a:xfrm>
            <a:off x="8301789" y="-866273"/>
            <a:ext cx="4066800" cy="4066800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10588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15"/>
          <p:cNvSpPr txBox="1"/>
          <p:nvPr>
            <p:ph idx="11" type="ftr"/>
          </p:nvPr>
        </p:nvSpPr>
        <p:spPr>
          <a:xfrm>
            <a:off x="8704053" y="6356349"/>
            <a:ext cx="2406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9" name="Google Shape;689;p115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3" name="Google Shape;693;p116"/>
          <p:cNvSpPr txBox="1"/>
          <p:nvPr>
            <p:ph idx="1" type="subTitle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/>
        </p:txBody>
      </p:sp>
      <p:sp>
        <p:nvSpPr>
          <p:cNvPr id="694" name="Google Shape;694;p116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5" name="Google Shape;695;p116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6" name="Google Shape;696;p116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7" name="Google Shape;697;p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17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0" name="Google Shape;700;p117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18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3" name="Google Shape;703;p118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19"/>
          <p:cNvSpPr txBox="1"/>
          <p:nvPr>
            <p:ph type="title"/>
          </p:nvPr>
        </p:nvSpPr>
        <p:spPr>
          <a:xfrm>
            <a:off x="831851" y="1709737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7" name="Google Shape;707;p119"/>
          <p:cNvSpPr txBox="1"/>
          <p:nvPr>
            <p:ph idx="1" type="body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8" name="Google Shape;708;p11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9" name="Google Shape;709;p11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0" name="Google Shape;710;p11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1" name="Google Shape;711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20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4" name="Google Shape;714;p120"/>
          <p:cNvSpPr txBox="1"/>
          <p:nvPr>
            <p:ph idx="1" type="body"/>
          </p:nvPr>
        </p:nvSpPr>
        <p:spPr>
          <a:xfrm>
            <a:off x="838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5" name="Google Shape;715;p120"/>
          <p:cNvSpPr txBox="1"/>
          <p:nvPr>
            <p:ph idx="2" type="body"/>
          </p:nvPr>
        </p:nvSpPr>
        <p:spPr>
          <a:xfrm>
            <a:off x="6172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6" name="Google Shape;716;p12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7" name="Google Shape;717;p12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8" name="Google Shape;718;p120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21"/>
          <p:cNvSpPr txBox="1"/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1" name="Google Shape;721;p121"/>
          <p:cNvSpPr txBox="1"/>
          <p:nvPr>
            <p:ph idx="1" type="body"/>
          </p:nvPr>
        </p:nvSpPr>
        <p:spPr>
          <a:xfrm>
            <a:off x="839788" y="1681163"/>
            <a:ext cx="51580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722" name="Google Shape;722;p121"/>
          <p:cNvSpPr txBox="1"/>
          <p:nvPr>
            <p:ph idx="2" type="body"/>
          </p:nvPr>
        </p:nvSpPr>
        <p:spPr>
          <a:xfrm>
            <a:off x="839788" y="2505075"/>
            <a:ext cx="51580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3" name="Google Shape;723;p121"/>
          <p:cNvSpPr txBox="1"/>
          <p:nvPr>
            <p:ph idx="3" type="body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724" name="Google Shape;724;p121"/>
          <p:cNvSpPr txBox="1"/>
          <p:nvPr>
            <p:ph idx="4" type="body"/>
          </p:nvPr>
        </p:nvSpPr>
        <p:spPr>
          <a:xfrm>
            <a:off x="6172200" y="2505075"/>
            <a:ext cx="51832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5" name="Google Shape;725;p121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6" name="Google Shape;726;p121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7" name="Google Shape;727;p121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22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0" name="Google Shape;730;p122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1" name="Google Shape;731;p122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23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4" name="Google Shape;734;p123"/>
          <p:cNvSpPr txBox="1"/>
          <p:nvPr>
            <p:ph idx="1" type="body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indent="-36195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2385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indent="-32385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indent="-32385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indent="-32385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indent="-32385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indent="-32385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/>
        </p:txBody>
      </p:sp>
      <p:sp>
        <p:nvSpPr>
          <p:cNvPr id="735" name="Google Shape;735;p123"/>
          <p:cNvSpPr txBox="1"/>
          <p:nvPr>
            <p:ph idx="2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736" name="Google Shape;736;p12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7" name="Google Shape;737;p12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8" name="Google Shape;738;p123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24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1" name="Google Shape;741;p124"/>
          <p:cNvSpPr/>
          <p:nvPr>
            <p:ph idx="2" type="pic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124"/>
          <p:cNvSpPr txBox="1"/>
          <p:nvPr>
            <p:ph idx="1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743" name="Google Shape;743;p12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4" name="Google Shape;744;p12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5" name="Google Shape;745;p124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25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8" name="Google Shape;748;p125"/>
          <p:cNvSpPr txBox="1"/>
          <p:nvPr>
            <p:ph idx="1" type="body"/>
          </p:nvPr>
        </p:nvSpPr>
        <p:spPr>
          <a:xfrm rot="5400000">
            <a:off x="3445000" y="-1731589"/>
            <a:ext cx="53020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9" name="Google Shape;749;p125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0" name="Google Shape;750;p125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1" name="Google Shape;751;p125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26"/>
          <p:cNvSpPr txBox="1"/>
          <p:nvPr>
            <p:ph type="title"/>
          </p:nvPr>
        </p:nvSpPr>
        <p:spPr>
          <a:xfrm rot="5400000">
            <a:off x="7133400" y="1956725"/>
            <a:ext cx="58120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4" name="Google Shape;754;p126"/>
          <p:cNvSpPr txBox="1"/>
          <p:nvPr>
            <p:ph idx="1" type="body"/>
          </p:nvPr>
        </p:nvSpPr>
        <p:spPr>
          <a:xfrm rot="5400000">
            <a:off x="1799300" y="-596075"/>
            <a:ext cx="58120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5" name="Google Shape;755;p126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6" name="Google Shape;756;p126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7" name="Google Shape;757;p126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1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8" name="Google Shape;768;p51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9" name="Google Shape;769;p51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0" name="Google Shape;770;p51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27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3" name="Google Shape;773;p127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4" name="Google Shape;774;p127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5" name="Google Shape;775;p127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6" name="Google Shape;776;p127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28"/>
          <p:cNvSpPr/>
          <p:nvPr/>
        </p:nvSpPr>
        <p:spPr>
          <a:xfrm>
            <a:off x="8301789" y="-866273"/>
            <a:ext cx="4066800" cy="4066800"/>
          </a:xfrm>
          <a:prstGeom prst="arc">
            <a:avLst>
              <a:gd fmla="val 1409913" name="adj1"/>
              <a:gd fmla="val 12880072" name="adj2"/>
            </a:avLst>
          </a:prstGeom>
          <a:noFill/>
          <a:ln cap="flat" cmpd="sng" w="19050">
            <a:solidFill>
              <a:schemeClr val="lt1">
                <a:alpha val="10196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28"/>
          <p:cNvSpPr txBox="1"/>
          <p:nvPr>
            <p:ph idx="11" type="ftr"/>
          </p:nvPr>
        </p:nvSpPr>
        <p:spPr>
          <a:xfrm>
            <a:off x="8704053" y="6356349"/>
            <a:ext cx="2406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1" name="Google Shape;781;p128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5" name="Google Shape;785;p129"/>
          <p:cNvSpPr txBox="1"/>
          <p:nvPr>
            <p:ph idx="1" type="subTitle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/>
        </p:txBody>
      </p:sp>
      <p:sp>
        <p:nvSpPr>
          <p:cNvPr id="786" name="Google Shape;786;p12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7" name="Google Shape;787;p12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8" name="Google Shape;788;p12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9" name="Google Shape;789;p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94" y="4516952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30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2" name="Google Shape;792;p130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31"/>
          <p:cNvSpPr txBox="1"/>
          <p:nvPr>
            <p:ph idx="1" type="body"/>
          </p:nvPr>
        </p:nvSpPr>
        <p:spPr>
          <a:xfrm>
            <a:off x="1" y="339509"/>
            <a:ext cx="12192000" cy="7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0" sz="3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5" name="Google Shape;795;p131"/>
          <p:cNvSpPr/>
          <p:nvPr/>
        </p:nvSpPr>
        <p:spPr>
          <a:xfrm>
            <a:off x="0" y="6357257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31"/>
          <p:cNvSpPr txBox="1"/>
          <p:nvPr>
            <p:ph idx="11" type="ftr"/>
          </p:nvPr>
        </p:nvSpPr>
        <p:spPr>
          <a:xfrm>
            <a:off x="8755811" y="6356349"/>
            <a:ext cx="2355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7" name="Google Shape;797;p131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2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0" name="Google Shape;800;p132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33"/>
          <p:cNvSpPr txBox="1"/>
          <p:nvPr>
            <p:ph type="title"/>
          </p:nvPr>
        </p:nvSpPr>
        <p:spPr>
          <a:xfrm>
            <a:off x="831851" y="1709737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4" name="Google Shape;804;p133"/>
          <p:cNvSpPr txBox="1"/>
          <p:nvPr>
            <p:ph idx="1" type="body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30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5" name="Google Shape;805;p13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6" name="Google Shape;806;p13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7" name="Google Shape;807;p133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8" name="Google Shape;808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2763" y="0"/>
            <a:ext cx="2329237" cy="232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4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1" name="Google Shape;811;p134"/>
          <p:cNvSpPr txBox="1"/>
          <p:nvPr>
            <p:ph idx="1" type="body"/>
          </p:nvPr>
        </p:nvSpPr>
        <p:spPr>
          <a:xfrm>
            <a:off x="838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2" name="Google Shape;812;p134"/>
          <p:cNvSpPr txBox="1"/>
          <p:nvPr>
            <p:ph idx="2" type="body"/>
          </p:nvPr>
        </p:nvSpPr>
        <p:spPr>
          <a:xfrm>
            <a:off x="6172200" y="862149"/>
            <a:ext cx="5181600" cy="53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3" name="Google Shape;813;p13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4" name="Google Shape;814;p13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5" name="Google Shape;815;p134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35"/>
          <p:cNvSpPr txBox="1"/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8" name="Google Shape;818;p135"/>
          <p:cNvSpPr txBox="1"/>
          <p:nvPr>
            <p:ph idx="1" type="body"/>
          </p:nvPr>
        </p:nvSpPr>
        <p:spPr>
          <a:xfrm>
            <a:off x="839788" y="1681163"/>
            <a:ext cx="51580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819" name="Google Shape;819;p135"/>
          <p:cNvSpPr txBox="1"/>
          <p:nvPr>
            <p:ph idx="2" type="body"/>
          </p:nvPr>
        </p:nvSpPr>
        <p:spPr>
          <a:xfrm>
            <a:off x="839788" y="2505075"/>
            <a:ext cx="51580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0" name="Google Shape;820;p135"/>
          <p:cNvSpPr txBox="1"/>
          <p:nvPr>
            <p:ph idx="3" type="body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867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600"/>
            </a:lvl9pPr>
          </a:lstStyle>
          <a:p/>
        </p:txBody>
      </p:sp>
      <p:sp>
        <p:nvSpPr>
          <p:cNvPr id="821" name="Google Shape;821;p135"/>
          <p:cNvSpPr txBox="1"/>
          <p:nvPr>
            <p:ph idx="4" type="body"/>
          </p:nvPr>
        </p:nvSpPr>
        <p:spPr>
          <a:xfrm>
            <a:off x="6172200" y="2505075"/>
            <a:ext cx="5183200" cy="3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2" name="Google Shape;822;p135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3" name="Google Shape;823;p135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4" name="Google Shape;824;p135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36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7" name="Google Shape;827;p136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8" name="Google Shape;828;p136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7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1" name="Google Shape;831;p137"/>
          <p:cNvSpPr txBox="1"/>
          <p:nvPr>
            <p:ph idx="1" type="body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indent="-36195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indent="-3429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2385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indent="-32385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indent="-32385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indent="-32385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indent="-32385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indent="-32385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/>
        </p:txBody>
      </p:sp>
      <p:sp>
        <p:nvSpPr>
          <p:cNvPr id="832" name="Google Shape;832;p137"/>
          <p:cNvSpPr txBox="1"/>
          <p:nvPr>
            <p:ph idx="2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833" name="Google Shape;833;p137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4" name="Google Shape;834;p137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5" name="Google Shape;835;p137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8"/>
          <p:cNvSpPr txBox="1"/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8" name="Google Shape;838;p138"/>
          <p:cNvSpPr/>
          <p:nvPr>
            <p:ph idx="2" type="pic"/>
          </p:nvPr>
        </p:nvSpPr>
        <p:spPr>
          <a:xfrm>
            <a:off x="5183188" y="457200"/>
            <a:ext cx="6172400" cy="54116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138"/>
          <p:cNvSpPr txBox="1"/>
          <p:nvPr>
            <p:ph idx="1" type="body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indent="-2286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indent="-2286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indent="-2286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indent="-2286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indent="-2286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/>
        </p:txBody>
      </p:sp>
      <p:sp>
        <p:nvSpPr>
          <p:cNvPr id="840" name="Google Shape;840;p13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1" name="Google Shape;841;p13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2" name="Google Shape;842;p138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39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5" name="Google Shape;845;p139"/>
          <p:cNvSpPr txBox="1"/>
          <p:nvPr>
            <p:ph idx="1" type="body"/>
          </p:nvPr>
        </p:nvSpPr>
        <p:spPr>
          <a:xfrm rot="5400000">
            <a:off x="3445000" y="-1731589"/>
            <a:ext cx="53020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6" name="Google Shape;846;p13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7" name="Google Shape;847;p13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8" name="Google Shape;848;p139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40"/>
          <p:cNvSpPr txBox="1"/>
          <p:nvPr>
            <p:ph type="title"/>
          </p:nvPr>
        </p:nvSpPr>
        <p:spPr>
          <a:xfrm rot="5400000">
            <a:off x="7133400" y="1956725"/>
            <a:ext cx="58120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1" name="Google Shape;851;p140"/>
          <p:cNvSpPr txBox="1"/>
          <p:nvPr>
            <p:ph idx="1" type="body"/>
          </p:nvPr>
        </p:nvSpPr>
        <p:spPr>
          <a:xfrm rot="5400000">
            <a:off x="1799300" y="-596075"/>
            <a:ext cx="58120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2" name="Google Shape;852;p14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3" name="Google Shape;853;p14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4" name="Google Shape;854;p140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6" Type="http://schemas.openxmlformats.org/officeDocument/2006/relationships/theme" Target="../theme/theme8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1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5" Type="http://schemas.openxmlformats.org/officeDocument/2006/relationships/slideLayout" Target="../slideLayouts/slideLayout88.xml"/><Relationship Id="rId19" Type="http://schemas.openxmlformats.org/officeDocument/2006/relationships/theme" Target="../theme/theme4.xml"/><Relationship Id="rId6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/Relationships>
</file>

<file path=ppt/slideMasters/_rels/slideMaster8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6" Type="http://schemas.openxmlformats.org/officeDocument/2006/relationships/theme" Target="../theme/theme10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/Relationships>
</file>

<file path=ppt/slideMasters/_rels/slideMaster9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5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0.xml"/><Relationship Id="rId16" Type="http://schemas.openxmlformats.org/officeDocument/2006/relationships/theme" Target="../theme/theme9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0" y="6368778"/>
            <a:ext cx="12192000" cy="3396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8"/>
          <p:cNvSpPr/>
          <p:nvPr/>
        </p:nvSpPr>
        <p:spPr>
          <a:xfrm>
            <a:off x="0" y="6370320"/>
            <a:ext cx="12192000" cy="3396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8"/>
          <p:cNvSpPr txBox="1"/>
          <p:nvPr>
            <p:ph type="title"/>
          </p:nvPr>
        </p:nvSpPr>
        <p:spPr>
          <a:xfrm>
            <a:off x="80552" y="77740"/>
            <a:ext cx="12015653" cy="603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8"/>
          <p:cNvSpPr txBox="1"/>
          <p:nvPr>
            <p:ph idx="1" type="body"/>
          </p:nvPr>
        </p:nvSpPr>
        <p:spPr>
          <a:xfrm>
            <a:off x="838200" y="875211"/>
            <a:ext cx="10515600" cy="5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/>
          <p:nvPr/>
        </p:nvSpPr>
        <p:spPr>
          <a:xfrm>
            <a:off x="0" y="6368779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3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3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33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3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3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33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/>
          <p:nvPr/>
        </p:nvSpPr>
        <p:spPr>
          <a:xfrm>
            <a:off x="0" y="6368779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5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5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838200" y="875211"/>
            <a:ext cx="10515600" cy="53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3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3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/>
          <p:nvPr/>
        </p:nvSpPr>
        <p:spPr>
          <a:xfrm>
            <a:off x="0" y="6368779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37"/>
          <p:cNvSpPr txBox="1"/>
          <p:nvPr>
            <p:ph idx="1" type="body"/>
          </p:nvPr>
        </p:nvSpPr>
        <p:spPr>
          <a:xfrm>
            <a:off x="838200" y="875211"/>
            <a:ext cx="10515600" cy="53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5" name="Google Shape;285;p3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6" name="Google Shape;286;p3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7" name="Google Shape;287;p3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/>
          <p:nvPr/>
        </p:nvSpPr>
        <p:spPr>
          <a:xfrm>
            <a:off x="0" y="6368777"/>
            <a:ext cx="12192000" cy="339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0" y="6370320"/>
            <a:ext cx="12192000" cy="339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0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Calibri"/>
              <a:buNone/>
              <a:defRPr b="0" i="0" sz="2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40"/>
          <p:cNvSpPr txBox="1"/>
          <p:nvPr>
            <p:ph idx="1" type="body"/>
          </p:nvPr>
        </p:nvSpPr>
        <p:spPr>
          <a:xfrm>
            <a:off x="838200" y="875211"/>
            <a:ext cx="10515600" cy="5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2" name="Google Shape;382;p4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3" name="Google Shape;383;p4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4" name="Google Shape;384;p4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/>
          <p:nvPr/>
        </p:nvSpPr>
        <p:spPr>
          <a:xfrm>
            <a:off x="0" y="6368779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2"/>
          <p:cNvSpPr txBox="1"/>
          <p:nvPr>
            <p:ph type="title"/>
          </p:nvPr>
        </p:nvSpPr>
        <p:spPr>
          <a:xfrm>
            <a:off x="80552" y="77741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9" name="Google Shape;459;p42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0" name="Google Shape;460;p42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1" name="Google Shape;461;p42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2" name="Google Shape;462;p42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4"/>
          <p:cNvSpPr/>
          <p:nvPr/>
        </p:nvSpPr>
        <p:spPr>
          <a:xfrm>
            <a:off x="0" y="6368779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4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8" name="Google Shape;558;p44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9" name="Google Shape;559;p4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0" name="Google Shape;560;p4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1" name="Google Shape;561;p44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8"/>
          <p:cNvSpPr/>
          <p:nvPr/>
        </p:nvSpPr>
        <p:spPr>
          <a:xfrm>
            <a:off x="0" y="6368779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8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8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5" name="Google Shape;665;p48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6" name="Google Shape;666;p4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7" name="Google Shape;667;p4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8" name="Google Shape;668;p48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0"/>
          <p:cNvSpPr/>
          <p:nvPr/>
        </p:nvSpPr>
        <p:spPr>
          <a:xfrm>
            <a:off x="0" y="6368779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0"/>
          <p:cNvSpPr/>
          <p:nvPr/>
        </p:nvSpPr>
        <p:spPr>
          <a:xfrm>
            <a:off x="0" y="6370320"/>
            <a:ext cx="12192000" cy="33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0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2" name="Google Shape;762;p50"/>
          <p:cNvSpPr txBox="1"/>
          <p:nvPr>
            <p:ph idx="1" type="body"/>
          </p:nvPr>
        </p:nvSpPr>
        <p:spPr>
          <a:xfrm>
            <a:off x="838200" y="875211"/>
            <a:ext cx="10515600" cy="5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3" name="Google Shape;763;p5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4" name="Google Shape;764;p5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5" name="Google Shape;765;p50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31.png"/><Relationship Id="rId13" Type="http://schemas.openxmlformats.org/officeDocument/2006/relationships/image" Target="../media/image6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0.jp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Relationship Id="rId6" Type="http://schemas.openxmlformats.org/officeDocument/2006/relationships/image" Target="../media/image6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52.jp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40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pps.onestop.ai/llm-dashboard/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Relationship Id="rId7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48.png"/><Relationship Id="rId13" Type="http://schemas.openxmlformats.org/officeDocument/2006/relationships/image" Target="../media/image57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51.png"/><Relationship Id="rId9" Type="http://schemas.openxmlformats.org/officeDocument/2006/relationships/image" Target="../media/image53.png"/><Relationship Id="rId14" Type="http://schemas.openxmlformats.org/officeDocument/2006/relationships/image" Target="../media/image36.png"/><Relationship Id="rId5" Type="http://schemas.openxmlformats.org/officeDocument/2006/relationships/image" Target="../media/image47.png"/><Relationship Id="rId6" Type="http://schemas.openxmlformats.org/officeDocument/2006/relationships/hyperlink" Target="https://apps.onestop.ai/llm-dashboard/" TargetMode="External"/><Relationship Id="rId7" Type="http://schemas.openxmlformats.org/officeDocument/2006/relationships/image" Target="../media/image41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pps.onestop.ai/healthcare-chat-assistant/" TargetMode="External"/><Relationship Id="rId4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eta.onestop.ai/molecule-property-predictor/" TargetMode="External"/><Relationship Id="rId4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pps.onestop.ai/insurance-agent-llm/" TargetMode="External"/><Relationship Id="rId4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pps.onestop.ai/customer-reporting-services/" TargetMode="External"/><Relationship Id="rId4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hyperlink" Target="https://apps.onestop.ai/icd-coding/dashboard" TargetMode="External"/><Relationship Id="rId1" Type="http://schemas.openxmlformats.org/officeDocument/2006/relationships/slideLayout" Target="../slideLayouts/slideLayout1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2.png"/><Relationship Id="rId4" Type="http://schemas.openxmlformats.org/officeDocument/2006/relationships/image" Target="../media/image43.png"/><Relationship Id="rId9" Type="http://schemas.openxmlformats.org/officeDocument/2006/relationships/image" Target="../media/image59.png"/><Relationship Id="rId5" Type="http://schemas.openxmlformats.org/officeDocument/2006/relationships/image" Target="../media/image56.png"/><Relationship Id="rId6" Type="http://schemas.openxmlformats.org/officeDocument/2006/relationships/image" Target="../media/image49.png"/><Relationship Id="rId7" Type="http://schemas.openxmlformats.org/officeDocument/2006/relationships/image" Target="../media/image46.png"/><Relationship Id="rId8" Type="http://schemas.openxmlformats.org/officeDocument/2006/relationships/image" Target="../media/image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hyperlink" Target="https://textsense.onestop.ai/demo/dashboard/meditermExtractio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pps.onestop.ai/lab-report-parsing/dashboard" TargetMode="External"/><Relationship Id="rId4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4.png"/><Relationship Id="rId4" Type="http://schemas.openxmlformats.org/officeDocument/2006/relationships/hyperlink" Target="https://apps.onestop.ai/discharge-summary/dashboar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2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55.png"/><Relationship Id="rId7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60.png"/><Relationship Id="rId5" Type="http://schemas.openxmlformats.org/officeDocument/2006/relationships/hyperlink" Target="https://textsense.onestop.ai/demo/dashboard/patientKnowledgeGraph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nestop.ai/" TargetMode="External"/><Relationship Id="rId4" Type="http://schemas.openxmlformats.org/officeDocument/2006/relationships/hyperlink" Target="https://onestop.ai/apps?industry=healthcare" TargetMode="External"/><Relationship Id="rId5" Type="http://schemas.openxmlformats.org/officeDocument/2006/relationships/hyperlink" Target="https://onestop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n"/>
            </a:br>
            <a:r>
              <a:rPr lang="en"/>
              <a:t>Healthcare and Pharma overview</a:t>
            </a:r>
            <a:endParaRPr/>
          </a:p>
        </p:txBody>
      </p:sp>
      <p:sp>
        <p:nvSpPr>
          <p:cNvPr id="860" name="Google Shape;86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"/>
              <a:t>Our Expertise and Case Studies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867" name="Google Shape;867;p2"/>
          <p:cNvSpPr txBox="1"/>
          <p:nvPr>
            <p:ph idx="4294967295" type="title"/>
          </p:nvPr>
        </p:nvSpPr>
        <p:spPr>
          <a:xfrm>
            <a:off x="0" y="78320"/>
            <a:ext cx="12016317" cy="60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rPr lang="en"/>
              <a:t>AlgoAnalytics – An Overview</a:t>
            </a:r>
            <a:endParaRPr/>
          </a:p>
        </p:txBody>
      </p:sp>
      <p:sp>
        <p:nvSpPr>
          <p:cNvPr id="868" name="Google Shape;868;p2"/>
          <p:cNvSpPr txBox="1"/>
          <p:nvPr/>
        </p:nvSpPr>
        <p:spPr>
          <a:xfrm>
            <a:off x="2715725" y="4199480"/>
            <a:ext cx="3152400" cy="5169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Our Partners</a:t>
            </a:r>
            <a:endParaRPr b="1" i="0" sz="2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7900" y="4742899"/>
            <a:ext cx="16002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4468" y="4522067"/>
            <a:ext cx="96202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6012" y="5483583"/>
            <a:ext cx="1524000" cy="361951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"/>
          <p:cNvSpPr txBox="1"/>
          <p:nvPr/>
        </p:nvSpPr>
        <p:spPr>
          <a:xfrm>
            <a:off x="315592" y="2586831"/>
            <a:ext cx="5771953" cy="14156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-380990" lvl="0" marL="38099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141414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100+ AI solution implementation experience</a:t>
            </a:r>
            <a:endParaRPr/>
          </a:p>
          <a:p>
            <a:pPr indent="-380990" lvl="0" marL="38099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141414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Work across domains, business problems and multi-model data</a:t>
            </a:r>
            <a:endParaRPr/>
          </a:p>
          <a:p>
            <a:pPr indent="-380990" lvl="0" marL="38099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141414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Strong capabilities in Classical ML, Deep learning as well as emerging tech like Quantum Computing and Digital Twin</a:t>
            </a:r>
            <a:endParaRPr b="1" i="0" sz="1600" u="none" cap="none" strike="noStrike">
              <a:solidFill>
                <a:srgbClr val="141414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3" name="Google Shape;873;p2"/>
          <p:cNvCxnSpPr/>
          <p:nvPr/>
        </p:nvCxnSpPr>
        <p:spPr>
          <a:xfrm>
            <a:off x="6157393" y="592191"/>
            <a:ext cx="21300" cy="56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874" name="Google Shape;87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5709" y="5365357"/>
            <a:ext cx="1079540" cy="607241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2"/>
          <p:cNvSpPr txBox="1"/>
          <p:nvPr/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877" name="Google Shape;877;p2"/>
          <p:cNvGrpSpPr/>
          <p:nvPr/>
        </p:nvGrpSpPr>
        <p:grpSpPr>
          <a:xfrm>
            <a:off x="188860" y="4593395"/>
            <a:ext cx="2556283" cy="1464613"/>
            <a:chOff x="7818362" y="3820392"/>
            <a:chExt cx="3484476" cy="1730408"/>
          </a:xfrm>
        </p:grpSpPr>
        <p:pic>
          <p:nvPicPr>
            <p:cNvPr descr="A picture containing text, map&#10;&#10;Description automatically generated" id="878" name="Google Shape;878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18362" y="3820392"/>
              <a:ext cx="3484476" cy="17304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2"/>
            <p:cNvSpPr/>
            <p:nvPr/>
          </p:nvSpPr>
          <p:spPr>
            <a:xfrm>
              <a:off x="10656630" y="4269813"/>
              <a:ext cx="105434" cy="108551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2"/>
            <p:cNvSpPr/>
            <p:nvPr/>
          </p:nvSpPr>
          <p:spPr>
            <a:xfrm>
              <a:off x="9075517" y="4091198"/>
              <a:ext cx="105434" cy="108551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2"/>
            <p:cNvSpPr/>
            <p:nvPr/>
          </p:nvSpPr>
          <p:spPr>
            <a:xfrm>
              <a:off x="10329572" y="4694855"/>
              <a:ext cx="105434" cy="108551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2"/>
            <p:cNvSpPr/>
            <p:nvPr/>
          </p:nvSpPr>
          <p:spPr>
            <a:xfrm>
              <a:off x="10007859" y="4467846"/>
              <a:ext cx="105434" cy="108551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2"/>
            <p:cNvSpPr/>
            <p:nvPr/>
          </p:nvSpPr>
          <p:spPr>
            <a:xfrm>
              <a:off x="8255014" y="4269813"/>
              <a:ext cx="105434" cy="108551"/>
            </a:xfrm>
            <a:prstGeom prst="flowChartConnector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4" name="Google Shape;884;p2"/>
          <p:cNvSpPr txBox="1"/>
          <p:nvPr/>
        </p:nvSpPr>
        <p:spPr>
          <a:xfrm>
            <a:off x="494200" y="4201942"/>
            <a:ext cx="22215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Client locations</a:t>
            </a:r>
            <a:endParaRPr/>
          </a:p>
        </p:txBody>
      </p:sp>
      <p:sp>
        <p:nvSpPr>
          <p:cNvPr id="885" name="Google Shape;885;p2"/>
          <p:cNvSpPr txBox="1"/>
          <p:nvPr/>
        </p:nvSpPr>
        <p:spPr>
          <a:xfrm>
            <a:off x="222016" y="621869"/>
            <a:ext cx="20822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Who we are</a:t>
            </a:r>
            <a:endParaRPr/>
          </a:p>
        </p:txBody>
      </p:sp>
      <p:sp>
        <p:nvSpPr>
          <p:cNvPr id="886" name="Google Shape;886;p2"/>
          <p:cNvSpPr txBox="1"/>
          <p:nvPr/>
        </p:nvSpPr>
        <p:spPr>
          <a:xfrm>
            <a:off x="419616" y="960818"/>
            <a:ext cx="5694072" cy="6770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41414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We are a specialist Data Analytics company focused on building AI/ML powered solutions to solve business problems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"/>
          <p:cNvSpPr txBox="1"/>
          <p:nvPr/>
        </p:nvSpPr>
        <p:spPr>
          <a:xfrm>
            <a:off x="177551" y="2207383"/>
            <a:ext cx="39141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What makes us Special</a:t>
            </a:r>
            <a:endParaRPr/>
          </a:p>
        </p:txBody>
      </p:sp>
      <p:sp>
        <p:nvSpPr>
          <p:cNvPr id="888" name="Google Shape;888;p2"/>
          <p:cNvSpPr txBox="1"/>
          <p:nvPr/>
        </p:nvSpPr>
        <p:spPr>
          <a:xfrm>
            <a:off x="8899603" y="-46561"/>
            <a:ext cx="2082211" cy="4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33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Our Offerings</a:t>
            </a:r>
            <a:endParaRPr/>
          </a:p>
        </p:txBody>
      </p:sp>
      <p:sp>
        <p:nvSpPr>
          <p:cNvPr id="889" name="Google Shape;889;p2"/>
          <p:cNvSpPr txBox="1"/>
          <p:nvPr/>
        </p:nvSpPr>
        <p:spPr>
          <a:xfrm>
            <a:off x="6287695" y="1704666"/>
            <a:ext cx="1244155" cy="359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/>
          </a:p>
        </p:txBody>
      </p:sp>
      <p:grpSp>
        <p:nvGrpSpPr>
          <p:cNvPr id="890" name="Google Shape;890;p2"/>
          <p:cNvGrpSpPr/>
          <p:nvPr/>
        </p:nvGrpSpPr>
        <p:grpSpPr>
          <a:xfrm>
            <a:off x="7978911" y="412767"/>
            <a:ext cx="3795171" cy="2993599"/>
            <a:chOff x="5929004" y="599090"/>
            <a:chExt cx="2846378" cy="2245199"/>
          </a:xfrm>
        </p:grpSpPr>
        <p:sp>
          <p:nvSpPr>
            <p:cNvPr id="891" name="Google Shape;891;p2"/>
            <p:cNvSpPr/>
            <p:nvPr/>
          </p:nvSpPr>
          <p:spPr>
            <a:xfrm>
              <a:off x="5929004" y="599090"/>
              <a:ext cx="2846378" cy="2245199"/>
            </a:xfrm>
            <a:custGeom>
              <a:rect b="b" l="l" r="r" t="t"/>
              <a:pathLst>
                <a:path extrusionOk="0" h="4506160" w="4477997">
                  <a:moveTo>
                    <a:pt x="0" y="0"/>
                  </a:moveTo>
                  <a:lnTo>
                    <a:pt x="4477996" y="0"/>
                  </a:lnTo>
                  <a:lnTo>
                    <a:pt x="4477996" y="4506160"/>
                  </a:lnTo>
                  <a:lnTo>
                    <a:pt x="0" y="45061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92" name="Google Shape;892;p2"/>
            <p:cNvSpPr txBox="1"/>
            <p:nvPr/>
          </p:nvSpPr>
          <p:spPr>
            <a:xfrm>
              <a:off x="6375665" y="889600"/>
              <a:ext cx="1062242" cy="577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Custom AI Solution Development</a:t>
              </a:r>
              <a:endParaRPr/>
            </a:p>
          </p:txBody>
        </p:sp>
        <p:sp>
          <p:nvSpPr>
            <p:cNvPr id="893" name="Google Shape;893;p2"/>
            <p:cNvSpPr txBox="1"/>
            <p:nvPr/>
          </p:nvSpPr>
          <p:spPr>
            <a:xfrm>
              <a:off x="6309401" y="1951583"/>
              <a:ext cx="916677" cy="4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Cloud Data Engineering</a:t>
              </a:r>
              <a:endParaRPr/>
            </a:p>
          </p:txBody>
        </p:sp>
        <p:sp>
          <p:nvSpPr>
            <p:cNvPr id="894" name="Google Shape;894;p2"/>
            <p:cNvSpPr txBox="1"/>
            <p:nvPr/>
          </p:nvSpPr>
          <p:spPr>
            <a:xfrm>
              <a:off x="7698479" y="974238"/>
              <a:ext cx="1062242" cy="4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 R&amp;D and Consulting</a:t>
              </a:r>
              <a:endParaRPr/>
            </a:p>
          </p:txBody>
        </p:sp>
        <p:sp>
          <p:nvSpPr>
            <p:cNvPr id="895" name="Google Shape;895;p2"/>
            <p:cNvSpPr txBox="1"/>
            <p:nvPr/>
          </p:nvSpPr>
          <p:spPr>
            <a:xfrm>
              <a:off x="7347235" y="1993902"/>
              <a:ext cx="1413486" cy="4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 Language/ Foundational Models</a:t>
              </a:r>
              <a:endParaRPr/>
            </a:p>
          </p:txBody>
        </p:sp>
      </p:grpSp>
      <p:sp>
        <p:nvSpPr>
          <p:cNvPr id="896" name="Google Shape;896;p2"/>
          <p:cNvSpPr txBox="1"/>
          <p:nvPr/>
        </p:nvSpPr>
        <p:spPr>
          <a:xfrm>
            <a:off x="6231102" y="3571424"/>
            <a:ext cx="1726628" cy="625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Emerging Technologies</a:t>
            </a:r>
            <a:endParaRPr/>
          </a:p>
        </p:txBody>
      </p:sp>
      <p:sp>
        <p:nvSpPr>
          <p:cNvPr id="897" name="Google Shape;897;p2"/>
          <p:cNvSpPr txBox="1"/>
          <p:nvPr/>
        </p:nvSpPr>
        <p:spPr>
          <a:xfrm>
            <a:off x="6271860" y="5132107"/>
            <a:ext cx="1244155" cy="359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/>
          </a:p>
        </p:txBody>
      </p:sp>
      <p:grpSp>
        <p:nvGrpSpPr>
          <p:cNvPr id="898" name="Google Shape;898;p2"/>
          <p:cNvGrpSpPr/>
          <p:nvPr/>
        </p:nvGrpSpPr>
        <p:grpSpPr>
          <a:xfrm>
            <a:off x="8089651" y="3515765"/>
            <a:ext cx="4010536" cy="949792"/>
            <a:chOff x="5859123" y="2638527"/>
            <a:chExt cx="3311387" cy="712344"/>
          </a:xfrm>
        </p:grpSpPr>
        <p:sp>
          <p:nvSpPr>
            <p:cNvPr id="899" name="Google Shape;899;p2"/>
            <p:cNvSpPr/>
            <p:nvPr/>
          </p:nvSpPr>
          <p:spPr>
            <a:xfrm>
              <a:off x="5859123" y="2638527"/>
              <a:ext cx="3311387" cy="712344"/>
            </a:xfrm>
            <a:custGeom>
              <a:rect b="b" l="l" r="r" t="t"/>
              <a:pathLst>
                <a:path extrusionOk="0" h="22037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203704"/>
                  </a:lnTo>
                  <a:lnTo>
                    <a:pt x="0" y="22037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00" name="Google Shape;900;p2"/>
            <p:cNvSpPr txBox="1"/>
            <p:nvPr/>
          </p:nvSpPr>
          <p:spPr>
            <a:xfrm>
              <a:off x="6334364" y="2728020"/>
              <a:ext cx="1053125" cy="4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Quantum Computing</a:t>
              </a:r>
              <a:endParaRPr/>
            </a:p>
          </p:txBody>
        </p:sp>
        <p:sp>
          <p:nvSpPr>
            <p:cNvPr id="901" name="Google Shape;901;p2"/>
            <p:cNvSpPr txBox="1"/>
            <p:nvPr/>
          </p:nvSpPr>
          <p:spPr>
            <a:xfrm>
              <a:off x="7944859" y="2781296"/>
              <a:ext cx="940254" cy="4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Digital Twin</a:t>
              </a:r>
              <a:endParaRPr/>
            </a:p>
          </p:txBody>
        </p:sp>
      </p:grpSp>
      <p:grpSp>
        <p:nvGrpSpPr>
          <p:cNvPr id="902" name="Google Shape;902;p2"/>
          <p:cNvGrpSpPr/>
          <p:nvPr/>
        </p:nvGrpSpPr>
        <p:grpSpPr>
          <a:xfrm>
            <a:off x="7244176" y="4642598"/>
            <a:ext cx="4583913" cy="1597965"/>
            <a:chOff x="7441605" y="4642598"/>
            <a:chExt cx="4583913" cy="1597965"/>
          </a:xfrm>
        </p:grpSpPr>
        <p:sp>
          <p:nvSpPr>
            <p:cNvPr id="903" name="Google Shape;903;p2"/>
            <p:cNvSpPr/>
            <p:nvPr/>
          </p:nvSpPr>
          <p:spPr>
            <a:xfrm>
              <a:off x="7441605" y="4642598"/>
              <a:ext cx="4583913" cy="1597965"/>
            </a:xfrm>
            <a:custGeom>
              <a:rect b="b" l="l" r="r" t="t"/>
              <a:pathLst>
                <a:path extrusionOk="0" h="2240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240280"/>
                  </a:lnTo>
                  <a:lnTo>
                    <a:pt x="0" y="22402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pic>
          <p:nvPicPr>
            <p:cNvPr id="904" name="Google Shape;904;p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841919" y="4784005"/>
              <a:ext cx="637599" cy="638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5" name="Google Shape;905;p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307863" y="4800729"/>
              <a:ext cx="800959" cy="662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6" name="Google Shape;906;p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710508" y="5026700"/>
              <a:ext cx="1063573" cy="2293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2"/>
            <p:cNvSpPr txBox="1"/>
            <p:nvPr/>
          </p:nvSpPr>
          <p:spPr>
            <a:xfrm>
              <a:off x="7609183" y="5439919"/>
              <a:ext cx="1125708" cy="7076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AI-powered video surveillance</a:t>
              </a:r>
              <a:endParaRPr/>
            </a:p>
          </p:txBody>
        </p:sp>
        <p:sp>
          <p:nvSpPr>
            <p:cNvPr id="908" name="Google Shape;908;p2"/>
            <p:cNvSpPr txBox="1"/>
            <p:nvPr/>
          </p:nvSpPr>
          <p:spPr>
            <a:xfrm>
              <a:off x="9170706" y="5475765"/>
              <a:ext cx="1125708" cy="7076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AI-powered parts inspection</a:t>
              </a:r>
              <a:endParaRPr/>
            </a:p>
          </p:txBody>
        </p:sp>
        <p:sp>
          <p:nvSpPr>
            <p:cNvPr id="909" name="Google Shape;909;p2"/>
            <p:cNvSpPr txBox="1"/>
            <p:nvPr/>
          </p:nvSpPr>
          <p:spPr>
            <a:xfrm>
              <a:off x="10816998" y="5433138"/>
              <a:ext cx="1125708" cy="7076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NLP based analytics platform</a:t>
              </a:r>
              <a:endParaRPr/>
            </a:p>
          </p:txBody>
        </p:sp>
      </p:grpSp>
      <p:sp>
        <p:nvSpPr>
          <p:cNvPr id="910" name="Google Shape;910;p2"/>
          <p:cNvSpPr txBox="1"/>
          <p:nvPr/>
        </p:nvSpPr>
        <p:spPr>
          <a:xfrm>
            <a:off x="417919" y="1738148"/>
            <a:ext cx="5169197" cy="4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33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* We are an NTT Data invested company *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"/>
          <p:cNvSpPr txBox="1"/>
          <p:nvPr>
            <p:ph type="title"/>
          </p:nvPr>
        </p:nvSpPr>
        <p:spPr>
          <a:xfrm>
            <a:off x="88200" y="8227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/>
              <a:t>Strong Foundations backed by Industry Leaders </a:t>
            </a:r>
            <a:endParaRPr/>
          </a:p>
        </p:txBody>
      </p:sp>
      <p:pic>
        <p:nvPicPr>
          <p:cNvPr id="917" name="Google Shape;9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3209" y="1244310"/>
            <a:ext cx="1157896" cy="104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995" y="3602075"/>
            <a:ext cx="1157896" cy="105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3209" y="2423192"/>
            <a:ext cx="1157896" cy="104063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3"/>
          <p:cNvSpPr txBox="1"/>
          <p:nvPr/>
        </p:nvSpPr>
        <p:spPr>
          <a:xfrm>
            <a:off x="6007803" y="1297049"/>
            <a:ext cx="6096000" cy="10243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Aniruddha Pant, Founder &amp; CEO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91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PhD, Control Systems, University of California at Berkeley, USA 2001, 20+ years of experience in Machine learning. Expertise across financial engineering, quant trading and deep learning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"/>
          <p:cNvSpPr txBox="1"/>
          <p:nvPr/>
        </p:nvSpPr>
        <p:spPr>
          <a:xfrm>
            <a:off x="6073693" y="3504563"/>
            <a:ext cx="5883331" cy="10243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Anand Deshpande, Co-founder &amp; CSO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91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PhD, Mechanical Engineering, University of Colorado at Boulder, USA 2001, 20+ years of experience in world-class research labs. Expert in mathematical modelling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"/>
          <p:cNvSpPr txBox="1"/>
          <p:nvPr/>
        </p:nvSpPr>
        <p:spPr>
          <a:xfrm>
            <a:off x="6065189" y="2446517"/>
            <a:ext cx="5891835" cy="10576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Girish Patil, Co-founder &amp; CFO 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91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BE/PGDBA, Director and CFO at AlgoAnalytics, cross functional including Quantitative trading, Finance, Operations, Legal, HR</a:t>
            </a:r>
            <a:r>
              <a:rPr i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91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"/>
          <p:cNvSpPr txBox="1"/>
          <p:nvPr/>
        </p:nvSpPr>
        <p:spPr>
          <a:xfrm>
            <a:off x="6253800" y="757887"/>
            <a:ext cx="51000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Management Team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"/>
          <p:cNvSpPr txBox="1"/>
          <p:nvPr/>
        </p:nvSpPr>
        <p:spPr>
          <a:xfrm>
            <a:off x="7409629" y="4563922"/>
            <a:ext cx="1601479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5" name="Google Shape;92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0953" y="4824360"/>
            <a:ext cx="892407" cy="821133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"/>
          <p:cNvSpPr txBox="1"/>
          <p:nvPr/>
        </p:nvSpPr>
        <p:spPr>
          <a:xfrm>
            <a:off x="4914963" y="5625129"/>
            <a:ext cx="3646563" cy="7663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Kanchan Pant, Advisor Manufacturing 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MS, Marketing, USA, 15+ years of experience in running a manufacturing company.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"/>
          <p:cNvSpPr txBox="1"/>
          <p:nvPr>
            <p:ph idx="12" type="sldNum"/>
          </p:nvPr>
        </p:nvSpPr>
        <p:spPr>
          <a:xfrm>
            <a:off x="10972800" y="6356351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AlgoAnalytics Pvt. Ltd</a:t>
            </a:r>
            <a:endParaRPr/>
          </a:p>
        </p:txBody>
      </p:sp>
      <p:sp>
        <p:nvSpPr>
          <p:cNvPr id="929" name="Google Shape;929;p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Strictly Confidential</a:t>
            </a:r>
            <a:endParaRPr/>
          </a:p>
        </p:txBody>
      </p:sp>
      <p:pic>
        <p:nvPicPr>
          <p:cNvPr id="930" name="Google Shape;93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69193" y="4832197"/>
            <a:ext cx="892408" cy="813297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3"/>
          <p:cNvSpPr txBox="1"/>
          <p:nvPr/>
        </p:nvSpPr>
        <p:spPr>
          <a:xfrm>
            <a:off x="8580048" y="5680038"/>
            <a:ext cx="3463201" cy="7663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Sayali Mahashur, Advisor Capital Markets 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CFA (ICFAI), 12+ years of core finance experience.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2" name="Google Shape;932;p3"/>
          <p:cNvCxnSpPr/>
          <p:nvPr/>
        </p:nvCxnSpPr>
        <p:spPr>
          <a:xfrm>
            <a:off x="4429760" y="1148080"/>
            <a:ext cx="0" cy="477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933" name="Google Shape;933;p3"/>
          <p:cNvSpPr/>
          <p:nvPr/>
        </p:nvSpPr>
        <p:spPr>
          <a:xfrm>
            <a:off x="155678" y="994347"/>
            <a:ext cx="4157729" cy="4550183"/>
          </a:xfrm>
          <a:custGeom>
            <a:rect b="b" l="l" r="r" t="t"/>
            <a:pathLst>
              <a:path extrusionOk="0" h="3412637" w="3118297">
                <a:moveTo>
                  <a:pt x="0" y="0"/>
                </a:moveTo>
                <a:lnTo>
                  <a:pt x="3118297" y="0"/>
                </a:lnTo>
                <a:lnTo>
                  <a:pt x="3118297" y="3412637"/>
                </a:lnTo>
                <a:lnTo>
                  <a:pt x="0" y="3412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4" name="Google Shape;934;p3"/>
          <p:cNvSpPr txBox="1"/>
          <p:nvPr/>
        </p:nvSpPr>
        <p:spPr>
          <a:xfrm>
            <a:off x="2288650" y="1148081"/>
            <a:ext cx="2024756" cy="8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Founded in 2016 as a niche Data Analytics company</a:t>
            </a:r>
            <a:endParaRPr/>
          </a:p>
        </p:txBody>
      </p:sp>
      <p:sp>
        <p:nvSpPr>
          <p:cNvPr id="935" name="Google Shape;935;p3"/>
          <p:cNvSpPr txBox="1"/>
          <p:nvPr/>
        </p:nvSpPr>
        <p:spPr>
          <a:xfrm>
            <a:off x="1439354" y="2372012"/>
            <a:ext cx="2692949" cy="625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NTT Data engagement started in 2017</a:t>
            </a:r>
            <a:endParaRPr/>
          </a:p>
        </p:txBody>
      </p:sp>
      <p:sp>
        <p:nvSpPr>
          <p:cNvPr id="936" name="Google Shape;936;p3"/>
          <p:cNvSpPr txBox="1"/>
          <p:nvPr/>
        </p:nvSpPr>
        <p:spPr>
          <a:xfrm>
            <a:off x="2310828" y="3389018"/>
            <a:ext cx="2164265" cy="8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expertise in Deep Learning and AI solutions on Cloud</a:t>
            </a:r>
            <a:endParaRPr/>
          </a:p>
        </p:txBody>
      </p:sp>
      <p:sp>
        <p:nvSpPr>
          <p:cNvPr id="937" name="Google Shape;937;p3"/>
          <p:cNvSpPr txBox="1"/>
          <p:nvPr/>
        </p:nvSpPr>
        <p:spPr>
          <a:xfrm>
            <a:off x="1356035" y="4883478"/>
            <a:ext cx="2980037" cy="625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NTT Data Intellilink (NDIL) investment in 2023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"/>
              <a:t>AI in Healthcare</a:t>
            </a:r>
            <a:endParaRPr/>
          </a:p>
        </p:txBody>
      </p:sp>
      <p:sp>
        <p:nvSpPr>
          <p:cNvPr id="943" name="Google Shape;943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"/>
              <a:t>Our work and Offerings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Evolution of AI in Healthcare</a:t>
            </a:r>
            <a:endParaRPr/>
          </a:p>
        </p:txBody>
      </p:sp>
      <p:sp>
        <p:nvSpPr>
          <p:cNvPr id="949" name="Google Shape;949;p5"/>
          <p:cNvSpPr txBox="1"/>
          <p:nvPr>
            <p:ph idx="1" type="body"/>
          </p:nvPr>
        </p:nvSpPr>
        <p:spPr>
          <a:xfrm>
            <a:off x="8905535" y="1074929"/>
            <a:ext cx="2909621" cy="47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423323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67">
                <a:latin typeface="Calibri"/>
                <a:ea typeface="Calibri"/>
                <a:cs typeface="Calibri"/>
                <a:sym typeface="Calibri"/>
              </a:rPr>
              <a:t>Exponential increase in computing power</a:t>
            </a:r>
            <a:endParaRPr/>
          </a:p>
          <a:p>
            <a:pPr indent="-423323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Growth of genomic sequencing database</a:t>
            </a:r>
            <a:endParaRPr/>
          </a:p>
          <a:p>
            <a:pPr indent="-423323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Widespread implementation of Electronic Medical Record (EMR) Systems </a:t>
            </a:r>
            <a:endParaRPr/>
          </a:p>
          <a:p>
            <a:pPr indent="-423323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Enhancements in Natural Language Processing (NLP) and computer vision</a:t>
            </a:r>
            <a:endParaRPr/>
          </a:p>
          <a:p>
            <a:pPr indent="-423323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Enhanced precision in micro-mechanics required for Robotic surgeries</a:t>
            </a:r>
            <a:endParaRPr sz="1867">
              <a:latin typeface="Calibri"/>
              <a:ea typeface="Calibri"/>
              <a:cs typeface="Calibri"/>
              <a:sym typeface="Calibri"/>
            </a:endParaRPr>
          </a:p>
          <a:p>
            <a:pPr indent="-334423" lvl="0" marL="609585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86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"/>
          <p:cNvSpPr/>
          <p:nvPr/>
        </p:nvSpPr>
        <p:spPr>
          <a:xfrm>
            <a:off x="1" y="1281517"/>
            <a:ext cx="8905535" cy="4701272"/>
          </a:xfrm>
          <a:custGeom>
            <a:rect b="b" l="l" r="r" t="t"/>
            <a:pathLst>
              <a:path extrusionOk="0" h="7729823" w="16230600">
                <a:moveTo>
                  <a:pt x="0" y="0"/>
                </a:moveTo>
                <a:lnTo>
                  <a:pt x="16230600" y="0"/>
                </a:lnTo>
                <a:lnTo>
                  <a:pt x="16230600" y="7729823"/>
                </a:lnTo>
                <a:lnTo>
                  <a:pt x="0" y="77298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5"/>
          <p:cNvSpPr txBox="1"/>
          <p:nvPr/>
        </p:nvSpPr>
        <p:spPr>
          <a:xfrm>
            <a:off x="498764" y="776045"/>
            <a:ext cx="908857" cy="37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1970</a:t>
            </a:r>
            <a:endParaRPr/>
          </a:p>
        </p:txBody>
      </p:sp>
      <p:sp>
        <p:nvSpPr>
          <p:cNvPr id="952" name="Google Shape;952;p5"/>
          <p:cNvSpPr txBox="1"/>
          <p:nvPr/>
        </p:nvSpPr>
        <p:spPr>
          <a:xfrm>
            <a:off x="243841" y="3857106"/>
            <a:ext cx="164037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MYCIN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AI program that identifies blood infection treatments</a:t>
            </a:r>
            <a:endParaRPr/>
          </a:p>
        </p:txBody>
      </p:sp>
      <p:sp>
        <p:nvSpPr>
          <p:cNvPr id="953" name="Google Shape;953;p5"/>
          <p:cNvSpPr txBox="1"/>
          <p:nvPr/>
        </p:nvSpPr>
        <p:spPr>
          <a:xfrm>
            <a:off x="2665617" y="823597"/>
            <a:ext cx="1762296" cy="37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1980s -1990s</a:t>
            </a:r>
            <a:endParaRPr/>
          </a:p>
        </p:txBody>
      </p:sp>
      <p:sp>
        <p:nvSpPr>
          <p:cNvPr id="954" name="Google Shape;954;p5"/>
          <p:cNvSpPr txBox="1"/>
          <p:nvPr/>
        </p:nvSpPr>
        <p:spPr>
          <a:xfrm>
            <a:off x="8645236" y="343593"/>
            <a:ext cx="3280757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Factors contributing to the growth in Healthcare AI</a:t>
            </a:r>
            <a:endParaRPr/>
          </a:p>
        </p:txBody>
      </p:sp>
      <p:sp>
        <p:nvSpPr>
          <p:cNvPr id="955" name="Google Shape;955;p5"/>
          <p:cNvSpPr txBox="1"/>
          <p:nvPr/>
        </p:nvSpPr>
        <p:spPr>
          <a:xfrm>
            <a:off x="2427317" y="3258590"/>
            <a:ext cx="178446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Medical AI</a:t>
            </a:r>
            <a:endParaRPr/>
          </a:p>
          <a:p>
            <a:pPr indent="-1227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 data collection &amp; processing</a:t>
            </a:r>
            <a:endParaRPr/>
          </a:p>
          <a:p>
            <a:pPr indent="-1227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Assisting in precise surgical procedures</a:t>
            </a:r>
            <a:endParaRPr/>
          </a:p>
          <a:p>
            <a:pPr indent="-211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1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"/>
          <p:cNvSpPr txBox="1"/>
          <p:nvPr/>
        </p:nvSpPr>
        <p:spPr>
          <a:xfrm>
            <a:off x="5187143" y="823597"/>
            <a:ext cx="1141613" cy="37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2010-20</a:t>
            </a:r>
            <a:endParaRPr/>
          </a:p>
        </p:txBody>
      </p:sp>
      <p:sp>
        <p:nvSpPr>
          <p:cNvPr id="957" name="Google Shape;957;p5"/>
          <p:cNvSpPr txBox="1"/>
          <p:nvPr/>
        </p:nvSpPr>
        <p:spPr>
          <a:xfrm>
            <a:off x="7207217" y="814015"/>
            <a:ext cx="1438019" cy="37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2020-2023</a:t>
            </a:r>
            <a:endParaRPr/>
          </a:p>
        </p:txBody>
      </p:sp>
      <p:sp>
        <p:nvSpPr>
          <p:cNvPr id="958" name="Google Shape;958;p5"/>
          <p:cNvSpPr txBox="1"/>
          <p:nvPr/>
        </p:nvSpPr>
        <p:spPr>
          <a:xfrm>
            <a:off x="6990456" y="3094568"/>
            <a:ext cx="187154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27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Rise of Generative AI</a:t>
            </a:r>
            <a:endParaRPr/>
          </a:p>
          <a:p>
            <a:pPr indent="-1227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Medical imaging &amp; diagnostics</a:t>
            </a:r>
            <a:endParaRPr/>
          </a:p>
          <a:p>
            <a:pPr indent="-1227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Virtual Assistants (Chatbots)</a:t>
            </a:r>
            <a:endParaRPr/>
          </a:p>
        </p:txBody>
      </p:sp>
      <p:sp>
        <p:nvSpPr>
          <p:cNvPr id="959" name="Google Shape;959;p5"/>
          <p:cNvSpPr txBox="1"/>
          <p:nvPr/>
        </p:nvSpPr>
        <p:spPr>
          <a:xfrm>
            <a:off x="4630103" y="3767143"/>
            <a:ext cx="1928555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27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2010: CAD applied to Endoscopy</a:t>
            </a:r>
            <a:endParaRPr/>
          </a:p>
          <a:p>
            <a:pPr indent="-122763" lvl="0" marL="12276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2017: First FDA approved Deep Learning application to detect heart problems</a:t>
            </a:r>
            <a:endParaRPr/>
          </a:p>
        </p:txBody>
      </p:sp>
      <p:sp>
        <p:nvSpPr>
          <p:cNvPr id="960" name="Google Shape;960;p5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61" name="Google Shape;961;p5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62" name="Google Shape;962;p5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"/>
          <p:cNvSpPr/>
          <p:nvPr/>
        </p:nvSpPr>
        <p:spPr>
          <a:xfrm>
            <a:off x="258525" y="4925775"/>
            <a:ext cx="11729400" cy="138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6"/>
          <p:cNvSpPr/>
          <p:nvPr/>
        </p:nvSpPr>
        <p:spPr>
          <a:xfrm>
            <a:off x="231325" y="3551475"/>
            <a:ext cx="11729400" cy="131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6"/>
          <p:cNvSpPr/>
          <p:nvPr/>
        </p:nvSpPr>
        <p:spPr>
          <a:xfrm>
            <a:off x="217725" y="2163525"/>
            <a:ext cx="11729400" cy="131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6"/>
          <p:cNvSpPr/>
          <p:nvPr/>
        </p:nvSpPr>
        <p:spPr>
          <a:xfrm>
            <a:off x="204100" y="680351"/>
            <a:ext cx="11729400" cy="138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Offerings for Healthcare and Pharma</a:t>
            </a:r>
            <a:endParaRPr/>
          </a:p>
        </p:txBody>
      </p:sp>
      <p:sp>
        <p:nvSpPr>
          <p:cNvPr id="973" name="Google Shape;973;p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"/>
          <p:cNvSpPr txBox="1"/>
          <p:nvPr>
            <p:ph idx="11" type="ftr"/>
          </p:nvPr>
        </p:nvSpPr>
        <p:spPr>
          <a:xfrm>
            <a:off x="8712679" y="6356350"/>
            <a:ext cx="239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AlgoAnalytics .Pvt .Ltd | Page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8" name="Google Shape;978;p6"/>
          <p:cNvGrpSpPr/>
          <p:nvPr/>
        </p:nvGrpSpPr>
        <p:grpSpPr>
          <a:xfrm>
            <a:off x="1645661" y="4988374"/>
            <a:ext cx="10070214" cy="1222073"/>
            <a:chOff x="2283025" y="2322568"/>
            <a:chExt cx="5267950" cy="643500"/>
          </a:xfrm>
        </p:grpSpPr>
        <p:sp>
          <p:nvSpPr>
            <p:cNvPr id="979" name="Google Shape;979;p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Next-Gen Technologies</a:t>
              </a:r>
              <a:endParaRPr/>
            </a:p>
          </p:txBody>
        </p:sp>
      </p:grpSp>
      <p:grpSp>
        <p:nvGrpSpPr>
          <p:cNvPr id="983" name="Google Shape;983;p6"/>
          <p:cNvGrpSpPr/>
          <p:nvPr/>
        </p:nvGrpSpPr>
        <p:grpSpPr>
          <a:xfrm>
            <a:off x="1645660" y="3592320"/>
            <a:ext cx="10070213" cy="1222073"/>
            <a:chOff x="2283025" y="2322568"/>
            <a:chExt cx="5267950" cy="643500"/>
          </a:xfrm>
        </p:grpSpPr>
        <p:sp>
          <p:nvSpPr>
            <p:cNvPr id="984" name="Google Shape;984;p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AI for Cloud</a:t>
              </a:r>
              <a:endParaRPr b="1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6"/>
            <p:cNvSpPr/>
            <p:nvPr/>
          </p:nvSpPr>
          <p:spPr>
            <a:xfrm>
              <a:off x="4467574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AI application development for Cloud</a:t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ML Ops and Data Ops </a:t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ML services in Cloud</a:t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9" name="Google Shape;989;p6"/>
          <p:cNvGrpSpPr/>
          <p:nvPr/>
        </p:nvGrpSpPr>
        <p:grpSpPr>
          <a:xfrm>
            <a:off x="1645659" y="2157289"/>
            <a:ext cx="10569698" cy="1378178"/>
            <a:chOff x="2283025" y="2302067"/>
            <a:chExt cx="5529241" cy="725700"/>
          </a:xfrm>
        </p:grpSpPr>
        <p:sp>
          <p:nvSpPr>
            <p:cNvPr id="990" name="Google Shape;990;p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AI-based Process Automation</a:t>
              </a:r>
              <a:endParaRPr b="1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6"/>
            <p:cNvSpPr/>
            <p:nvPr/>
          </p:nvSpPr>
          <p:spPr>
            <a:xfrm>
              <a:off x="4444166" y="2302067"/>
              <a:ext cx="3368100" cy="7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Medical terms extraction from clinical notes</a:t>
              </a:r>
              <a:endParaRPr/>
            </a:p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lang="en" sz="1600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Automation of Discharge summary creation</a:t>
              </a:r>
              <a:endParaRPr/>
            </a:p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lang="en" sz="1600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Patient Condition Prediction using physiological measurments </a:t>
              </a:r>
              <a:endParaRPr/>
            </a:p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lang="en" sz="1600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Entity and intent detection from nursing notes</a:t>
              </a:r>
              <a:endParaRPr/>
            </a:p>
            <a:p>
              <a:pPr indent="-406389" lvl="0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6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0C58D3"/>
                  </a:solidFill>
                  <a:latin typeface="Calibri"/>
                  <a:ea typeface="Calibri"/>
                  <a:cs typeface="Calibri"/>
                  <a:sym typeface="Calibri"/>
                </a:rPr>
                <a:t>Pathology report parsing, Patient knowledge graph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6"/>
          <p:cNvGrpSpPr/>
          <p:nvPr/>
        </p:nvGrpSpPr>
        <p:grpSpPr>
          <a:xfrm>
            <a:off x="1645661" y="800186"/>
            <a:ext cx="10450436" cy="1222073"/>
            <a:chOff x="2283025" y="2322568"/>
            <a:chExt cx="5466853" cy="643500"/>
          </a:xfrm>
        </p:grpSpPr>
        <p:sp>
          <p:nvSpPr>
            <p:cNvPr id="996" name="Google Shape;996;p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Text and Image Analytics</a:t>
              </a:r>
              <a:endParaRPr b="1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6"/>
            <p:cNvSpPr/>
            <p:nvPr/>
          </p:nvSpPr>
          <p:spPr>
            <a:xfrm>
              <a:off x="4467578" y="2323747"/>
              <a:ext cx="32823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400041" lvl="2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15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Natural Language Processing (NLP) applications</a:t>
              </a:r>
              <a:endParaRPr/>
            </a:p>
            <a:p>
              <a:pPr indent="-400041" lvl="2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15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Foundational/ Large Language Models (LLM) applications</a:t>
              </a:r>
              <a:endParaRPr/>
            </a:p>
            <a:p>
              <a:pPr indent="-400041" lvl="2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1500"/>
                <a:buFont typeface="Calibri"/>
                <a:buChar char="●"/>
              </a:pPr>
              <a:r>
                <a:rPr b="1" i="0" lang="en" sz="1600" u="none" cap="none" strike="noStrike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Computer Vision based Medical/ pharma applications</a:t>
              </a:r>
              <a:endParaRPr/>
            </a:p>
            <a:p>
              <a:pPr indent="-304791" lvl="2" marL="609584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Pts val="15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01" name="Google Shape;10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825" y="740825"/>
            <a:ext cx="1222075" cy="1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125" y="2206925"/>
            <a:ext cx="1222075" cy="12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768" y="3633151"/>
            <a:ext cx="1138200" cy="11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833" y="4952817"/>
            <a:ext cx="1222067" cy="122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6"/>
          <p:cNvSpPr/>
          <p:nvPr/>
        </p:nvSpPr>
        <p:spPr>
          <a:xfrm>
            <a:off x="5962462" y="5225498"/>
            <a:ext cx="5763367" cy="1035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15239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8D3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C58D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793" lvl="1" marL="45718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8D3"/>
              </a:buClr>
              <a:buSzPts val="1600"/>
              <a:buFont typeface="Calibri"/>
              <a:buChar char="●"/>
            </a:pPr>
            <a:r>
              <a:rPr b="1" i="0" lang="en" sz="1600" u="none" cap="none" strike="noStrike">
                <a:solidFill>
                  <a:srgbClr val="0C58D3"/>
                </a:solidFill>
                <a:latin typeface="Calibri"/>
                <a:ea typeface="Calibri"/>
                <a:cs typeface="Calibri"/>
                <a:sym typeface="Calibri"/>
              </a:rPr>
              <a:t>Generative AI based applications</a:t>
            </a:r>
            <a:endParaRPr/>
          </a:p>
          <a:p>
            <a:pPr indent="-304793" lvl="1" marL="45718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8D3"/>
              </a:buClr>
              <a:buSzPts val="1600"/>
              <a:buFont typeface="Calibri"/>
              <a:buChar char="●"/>
            </a:pPr>
            <a:r>
              <a:rPr b="1" i="0" lang="en" sz="1600" u="none" cap="none" strike="noStrike">
                <a:solidFill>
                  <a:srgbClr val="0C58D3"/>
                </a:solidFill>
                <a:latin typeface="Calibri"/>
                <a:ea typeface="Calibri"/>
                <a:cs typeface="Calibri"/>
                <a:sym typeface="Calibri"/>
              </a:rPr>
              <a:t>Federated Learning</a:t>
            </a:r>
            <a:endParaRPr/>
          </a:p>
          <a:p>
            <a:pPr indent="-304793" lvl="1" marL="45718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8D3"/>
              </a:buClr>
              <a:buSzPts val="1600"/>
              <a:buFont typeface="Calibri"/>
              <a:buChar char="●"/>
            </a:pPr>
            <a:r>
              <a:rPr b="1" i="0" lang="en" sz="1600" u="none" cap="none" strike="noStrike">
                <a:solidFill>
                  <a:srgbClr val="0C58D3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  <a:endParaRPr/>
          </a:p>
          <a:p>
            <a:pPr indent="-304793" lvl="1" marL="45718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8D3"/>
              </a:buClr>
              <a:buSzPts val="1600"/>
              <a:buFont typeface="Calibri"/>
              <a:buChar char="●"/>
            </a:pPr>
            <a:r>
              <a:rPr b="1" i="0" lang="en" sz="1600" u="none" cap="none" strike="noStrike">
                <a:solidFill>
                  <a:srgbClr val="0C58D3"/>
                </a:solidFill>
                <a:latin typeface="Calibri"/>
                <a:ea typeface="Calibri"/>
                <a:cs typeface="Calibri"/>
                <a:sym typeface="Calibri"/>
              </a:rPr>
              <a:t>Quantum Computing</a:t>
            </a:r>
            <a:endParaRPr/>
          </a:p>
          <a:p>
            <a:pPr indent="-203195" lvl="1" marL="45718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8D3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C58D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195" lvl="0" marL="45718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58D3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C58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"/>
          <p:cNvSpPr txBox="1"/>
          <p:nvPr>
            <p:ph type="title"/>
          </p:nvPr>
        </p:nvSpPr>
        <p:spPr>
          <a:xfrm>
            <a:off x="80552" y="77741"/>
            <a:ext cx="12015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Few Healthcare AI Project Summaries</a:t>
            </a:r>
            <a:endParaRPr/>
          </a:p>
        </p:txBody>
      </p:sp>
      <p:cxnSp>
        <p:nvCxnSpPr>
          <p:cNvPr id="1011" name="Google Shape;1011;p7"/>
          <p:cNvCxnSpPr/>
          <p:nvPr/>
        </p:nvCxnSpPr>
        <p:spPr>
          <a:xfrm>
            <a:off x="762000" y="3230880"/>
            <a:ext cx="10586700" cy="0"/>
          </a:xfrm>
          <a:prstGeom prst="straightConnector1">
            <a:avLst/>
          </a:prstGeom>
          <a:noFill/>
          <a:ln cap="flat" cmpd="sng" w="19050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2" name="Google Shape;1012;p7"/>
          <p:cNvCxnSpPr/>
          <p:nvPr/>
        </p:nvCxnSpPr>
        <p:spPr>
          <a:xfrm>
            <a:off x="4084320" y="843280"/>
            <a:ext cx="0" cy="5252684"/>
          </a:xfrm>
          <a:prstGeom prst="straightConnector1">
            <a:avLst/>
          </a:prstGeom>
          <a:noFill/>
          <a:ln cap="flat" cmpd="sng" w="19050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7"/>
          <p:cNvCxnSpPr/>
          <p:nvPr/>
        </p:nvCxnSpPr>
        <p:spPr>
          <a:xfrm>
            <a:off x="7823200" y="843280"/>
            <a:ext cx="0" cy="5188290"/>
          </a:xfrm>
          <a:prstGeom prst="straightConnector1">
            <a:avLst/>
          </a:prstGeom>
          <a:noFill/>
          <a:ln cap="flat" cmpd="sng" w="19050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4" name="Google Shape;1014;p7"/>
          <p:cNvSpPr/>
          <p:nvPr/>
        </p:nvSpPr>
        <p:spPr>
          <a:xfrm>
            <a:off x="660400" y="721360"/>
            <a:ext cx="3108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Mirror using 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7"/>
          <p:cNvSpPr/>
          <p:nvPr/>
        </p:nvSpPr>
        <p:spPr>
          <a:xfrm>
            <a:off x="660400" y="2601162"/>
            <a:ext cx="31089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a Gen AI application to create a mirror of senior citizens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7"/>
          <p:cNvSpPr/>
          <p:nvPr/>
        </p:nvSpPr>
        <p:spPr>
          <a:xfrm>
            <a:off x="4388344" y="755318"/>
            <a:ext cx="3108900" cy="424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Diabetic Retinopathy Detection using Computer Vision 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7"/>
          <p:cNvSpPr/>
          <p:nvPr/>
        </p:nvSpPr>
        <p:spPr>
          <a:xfrm>
            <a:off x="660400" y="3393123"/>
            <a:ext cx="3210562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Features for Pharma Consulting Platform using NLP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7"/>
          <p:cNvSpPr/>
          <p:nvPr/>
        </p:nvSpPr>
        <p:spPr>
          <a:xfrm>
            <a:off x="4297740" y="3458131"/>
            <a:ext cx="3353511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Term Extraction from Clinical letters using NLP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7"/>
          <p:cNvSpPr/>
          <p:nvPr/>
        </p:nvSpPr>
        <p:spPr>
          <a:xfrm>
            <a:off x="8138222" y="3393123"/>
            <a:ext cx="3312157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Pathology Lab Report Parsing using NLP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7"/>
          <p:cNvSpPr/>
          <p:nvPr/>
        </p:nvSpPr>
        <p:spPr>
          <a:xfrm>
            <a:off x="1291849" y="1091187"/>
            <a:ext cx="1756620" cy="1441737"/>
          </a:xfrm>
          <a:custGeom>
            <a:rect b="b" l="l" r="r" t="t"/>
            <a:pathLst>
              <a:path extrusionOk="0" h="2383037" w="2651502">
                <a:moveTo>
                  <a:pt x="0" y="0"/>
                </a:moveTo>
                <a:lnTo>
                  <a:pt x="2651502" y="0"/>
                </a:lnTo>
                <a:lnTo>
                  <a:pt x="2651502" y="2383037"/>
                </a:lnTo>
                <a:lnTo>
                  <a:pt x="0" y="2383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7"/>
          <p:cNvSpPr txBox="1"/>
          <p:nvPr>
            <p:ph idx="12" type="sldNum"/>
          </p:nvPr>
        </p:nvSpPr>
        <p:spPr>
          <a:xfrm>
            <a:off x="10972800" y="6356351"/>
            <a:ext cx="381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7"/>
          <p:cNvSpPr txBox="1"/>
          <p:nvPr>
            <p:ph idx="11" type="ftr"/>
          </p:nvPr>
        </p:nvSpPr>
        <p:spPr>
          <a:xfrm>
            <a:off x="8712679" y="6356350"/>
            <a:ext cx="239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AlgoAnalytics .Pvt .Ltd | Page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7"/>
          <p:cNvSpPr txBox="1"/>
          <p:nvPr/>
        </p:nvSpPr>
        <p:spPr>
          <a:xfrm>
            <a:off x="7995145" y="660381"/>
            <a:ext cx="3833268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ICD Coding Assistant using NLP</a:t>
            </a:r>
            <a:endParaRPr/>
          </a:p>
        </p:txBody>
      </p:sp>
      <p:pic>
        <p:nvPicPr>
          <p:cNvPr id="1026" name="Google Shape;10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172" y="1203344"/>
            <a:ext cx="1852887" cy="1217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D-10 - Wikipedia" id="1027" name="Google Shape;102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0687" y="1173568"/>
            <a:ext cx="2878234" cy="1439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ort - Free education icons" id="1028" name="Google Shape;102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6394" y="3894402"/>
            <a:ext cx="1295812" cy="1295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ail, mail, medical, results, letter, health, envelope icon - Download on  Iconfinder" id="1029" name="Google Shape;102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27258" y="3957064"/>
            <a:ext cx="1294473" cy="1294473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7"/>
          <p:cNvSpPr txBox="1"/>
          <p:nvPr/>
        </p:nvSpPr>
        <p:spPr>
          <a:xfrm>
            <a:off x="7907549" y="5240296"/>
            <a:ext cx="411479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Extracts the unstructured data from pathology lab reports and translate to structured data which is useful for downstream applications</a:t>
            </a:r>
            <a:endParaRPr/>
          </a:p>
        </p:txBody>
      </p:sp>
      <p:sp>
        <p:nvSpPr>
          <p:cNvPr id="1031" name="Google Shape;1031;p7"/>
          <p:cNvSpPr txBox="1"/>
          <p:nvPr/>
        </p:nvSpPr>
        <p:spPr>
          <a:xfrm>
            <a:off x="8084722" y="2622784"/>
            <a:ext cx="3654112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suggest appropriate ICD codes based on medical records of the patient</a:t>
            </a:r>
            <a:endParaRPr/>
          </a:p>
        </p:txBody>
      </p:sp>
      <p:sp>
        <p:nvSpPr>
          <p:cNvPr id="1032" name="Google Shape;1032;p7"/>
          <p:cNvSpPr txBox="1"/>
          <p:nvPr/>
        </p:nvSpPr>
        <p:spPr>
          <a:xfrm>
            <a:off x="4005702" y="5348018"/>
            <a:ext cx="36455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86262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key medical term from the clinical letters shared across medical practitioner</a:t>
            </a:r>
            <a:endParaRPr/>
          </a:p>
        </p:txBody>
      </p:sp>
      <p:sp>
        <p:nvSpPr>
          <p:cNvPr id="1033" name="Google Shape;1033;p7"/>
          <p:cNvSpPr/>
          <p:nvPr/>
        </p:nvSpPr>
        <p:spPr>
          <a:xfrm>
            <a:off x="4162939" y="2601162"/>
            <a:ext cx="3575913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Levraging image processing techniques to successfully predict Retinopathy of severity Grade 2 and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oftware - Free healthcare and medical icons" id="1034" name="Google Shape;103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1632" y="3691858"/>
            <a:ext cx="1696837" cy="169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7"/>
          <p:cNvSpPr txBox="1"/>
          <p:nvPr/>
        </p:nvSpPr>
        <p:spPr>
          <a:xfrm>
            <a:off x="347384" y="5292906"/>
            <a:ext cx="364554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foundational functions/modules to provide trend and temporal analysis based on news and social media text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Generative AI</a:t>
            </a:r>
            <a:endParaRPr/>
          </a:p>
        </p:txBody>
      </p:sp>
      <p:sp>
        <p:nvSpPr>
          <p:cNvPr id="1041" name="Google Shape;1041;p8"/>
          <p:cNvSpPr txBox="1"/>
          <p:nvPr>
            <p:ph idx="1" type="body"/>
          </p:nvPr>
        </p:nvSpPr>
        <p:spPr>
          <a:xfrm>
            <a:off x="831851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"/>
              <a:t>Our work in Foundational/ Large Language Models (LLM)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9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Large Language Models (LLM)</a:t>
            </a:r>
            <a:endParaRPr/>
          </a:p>
        </p:txBody>
      </p:sp>
      <p:sp>
        <p:nvSpPr>
          <p:cNvPr id="1047" name="Google Shape;1047;p9"/>
          <p:cNvSpPr txBox="1"/>
          <p:nvPr/>
        </p:nvSpPr>
        <p:spPr>
          <a:xfrm>
            <a:off x="4918138" y="815363"/>
            <a:ext cx="6719681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Generative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type of AI that creates new content or synthetic data based on what it has learned from a given dataset.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9"/>
          <p:cNvSpPr txBox="1"/>
          <p:nvPr/>
        </p:nvSpPr>
        <p:spPr>
          <a:xfrm>
            <a:off x="4918138" y="2803979"/>
            <a:ext cx="6000205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or Healthcare large language models (LLMs) 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advanced AI-powered systems designed to understand &amp; process vast amount of medical text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9"/>
          <p:cNvSpPr txBox="1"/>
          <p:nvPr/>
        </p:nvSpPr>
        <p:spPr>
          <a:xfrm>
            <a:off x="6827522" y="4225803"/>
            <a:ext cx="4810297" cy="1528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They possess the ability to</a:t>
            </a:r>
            <a:endParaRPr/>
          </a:p>
          <a:p>
            <a:pPr indent="-380990" lvl="0" marL="38099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Char char="•"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Comprehend complex medical texts</a:t>
            </a:r>
            <a:endParaRPr/>
          </a:p>
          <a:p>
            <a:pPr indent="-380990" lvl="0" marL="38099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Char char="•"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Extract meaningful information</a:t>
            </a:r>
            <a:endParaRPr/>
          </a:p>
          <a:p>
            <a:pPr indent="-380990" lvl="0" marL="38099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Char char="•"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Generate valuable insights for healthcare professionals</a:t>
            </a:r>
            <a:endParaRPr/>
          </a:p>
        </p:txBody>
      </p:sp>
      <p:grpSp>
        <p:nvGrpSpPr>
          <p:cNvPr id="1050" name="Google Shape;1050;p9"/>
          <p:cNvGrpSpPr/>
          <p:nvPr/>
        </p:nvGrpSpPr>
        <p:grpSpPr>
          <a:xfrm>
            <a:off x="1317996" y="689694"/>
            <a:ext cx="3136669" cy="3181004"/>
            <a:chOff x="6409112" y="365760"/>
            <a:chExt cx="2352502" cy="2385753"/>
          </a:xfrm>
        </p:grpSpPr>
        <p:sp>
          <p:nvSpPr>
            <p:cNvPr id="1051" name="Google Shape;1051;p9"/>
            <p:cNvSpPr/>
            <p:nvPr/>
          </p:nvSpPr>
          <p:spPr>
            <a:xfrm>
              <a:off x="6409112" y="365760"/>
              <a:ext cx="2352502" cy="23857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9"/>
            <p:cNvSpPr/>
            <p:nvPr/>
          </p:nvSpPr>
          <p:spPr>
            <a:xfrm>
              <a:off x="6916188" y="1367656"/>
              <a:ext cx="1338349" cy="128847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LLM</a:t>
              </a:r>
              <a:endParaRPr/>
            </a:p>
          </p:txBody>
        </p:sp>
        <p:sp>
          <p:nvSpPr>
            <p:cNvPr id="1053" name="Google Shape;1053;p9"/>
            <p:cNvSpPr txBox="1"/>
            <p:nvPr/>
          </p:nvSpPr>
          <p:spPr>
            <a:xfrm>
              <a:off x="6916187" y="821707"/>
              <a:ext cx="1463041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Generative AI</a:t>
              </a:r>
              <a:endParaRPr/>
            </a:p>
          </p:txBody>
        </p:sp>
      </p:grpSp>
      <p:sp>
        <p:nvSpPr>
          <p:cNvPr id="1054" name="Google Shape;1054;p9"/>
          <p:cNvSpPr txBox="1"/>
          <p:nvPr/>
        </p:nvSpPr>
        <p:spPr>
          <a:xfrm>
            <a:off x="4918138" y="1647313"/>
            <a:ext cx="6483753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Language Models (LLM) are 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type of Deep Learning AI model notable for its ability to achieve general-purpose Language understanding and generation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 alt text provided for this image" id="1055" name="Google Shape;10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94" y="4027566"/>
            <a:ext cx="6528017" cy="2223605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9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0"/>
          <p:cNvSpPr txBox="1"/>
          <p:nvPr>
            <p:ph type="title"/>
          </p:nvPr>
        </p:nvSpPr>
        <p:spPr>
          <a:xfrm>
            <a:off x="80552" y="77740"/>
            <a:ext cx="12015653" cy="60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LLMs are finding Applications in every Healthcare Segment </a:t>
            </a:r>
            <a:endParaRPr/>
          </a:p>
        </p:txBody>
      </p:sp>
      <p:sp>
        <p:nvSpPr>
          <p:cNvPr id="1064" name="Google Shape;1064;p10"/>
          <p:cNvSpPr txBox="1"/>
          <p:nvPr/>
        </p:nvSpPr>
        <p:spPr>
          <a:xfrm>
            <a:off x="8508940" y="1993872"/>
            <a:ext cx="3493669" cy="2326595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 fontScale="92500" lnSpcReduction="20000"/>
          </a:bodyPr>
          <a:lstStyle/>
          <a:p>
            <a:pPr indent="0" lvl="0" marL="15239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81081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 to risks such as.. </a:t>
            </a:r>
            <a:endParaRPr/>
          </a:p>
          <a:p>
            <a:pPr indent="-457188" lvl="0" marL="60958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1230"/>
              <a:buFont typeface="Arial"/>
              <a:buChar char="•"/>
            </a:pPr>
            <a:r>
              <a:rPr b="0" i="0" lang="en" sz="2133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Data privacy concerns</a:t>
            </a:r>
            <a:endParaRPr/>
          </a:p>
          <a:p>
            <a:pPr indent="-457188" lvl="0" marL="60958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1230"/>
              <a:buFont typeface="Arial"/>
              <a:buChar char="•"/>
            </a:pPr>
            <a:r>
              <a:rPr b="0" i="0" lang="en" sz="2133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Embedded bias</a:t>
            </a:r>
            <a:endParaRPr/>
          </a:p>
          <a:p>
            <a:pPr indent="-457188" lvl="0" marL="60958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1230"/>
              <a:buFont typeface="Arial"/>
              <a:buChar char="•"/>
            </a:pPr>
            <a:r>
              <a:rPr b="0" i="0" lang="en" sz="2133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/>
          </a:p>
          <a:p>
            <a:pPr indent="-457188" lvl="0" marL="60958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1230"/>
              <a:buFont typeface="Arial"/>
              <a:buChar char="•"/>
            </a:pPr>
            <a:r>
              <a:rPr b="0" i="0" lang="en" sz="2133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Synthetic data</a:t>
            </a:r>
            <a:endParaRPr/>
          </a:p>
          <a:p>
            <a:pPr indent="-457188" lvl="0" marL="60958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1230"/>
              <a:buFont typeface="Arial"/>
              <a:buChar char="•"/>
            </a:pPr>
            <a:r>
              <a:rPr b="0" i="0" lang="en" sz="2133" u="none" cap="none" strike="noStrike">
                <a:solidFill>
                  <a:srgbClr val="363636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b="0" i="0" sz="2133" u="none" cap="none" strike="noStrike">
              <a:solidFill>
                <a:srgbClr val="3636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8" lvl="0" marL="60958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4228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10"/>
          <p:cNvSpPr/>
          <p:nvPr/>
        </p:nvSpPr>
        <p:spPr>
          <a:xfrm>
            <a:off x="2330358" y="1452694"/>
            <a:ext cx="3643317" cy="4808039"/>
          </a:xfrm>
          <a:custGeom>
            <a:rect b="b" l="l" r="r" t="t"/>
            <a:pathLst>
              <a:path extrusionOk="0" h="8229600" w="7190613">
                <a:moveTo>
                  <a:pt x="0" y="0"/>
                </a:moveTo>
                <a:lnTo>
                  <a:pt x="7190612" y="0"/>
                </a:lnTo>
                <a:lnTo>
                  <a:pt x="71906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10"/>
          <p:cNvSpPr txBox="1"/>
          <p:nvPr/>
        </p:nvSpPr>
        <p:spPr>
          <a:xfrm>
            <a:off x="3581400" y="681039"/>
            <a:ext cx="2164960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Healthcare chatbots</a:t>
            </a:r>
            <a:endParaRPr/>
          </a:p>
        </p:txBody>
      </p:sp>
      <p:sp>
        <p:nvSpPr>
          <p:cNvPr id="1067" name="Google Shape;1067;p10"/>
          <p:cNvSpPr txBox="1"/>
          <p:nvPr/>
        </p:nvSpPr>
        <p:spPr>
          <a:xfrm>
            <a:off x="1105795" y="4607632"/>
            <a:ext cx="1621655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Medical Transcription</a:t>
            </a:r>
            <a:endParaRPr/>
          </a:p>
        </p:txBody>
      </p:sp>
      <p:sp>
        <p:nvSpPr>
          <p:cNvPr id="1068" name="Google Shape;1068;p10"/>
          <p:cNvSpPr txBox="1"/>
          <p:nvPr/>
        </p:nvSpPr>
        <p:spPr>
          <a:xfrm>
            <a:off x="267009" y="3048324"/>
            <a:ext cx="1905259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Electronic Health Record (EHR) enhancement</a:t>
            </a:r>
            <a:endParaRPr/>
          </a:p>
        </p:txBody>
      </p:sp>
      <p:sp>
        <p:nvSpPr>
          <p:cNvPr id="1069" name="Google Shape;1069;p10"/>
          <p:cNvSpPr txBox="1"/>
          <p:nvPr/>
        </p:nvSpPr>
        <p:spPr>
          <a:xfrm>
            <a:off x="512007" y="2097803"/>
            <a:ext cx="1841877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Clinical Decision Support</a:t>
            </a:r>
            <a:endParaRPr/>
          </a:p>
        </p:txBody>
      </p:sp>
      <p:sp>
        <p:nvSpPr>
          <p:cNvPr id="1070" name="Google Shape;1070;p10"/>
          <p:cNvSpPr txBox="1"/>
          <p:nvPr/>
        </p:nvSpPr>
        <p:spPr>
          <a:xfrm>
            <a:off x="1105795" y="1238327"/>
            <a:ext cx="2062335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Drug Discovery &amp; Development</a:t>
            </a:r>
            <a:endParaRPr/>
          </a:p>
        </p:txBody>
      </p:sp>
      <p:sp>
        <p:nvSpPr>
          <p:cNvPr id="1071" name="Google Shape;1071;p10"/>
          <p:cNvSpPr txBox="1"/>
          <p:nvPr/>
        </p:nvSpPr>
        <p:spPr>
          <a:xfrm>
            <a:off x="5875947" y="2003588"/>
            <a:ext cx="1948805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Personalized Treatment Plans</a:t>
            </a:r>
            <a:endParaRPr/>
          </a:p>
        </p:txBody>
      </p:sp>
      <p:sp>
        <p:nvSpPr>
          <p:cNvPr id="1072" name="Google Shape;1072;p10"/>
          <p:cNvSpPr txBox="1"/>
          <p:nvPr/>
        </p:nvSpPr>
        <p:spPr>
          <a:xfrm>
            <a:off x="6110081" y="3300869"/>
            <a:ext cx="1872033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Medical Imaging Analysis</a:t>
            </a:r>
            <a:endParaRPr/>
          </a:p>
        </p:txBody>
      </p:sp>
      <p:sp>
        <p:nvSpPr>
          <p:cNvPr id="1073" name="Google Shape;1073;p10"/>
          <p:cNvSpPr txBox="1"/>
          <p:nvPr/>
        </p:nvSpPr>
        <p:spPr>
          <a:xfrm>
            <a:off x="5768848" y="4623419"/>
            <a:ext cx="2384552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Ethics &amp; Compliance monitoring</a:t>
            </a:r>
            <a:endParaRPr/>
          </a:p>
        </p:txBody>
      </p:sp>
      <p:sp>
        <p:nvSpPr>
          <p:cNvPr id="1074" name="Google Shape;1074;p10"/>
          <p:cNvSpPr txBox="1"/>
          <p:nvPr/>
        </p:nvSpPr>
        <p:spPr>
          <a:xfrm>
            <a:off x="5249432" y="1047171"/>
            <a:ext cx="1948805" cy="66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Predictive Health outcomes</a:t>
            </a:r>
            <a:endParaRPr/>
          </a:p>
        </p:txBody>
      </p:sp>
      <p:sp>
        <p:nvSpPr>
          <p:cNvPr id="1075" name="Google Shape;1075;p1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0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1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"/>
              <a:t>Our LLM Center of Excellence (CoE)</a:t>
            </a:r>
            <a:endParaRPr/>
          </a:p>
        </p:txBody>
      </p:sp>
      <p:sp>
        <p:nvSpPr>
          <p:cNvPr id="1083" name="Google Shape;1083;p11"/>
          <p:cNvSpPr txBox="1"/>
          <p:nvPr/>
        </p:nvSpPr>
        <p:spPr>
          <a:xfrm>
            <a:off x="8306329" y="136449"/>
            <a:ext cx="3414421" cy="45130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https://apps.onestop.ai/llm-dashboard/</a:t>
            </a:r>
            <a:endParaRPr sz="13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1"/>
          <p:cNvSpPr txBox="1"/>
          <p:nvPr/>
        </p:nvSpPr>
        <p:spPr>
          <a:xfrm>
            <a:off x="1152561" y="816735"/>
            <a:ext cx="10386415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use a combination of Open-source and Closed-source frameworks to build these applications</a:t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1"/>
          <p:cNvSpPr txBox="1"/>
          <p:nvPr/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/>
          </a:p>
        </p:txBody>
      </p:sp>
      <p:sp>
        <p:nvSpPr>
          <p:cNvPr id="1086" name="Google Shape;1086;p11"/>
          <p:cNvSpPr txBox="1"/>
          <p:nvPr/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/>
          </a:p>
        </p:txBody>
      </p:sp>
      <p:sp>
        <p:nvSpPr>
          <p:cNvPr id="1087" name="Google Shape;1087;p11"/>
          <p:cNvSpPr txBox="1"/>
          <p:nvPr/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10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8" name="Google Shape;10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294" y="1990386"/>
            <a:ext cx="2611523" cy="267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1"/>
          <p:cNvSpPr txBox="1"/>
          <p:nvPr/>
        </p:nvSpPr>
        <p:spPr>
          <a:xfrm>
            <a:off x="283008" y="4684098"/>
            <a:ext cx="2611522" cy="7359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Medical AI chatbot to answer from medical documents and summarize information</a:t>
            </a:r>
            <a:endParaRPr b="1"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0" name="Google Shape;109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9014" y="1990386"/>
            <a:ext cx="2611523" cy="2645378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11"/>
          <p:cNvSpPr txBox="1"/>
          <p:nvPr/>
        </p:nvSpPr>
        <p:spPr>
          <a:xfrm>
            <a:off x="3319014" y="4702817"/>
            <a:ext cx="2611523" cy="634269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 molecular properties for enhanced drug discovery using AI</a:t>
            </a:r>
            <a:endParaRPr b="1"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2" name="Google Shape;109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8933" y="1950646"/>
            <a:ext cx="2611523" cy="2685117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11"/>
          <p:cNvSpPr txBox="1"/>
          <p:nvPr/>
        </p:nvSpPr>
        <p:spPr>
          <a:xfrm>
            <a:off x="6288933" y="4665800"/>
            <a:ext cx="2545932" cy="872492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Effortlessly query insurance/ contract documents to know specific information just by uploading your documents</a:t>
            </a:r>
            <a:r>
              <a:rPr lang="en" sz="133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4" name="Google Shape;109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59183" y="2001297"/>
            <a:ext cx="2611523" cy="2634466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11"/>
          <p:cNvSpPr txBox="1"/>
          <p:nvPr/>
        </p:nvSpPr>
        <p:spPr>
          <a:xfrm>
            <a:off x="9259183" y="4702817"/>
            <a:ext cx="2649809" cy="8734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Efficiently distill customer-service agent interactions into concise, easy-to-read summaries, </a:t>
            </a:r>
            <a:endParaRPr b="1" i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11"/>
          <p:cNvSpPr txBox="1"/>
          <p:nvPr/>
        </p:nvSpPr>
        <p:spPr>
          <a:xfrm>
            <a:off x="321294" y="1436590"/>
            <a:ext cx="11549412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2396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current LLM powered accelerators that can leveraged in Healthcare and Pharma domain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2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"/>
              <a:t>Our LLM Center of Excellence (CoE)</a:t>
            </a:r>
            <a:endParaRPr/>
          </a:p>
        </p:txBody>
      </p:sp>
      <p:pic>
        <p:nvPicPr>
          <p:cNvPr id="1102" name="Google Shape;11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3352" y="3537386"/>
            <a:ext cx="1722067" cy="1437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6472" y="1261773"/>
            <a:ext cx="1708008" cy="1369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387" y="3552080"/>
            <a:ext cx="1756071" cy="1390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2"/>
          <p:cNvSpPr txBox="1"/>
          <p:nvPr/>
        </p:nvSpPr>
        <p:spPr>
          <a:xfrm>
            <a:off x="8338227" y="303404"/>
            <a:ext cx="3414421" cy="45130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https://apps.onestop.ai/llm-dashboard/</a:t>
            </a:r>
            <a:endParaRPr sz="13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12"/>
          <p:cNvSpPr txBox="1"/>
          <p:nvPr/>
        </p:nvSpPr>
        <p:spPr>
          <a:xfrm>
            <a:off x="494649" y="2665137"/>
            <a:ext cx="1846303" cy="789299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Analyze financial documents for insights into a company's performance. with comprehensive financial analysis.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12"/>
          <p:cNvSpPr txBox="1"/>
          <p:nvPr/>
        </p:nvSpPr>
        <p:spPr>
          <a:xfrm>
            <a:off x="2775532" y="4993894"/>
            <a:ext cx="2008923" cy="942228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Establish and manage a quick-access knowledge base for employees by organizing unstructured data (documents, procedures,  FAQ)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2"/>
          <p:cNvSpPr txBox="1"/>
          <p:nvPr/>
        </p:nvSpPr>
        <p:spPr>
          <a:xfrm>
            <a:off x="332029" y="4986127"/>
            <a:ext cx="2008923" cy="942228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Analyzes feedback through sentiment analysis to aid corporate clients in enhancing customer satisfaction and loyalty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12"/>
          <p:cNvSpPr txBox="1"/>
          <p:nvPr/>
        </p:nvSpPr>
        <p:spPr>
          <a:xfrm>
            <a:off x="2775532" y="2604653"/>
            <a:ext cx="1849887" cy="838835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Effortlessly manage diverse data formats; upload, interpret, and gain valuable insights 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0" name="Google Shape;1110;p12"/>
          <p:cNvGrpSpPr/>
          <p:nvPr/>
        </p:nvGrpSpPr>
        <p:grpSpPr>
          <a:xfrm>
            <a:off x="502450" y="1288194"/>
            <a:ext cx="1713771" cy="1340655"/>
            <a:chOff x="898353" y="1162724"/>
            <a:chExt cx="1312112" cy="772200"/>
          </a:xfrm>
        </p:grpSpPr>
        <p:pic>
          <p:nvPicPr>
            <p:cNvPr id="1111" name="Google Shape;1111;p12"/>
            <p:cNvPicPr preferRelativeResize="0"/>
            <p:nvPr/>
          </p:nvPicPr>
          <p:blipFill rotWithShape="1">
            <a:blip r:embed="rId7">
              <a:alphaModFix/>
            </a:blip>
            <a:srcRect b="49096" l="0" r="0" t="0"/>
            <a:stretch/>
          </p:blipFill>
          <p:spPr>
            <a:xfrm>
              <a:off x="1363909" y="1221646"/>
              <a:ext cx="782631" cy="527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nk with solid fill" id="1112" name="Google Shape;1112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1438" y="1364025"/>
              <a:ext cx="315825" cy="315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12"/>
            <p:cNvSpPr txBox="1"/>
            <p:nvPr/>
          </p:nvSpPr>
          <p:spPr>
            <a:xfrm>
              <a:off x="1008365" y="1761780"/>
              <a:ext cx="1202100" cy="1378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Company Financial Advisor</a:t>
              </a: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2"/>
            <p:cNvSpPr/>
            <p:nvPr/>
          </p:nvSpPr>
          <p:spPr>
            <a:xfrm>
              <a:off x="898353" y="1162724"/>
              <a:ext cx="1307700" cy="772200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5" name="Google Shape;1115;p12"/>
          <p:cNvSpPr txBox="1"/>
          <p:nvPr/>
        </p:nvSpPr>
        <p:spPr>
          <a:xfrm>
            <a:off x="776985" y="743246"/>
            <a:ext cx="10386415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Range of other LLM applications available on our demo portal </a:t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12"/>
          <p:cNvSpPr txBox="1"/>
          <p:nvPr/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/>
          </a:p>
        </p:txBody>
      </p:sp>
      <p:sp>
        <p:nvSpPr>
          <p:cNvPr id="1117" name="Google Shape;1117;p12"/>
          <p:cNvSpPr txBox="1"/>
          <p:nvPr/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/>
          </a:p>
        </p:txBody>
      </p:sp>
      <p:sp>
        <p:nvSpPr>
          <p:cNvPr id="1118" name="Google Shape;1118;p12"/>
          <p:cNvSpPr txBox="1"/>
          <p:nvPr/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10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9" name="Google Shape;1119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9250" y="3537386"/>
            <a:ext cx="1713500" cy="1437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90493" y="1313613"/>
            <a:ext cx="1708008" cy="1342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2"/>
          <p:cNvSpPr txBox="1"/>
          <p:nvPr/>
        </p:nvSpPr>
        <p:spPr>
          <a:xfrm>
            <a:off x="5084889" y="2711347"/>
            <a:ext cx="1813612" cy="6323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Query your code repository to get the latest status of the code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12"/>
          <p:cNvSpPr txBox="1"/>
          <p:nvPr/>
        </p:nvSpPr>
        <p:spPr>
          <a:xfrm>
            <a:off x="5031882" y="5082548"/>
            <a:ext cx="1944865" cy="795099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Chatbot for planning your travel to a particular destination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3" name="Google Shape;1123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07229" y="1237935"/>
            <a:ext cx="1708008" cy="1455559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12"/>
          <p:cNvSpPr txBox="1"/>
          <p:nvPr/>
        </p:nvSpPr>
        <p:spPr>
          <a:xfrm>
            <a:off x="7461216" y="2735642"/>
            <a:ext cx="1754021" cy="7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Chatbot to assist in onboarding a new employee for a smooth transition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5" name="Google Shape;1125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48333" y="1237935"/>
            <a:ext cx="1708009" cy="1272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12"/>
          <p:cNvSpPr txBox="1"/>
          <p:nvPr/>
        </p:nvSpPr>
        <p:spPr>
          <a:xfrm>
            <a:off x="9729088" y="2541325"/>
            <a:ext cx="1651802" cy="603199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Chatbot to schedule meetings with date &amp; time suggestions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7" name="Google Shape;1127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84223" y="3619100"/>
            <a:ext cx="1754020" cy="1411108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2"/>
          <p:cNvSpPr txBox="1"/>
          <p:nvPr/>
        </p:nvSpPr>
        <p:spPr>
          <a:xfrm>
            <a:off x="7583077" y="5073339"/>
            <a:ext cx="1713499" cy="540636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Chatbot to get curated financial information from stock market news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9" name="Google Shape;1129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90165" y="3546120"/>
            <a:ext cx="1754021" cy="141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12"/>
          <p:cNvSpPr txBox="1"/>
          <p:nvPr/>
        </p:nvSpPr>
        <p:spPr>
          <a:xfrm>
            <a:off x="9810426" y="5009722"/>
            <a:ext cx="1713500" cy="7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50" lIns="60925" spcFirstLastPara="1" rIns="12150" wrap="square" tIns="12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Chatbot to find the right candidates with relevant skills 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2"/>
          <p:cNvSpPr txBox="1"/>
          <p:nvPr/>
        </p:nvSpPr>
        <p:spPr>
          <a:xfrm>
            <a:off x="267491" y="5733562"/>
            <a:ext cx="11641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other apps are under development..</a:t>
            </a:r>
            <a:endParaRPr b="1" i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3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300"/>
              <a:t> AlgoMed : Healthcare Chat Assistant</a:t>
            </a:r>
            <a:endParaRPr sz="2300"/>
          </a:p>
        </p:txBody>
      </p:sp>
      <p:sp>
        <p:nvSpPr>
          <p:cNvPr id="1137" name="Google Shape;1137;p13"/>
          <p:cNvSpPr/>
          <p:nvPr/>
        </p:nvSpPr>
        <p:spPr>
          <a:xfrm>
            <a:off x="185033" y="737967"/>
            <a:ext cx="11808800" cy="5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3"/>
          <p:cNvSpPr txBox="1"/>
          <p:nvPr/>
        </p:nvSpPr>
        <p:spPr>
          <a:xfrm>
            <a:off x="185133" y="754433"/>
            <a:ext cx="11808800" cy="53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1139" name="Google Shape;1139;p13"/>
          <p:cNvSpPr txBox="1"/>
          <p:nvPr/>
        </p:nvSpPr>
        <p:spPr>
          <a:xfrm>
            <a:off x="368489" y="2536438"/>
            <a:ext cx="5833600" cy="31796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BioASQ data consists of PubMed Articles and extracts over many medical topics.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LangChain</a:t>
            </a:r>
            <a:endParaRPr/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Character Text Splitter, Hugging Face Embeddings, OpenAI Embeddings, FAISS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Custom Prompt designed to confine the use of its own knowledge and is engineered to respond in simple, everyday language to enhance user comprehension.</a:t>
            </a:r>
            <a:endParaRPr/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GPT-3.5 turbo</a:t>
            </a:r>
            <a:endParaRPr/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RetrievalQA 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based model uses similarity search.</a:t>
            </a:r>
            <a:endParaRPr/>
          </a:p>
        </p:txBody>
      </p:sp>
      <p:sp>
        <p:nvSpPr>
          <p:cNvPr id="1140" name="Google Shape;1140;p13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1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1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13"/>
          <p:cNvSpPr/>
          <p:nvPr/>
        </p:nvSpPr>
        <p:spPr>
          <a:xfrm>
            <a:off x="358567" y="1384501"/>
            <a:ext cx="11468000" cy="816704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380989" lvl="0" marL="58418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3"/>
              <a:buFont typeface="Arial"/>
              <a:buChar char="•"/>
            </a:pPr>
            <a:r>
              <a:rPr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patients grasp complex medical jargon by providing easy-to-understand explanations and offer valuable medical insights on various illnesses.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3"/>
          <p:cNvSpPr txBox="1"/>
          <p:nvPr/>
        </p:nvSpPr>
        <p:spPr>
          <a:xfrm>
            <a:off x="6051088" y="5367418"/>
            <a:ext cx="58336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 </a:t>
            </a:r>
            <a:r>
              <a:rPr i="1"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Healthcare</a:t>
            </a:r>
            <a:r>
              <a:rPr i="1"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Chat Assistant</a:t>
            </a:r>
            <a:endParaRPr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5" name="Google Shape;114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0988" y="2520952"/>
            <a:ext cx="5755504" cy="2846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4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Molecular Property Prediction</a:t>
            </a:r>
            <a:endParaRPr/>
          </a:p>
        </p:txBody>
      </p:sp>
      <p:sp>
        <p:nvSpPr>
          <p:cNvPr id="1151" name="Google Shape;1151;p14"/>
          <p:cNvSpPr/>
          <p:nvPr/>
        </p:nvSpPr>
        <p:spPr>
          <a:xfrm>
            <a:off x="185133" y="754433"/>
            <a:ext cx="11808800" cy="5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4"/>
          <p:cNvSpPr txBox="1"/>
          <p:nvPr/>
        </p:nvSpPr>
        <p:spPr>
          <a:xfrm>
            <a:off x="185133" y="754433"/>
            <a:ext cx="11808800" cy="53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1153" name="Google Shape;1153;p14"/>
          <p:cNvSpPr txBox="1"/>
          <p:nvPr/>
        </p:nvSpPr>
        <p:spPr>
          <a:xfrm>
            <a:off x="346651" y="2582821"/>
            <a:ext cx="5532400" cy="237958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1" marL="121917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○"/>
            </a:pPr>
            <a:r>
              <a:rPr b="0" i="0" lang="en" sz="17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List of SMILES notation and associated molecular properties (csv format)</a:t>
            </a:r>
            <a:endParaRPr/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HuggingFace Transformers</a:t>
            </a:r>
            <a:endParaRPr/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Not used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Custom prompt template to enable LLM to generate answers based on user input</a:t>
            </a:r>
            <a:endParaRPr/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ChemBERTa-77M-MTR</a:t>
            </a:r>
            <a:endParaRPr/>
          </a:p>
        </p:txBody>
      </p:sp>
      <p:sp>
        <p:nvSpPr>
          <p:cNvPr id="1154" name="Google Shape;1154;p14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155" name="Google Shape;1155;p1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6" name="Google Shape;1156;p1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7" name="Google Shape;1157;p14"/>
          <p:cNvSpPr/>
          <p:nvPr/>
        </p:nvSpPr>
        <p:spPr>
          <a:xfrm>
            <a:off x="358567" y="1384500"/>
            <a:ext cx="11468000" cy="793488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06389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molecular properties swiftly to streamline molecule identification</a:t>
            </a:r>
            <a:endParaRPr sz="21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14"/>
          <p:cNvSpPr txBox="1"/>
          <p:nvPr/>
        </p:nvSpPr>
        <p:spPr>
          <a:xfrm>
            <a:off x="5992933" y="5586434"/>
            <a:ext cx="58336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 </a:t>
            </a:r>
            <a:r>
              <a:rPr i="1"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Molecular Propoerty Prediction</a:t>
            </a:r>
            <a:endParaRPr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9" name="Google Shape;11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211" y="2295785"/>
            <a:ext cx="2412563" cy="334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5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Insurance Query Chatbot</a:t>
            </a:r>
            <a:endParaRPr/>
          </a:p>
        </p:txBody>
      </p:sp>
      <p:sp>
        <p:nvSpPr>
          <p:cNvPr id="1165" name="Google Shape;1165;p15"/>
          <p:cNvSpPr/>
          <p:nvPr/>
        </p:nvSpPr>
        <p:spPr>
          <a:xfrm>
            <a:off x="521700" y="754433"/>
            <a:ext cx="11261600" cy="527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15"/>
          <p:cNvSpPr txBox="1"/>
          <p:nvPr/>
        </p:nvSpPr>
        <p:spPr>
          <a:xfrm>
            <a:off x="521700" y="754433"/>
            <a:ext cx="11261600" cy="5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1" i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15"/>
          <p:cNvSpPr txBox="1"/>
          <p:nvPr/>
        </p:nvSpPr>
        <p:spPr>
          <a:xfrm>
            <a:off x="779800" y="2361134"/>
            <a:ext cx="5603200" cy="30847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14855" lvl="0" marL="609585" marR="0" rtl="0" algn="l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(combined)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1" marL="121917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Calibri"/>
              <a:buChar char="○"/>
            </a:pPr>
            <a:r>
              <a:rPr b="0" i="0" lang="en" sz="17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2 wheeler Insurance policy (pdf)	</a:t>
            </a:r>
            <a:endParaRPr b="0" i="0" sz="1733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1" marL="121917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Calibri"/>
              <a:buChar char="○"/>
            </a:pPr>
            <a:r>
              <a:rPr b="0" i="0" lang="en" sz="17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Policy general FAQ (pdf)</a:t>
            </a:r>
            <a:endParaRPr b="0" i="0" sz="1733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1" marL="121917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Calibri"/>
              <a:buChar char="○"/>
            </a:pPr>
            <a:r>
              <a:rPr b="0" i="0" lang="en" sz="17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2 wheeler policy terms &amp; conditions (pdf)</a:t>
            </a:r>
            <a:endParaRPr b="0" i="0" sz="1733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List Based (in-memory) and Pinecone (external)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Custom prompt template to prevent the LLM to retrieve from its own knowledge base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GPT-3.5 turbo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Compact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5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169" name="Google Shape;1169;p15"/>
          <p:cNvSpPr/>
          <p:nvPr/>
        </p:nvSpPr>
        <p:spPr>
          <a:xfrm>
            <a:off x="741867" y="1392933"/>
            <a:ext cx="10885600" cy="547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06389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 prompts with respect to insurance policy along with terms and conditions</a:t>
            </a:r>
            <a:endParaRPr sz="21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5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71" name="Google Shape;1171;p15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72" name="Google Shape;1172;p15"/>
          <p:cNvSpPr txBox="1"/>
          <p:nvPr/>
        </p:nvSpPr>
        <p:spPr>
          <a:xfrm>
            <a:off x="6059833" y="5520233"/>
            <a:ext cx="5382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 </a:t>
            </a:r>
            <a:r>
              <a:rPr i="1"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Insurance Agent Service</a:t>
            </a:r>
            <a:endParaRPr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3" name="Google Shape;11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1" y="2267651"/>
            <a:ext cx="3901367" cy="3252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6"/>
          <p:cNvSpPr txBox="1"/>
          <p:nvPr>
            <p:ph idx="4294967295" type="title"/>
          </p:nvPr>
        </p:nvSpPr>
        <p:spPr>
          <a:xfrm>
            <a:off x="80640" y="77760"/>
            <a:ext cx="12015360" cy="60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00" lIns="91200" spcFirstLastPara="1" rIns="91200" wrap="square" tIns="456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Summarizing Agent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6"/>
          <p:cNvSpPr/>
          <p:nvPr/>
        </p:nvSpPr>
        <p:spPr>
          <a:xfrm>
            <a:off x="185280" y="754560"/>
            <a:ext cx="11808480" cy="533952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91425" spcFirstLastPara="1" rIns="91425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6"/>
          <p:cNvSpPr/>
          <p:nvPr/>
        </p:nvSpPr>
        <p:spPr>
          <a:xfrm>
            <a:off x="185280" y="754560"/>
            <a:ext cx="11808480" cy="533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91425" spcFirstLastPara="1" rIns="91425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6"/>
          <p:cNvSpPr/>
          <p:nvPr/>
        </p:nvSpPr>
        <p:spPr>
          <a:xfrm>
            <a:off x="346560" y="2582880"/>
            <a:ext cx="5532000" cy="397967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91425" spcFirstLastPara="1" rIns="91425" wrap="square" tIns="121900">
            <a:spAutoFit/>
          </a:bodyPr>
          <a:lstStyle/>
          <a:p>
            <a:pPr indent="-41471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4709" lvl="1" marL="121917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Char char="○"/>
            </a:pPr>
            <a:r>
              <a:rPr b="0" i="0" lang="en" sz="17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Different types of conversation documents (txt format) between customer and customer representative.</a:t>
            </a:r>
            <a:endParaRPr b="0" i="0" sz="17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471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LangChain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471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DocArray InMemorySearch</a:t>
            </a:r>
            <a:endParaRPr/>
          </a:p>
          <a:p>
            <a:pPr indent="-41471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Custom prompt template to enable LLM chains based on user input and model recommendations.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471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: GPT-3.5 turbo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471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Char char="●"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Chain : </a:t>
            </a: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Conversational Retrieval Chain and load summarize chain</a:t>
            </a:r>
            <a:endParaRPr/>
          </a:p>
          <a:p>
            <a:pPr indent="-304664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None/>
            </a:pPr>
            <a:r>
              <a:t/>
            </a:r>
            <a:endParaRPr sz="1733">
              <a:solidFill>
                <a:srgbClr val="4472C4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04664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33"/>
              <a:buFont typeface="Arial"/>
              <a:buNone/>
            </a:pPr>
            <a:r>
              <a:t/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16"/>
          <p:cNvSpPr txBox="1"/>
          <p:nvPr>
            <p:ph idx="12" type="sldNum"/>
          </p:nvPr>
        </p:nvSpPr>
        <p:spPr>
          <a:xfrm>
            <a:off x="10972800" y="6356160"/>
            <a:ext cx="38064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00" lIns="91200" spcFirstLastPara="1" rIns="91200" wrap="square" tIns="456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16"/>
          <p:cNvSpPr txBox="1"/>
          <p:nvPr>
            <p:ph idx="10"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00" lIns="91200" spcFirstLastPara="1" rIns="91200" wrap="square" tIns="4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AlgoAnalytics Pvt. Ltd</a:t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16"/>
          <p:cNvSpPr txBox="1"/>
          <p:nvPr>
            <p:ph idx="11"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00" lIns="91200" spcFirstLastPara="1" rIns="91200" wrap="square" tIns="45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Strictly Confidential</a:t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16"/>
          <p:cNvSpPr/>
          <p:nvPr/>
        </p:nvSpPr>
        <p:spPr>
          <a:xfrm>
            <a:off x="358560" y="1384320"/>
            <a:ext cx="11467680" cy="79296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91425" spcFirstLastPara="1" rIns="91425" wrap="square" tIns="121900">
            <a:noAutofit/>
          </a:bodyPr>
          <a:lstStyle/>
          <a:p>
            <a:pPr indent="-40655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33"/>
              <a:buFont typeface="Calibri"/>
              <a:buChar char="●"/>
            </a:pPr>
            <a:r>
              <a:rPr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Summarize and interact with customer-service agent interactions with concise, easy-to-read summaries, saving time and enhancing communication clarity.</a:t>
            </a:r>
            <a:endParaRPr sz="21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6"/>
          <p:cNvSpPr/>
          <p:nvPr/>
        </p:nvSpPr>
        <p:spPr>
          <a:xfrm>
            <a:off x="5992800" y="5586241"/>
            <a:ext cx="5832960" cy="53354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91425" spcFirstLastPara="1" rIns="91425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 </a:t>
            </a:r>
            <a:r>
              <a:rPr i="1"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ConvoSummarizer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7" name="Google Shape;11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2560" y="2379840"/>
            <a:ext cx="2293920" cy="3180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7"/>
          <p:cNvSpPr txBox="1"/>
          <p:nvPr>
            <p:ph type="title"/>
          </p:nvPr>
        </p:nvSpPr>
        <p:spPr>
          <a:xfrm>
            <a:off x="831851" y="1709739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Case Studies</a:t>
            </a:r>
            <a:endParaRPr/>
          </a:p>
        </p:txBody>
      </p:sp>
      <p:sp>
        <p:nvSpPr>
          <p:cNvPr id="1193" name="Google Shape;1193;p17"/>
          <p:cNvSpPr txBox="1"/>
          <p:nvPr>
            <p:ph idx="1" type="body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791" lvl="0" marL="609585" rt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en"/>
              <a:t>Our past work with Healthcare and Pharma organizations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8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Diabetic Retinopathy Detection using Computer Vision  </a:t>
            </a:r>
            <a:endParaRPr/>
          </a:p>
        </p:txBody>
      </p:sp>
      <p:sp>
        <p:nvSpPr>
          <p:cNvPr id="1199" name="Google Shape;1199;p18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00" name="Google Shape;1200;p18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201" name="Google Shape;1201;p18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02" name="Google Shape;1202;p18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03" name="Google Shape;1203;p18"/>
          <p:cNvSpPr/>
          <p:nvPr/>
        </p:nvSpPr>
        <p:spPr>
          <a:xfrm>
            <a:off x="140733" y="805833"/>
            <a:ext cx="11894800" cy="5478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4" name="Google Shape;12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434" y="3307467"/>
            <a:ext cx="5692565" cy="15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18"/>
          <p:cNvSpPr txBox="1"/>
          <p:nvPr/>
        </p:nvSpPr>
        <p:spPr>
          <a:xfrm>
            <a:off x="301833" y="925500"/>
            <a:ext cx="11581600" cy="17560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●"/>
            </a:pPr>
            <a:r>
              <a:rPr b="1" i="1"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Diabetic Retinopathy</a:t>
            </a:r>
            <a:r>
              <a:rPr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is the leading cause of blindness in the working-age population of the developed world. It is estimated to </a:t>
            </a:r>
            <a:r>
              <a:rPr b="1" i="1"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affect over 93 million people</a:t>
            </a:r>
            <a:endParaRPr b="1" i="1" sz="21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●"/>
            </a:pPr>
            <a:r>
              <a:rPr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 of </a:t>
            </a:r>
            <a:r>
              <a:rPr b="1" i="1"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expertise and equipment required to detect DR is very high</a:t>
            </a:r>
            <a:r>
              <a:rPr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and is often unavailable in areas where requirement is high.</a:t>
            </a:r>
            <a:endParaRPr sz="21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18"/>
          <p:cNvSpPr txBox="1"/>
          <p:nvPr/>
        </p:nvSpPr>
        <p:spPr>
          <a:xfrm>
            <a:off x="254733" y="2541500"/>
            <a:ext cx="6051200" cy="90700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Images are classified into four classes according to their retinopathy grades:</a:t>
            </a:r>
            <a:endParaRPr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7" name="Google Shape;1207;p18"/>
          <p:cNvCxnSpPr/>
          <p:nvPr/>
        </p:nvCxnSpPr>
        <p:spPr>
          <a:xfrm>
            <a:off x="6505133" y="2865567"/>
            <a:ext cx="0" cy="216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1208" name="Google Shape;1208;p18"/>
          <p:cNvSpPr/>
          <p:nvPr/>
        </p:nvSpPr>
        <p:spPr>
          <a:xfrm>
            <a:off x="6860833" y="2763967"/>
            <a:ext cx="4752400" cy="603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Input Images are processed using Image Processing techniques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18"/>
          <p:cNvSpPr/>
          <p:nvPr/>
        </p:nvSpPr>
        <p:spPr>
          <a:xfrm>
            <a:off x="6860833" y="3576767"/>
            <a:ext cx="4752400" cy="603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ML techniques such as neural networks and classifiers are used 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18"/>
          <p:cNvSpPr/>
          <p:nvPr/>
        </p:nvSpPr>
        <p:spPr>
          <a:xfrm>
            <a:off x="6860833" y="4389567"/>
            <a:ext cx="4752400" cy="603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Successful classification into one of the four class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1" name="Google Shape;1211;p18"/>
          <p:cNvCxnSpPr>
            <a:stCxn id="1208" idx="2"/>
            <a:endCxn id="1209" idx="0"/>
          </p:cNvCxnSpPr>
          <p:nvPr/>
        </p:nvCxnSpPr>
        <p:spPr>
          <a:xfrm>
            <a:off x="9237033" y="3367167"/>
            <a:ext cx="0" cy="209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18"/>
          <p:cNvCxnSpPr>
            <a:stCxn id="1209" idx="2"/>
            <a:endCxn id="1210" idx="0"/>
          </p:cNvCxnSpPr>
          <p:nvPr/>
        </p:nvCxnSpPr>
        <p:spPr>
          <a:xfrm>
            <a:off x="9237033" y="4179967"/>
            <a:ext cx="0" cy="209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3" name="Google Shape;1213;p18"/>
          <p:cNvSpPr txBox="1"/>
          <p:nvPr/>
        </p:nvSpPr>
        <p:spPr>
          <a:xfrm>
            <a:off x="254733" y="4849500"/>
            <a:ext cx="11742400" cy="9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 u="sng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sz="1867" u="sng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3323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Successful in predicting Retinopathy of severity grade 2 and 3 with </a:t>
            </a: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more than 90% accuracy</a:t>
            </a:r>
            <a:endParaRPr b="1"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3323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If fundus images for both the eyes of the patient are available, the model will </a:t>
            </a: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predict Retinopathy 2/3 with 99+ percent accuracy!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9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ICD Coding Assistant using NLP</a:t>
            </a:r>
            <a:endParaRPr/>
          </a:p>
        </p:txBody>
      </p:sp>
      <p:sp>
        <p:nvSpPr>
          <p:cNvPr id="1219" name="Google Shape;1219;p19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20" name="Google Shape;1220;p19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221" name="Google Shape;1221;p19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22" name="Google Shape;1222;p19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23" name="Google Shape;1223;p19"/>
          <p:cNvSpPr txBox="1"/>
          <p:nvPr/>
        </p:nvSpPr>
        <p:spPr>
          <a:xfrm>
            <a:off x="140800" y="609600"/>
            <a:ext cx="11894800" cy="5415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Automatically suggest appropriate ICD codes based on medical records of the patient</a:t>
            </a:r>
            <a:endParaRPr b="1" i="1" sz="21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19"/>
          <p:cNvSpPr/>
          <p:nvPr/>
        </p:nvSpPr>
        <p:spPr>
          <a:xfrm>
            <a:off x="140733" y="1151200"/>
            <a:ext cx="11894800" cy="5129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5" name="Google Shape;12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337" y="1521267"/>
            <a:ext cx="603200" cy="6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304" y="2342529"/>
            <a:ext cx="603200" cy="626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9656" y="1566871"/>
            <a:ext cx="941333" cy="976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74424" y="1589297"/>
            <a:ext cx="941333" cy="93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62574" y="1642762"/>
            <a:ext cx="941333" cy="82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9"/>
          <p:cNvSpPr txBox="1"/>
          <p:nvPr/>
        </p:nvSpPr>
        <p:spPr>
          <a:xfrm>
            <a:off x="169567" y="1182633"/>
            <a:ext cx="2550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Medical Text Sentences</a:t>
            </a:r>
            <a:endParaRPr b="1" i="1" sz="16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19"/>
          <p:cNvSpPr txBox="1"/>
          <p:nvPr/>
        </p:nvSpPr>
        <p:spPr>
          <a:xfrm>
            <a:off x="352751" y="2796384"/>
            <a:ext cx="2184400" cy="49240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ICD-10 Coding Book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2" name="Google Shape;1232;p19"/>
          <p:cNvCxnSpPr>
            <a:stCxn id="1225" idx="3"/>
            <a:endCxn id="1227" idx="1"/>
          </p:cNvCxnSpPr>
          <p:nvPr/>
        </p:nvCxnSpPr>
        <p:spPr>
          <a:xfrm>
            <a:off x="1635537" y="1822867"/>
            <a:ext cx="3424200" cy="232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3" name="Google Shape;1233;p19"/>
          <p:cNvCxnSpPr>
            <a:stCxn id="1226" idx="3"/>
            <a:endCxn id="1227" idx="1"/>
          </p:cNvCxnSpPr>
          <p:nvPr/>
        </p:nvCxnSpPr>
        <p:spPr>
          <a:xfrm flipH="1" rot="10800000">
            <a:off x="1635504" y="2055359"/>
            <a:ext cx="3424200" cy="60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4" name="Google Shape;1234;p19"/>
          <p:cNvCxnSpPr>
            <a:stCxn id="1227" idx="3"/>
            <a:endCxn id="1228" idx="1"/>
          </p:cNvCxnSpPr>
          <p:nvPr/>
        </p:nvCxnSpPr>
        <p:spPr>
          <a:xfrm>
            <a:off x="6000989" y="2055263"/>
            <a:ext cx="1873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5" name="Google Shape;1235;p19"/>
          <p:cNvCxnSpPr>
            <a:stCxn id="1228" idx="3"/>
            <a:endCxn id="1229" idx="1"/>
          </p:cNvCxnSpPr>
          <p:nvPr/>
        </p:nvCxnSpPr>
        <p:spPr>
          <a:xfrm>
            <a:off x="8815757" y="2055259"/>
            <a:ext cx="2046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6" name="Google Shape;1236;p19"/>
          <p:cNvSpPr txBox="1"/>
          <p:nvPr/>
        </p:nvSpPr>
        <p:spPr>
          <a:xfrm>
            <a:off x="4128333" y="2576800"/>
            <a:ext cx="2804000" cy="2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NLP Methodologies (Classification &amp; Extraction)</a:t>
            </a:r>
            <a:endParaRPr b="1" i="1" sz="16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9"/>
          <p:cNvSpPr txBox="1"/>
          <p:nvPr/>
        </p:nvSpPr>
        <p:spPr>
          <a:xfrm>
            <a:off x="7519100" y="2471401"/>
            <a:ext cx="1892400" cy="49240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Human Coder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9"/>
          <p:cNvSpPr txBox="1"/>
          <p:nvPr/>
        </p:nvSpPr>
        <p:spPr>
          <a:xfrm>
            <a:off x="10360233" y="2369801"/>
            <a:ext cx="1892400" cy="49240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ICD Codes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9"/>
          <p:cNvSpPr/>
          <p:nvPr/>
        </p:nvSpPr>
        <p:spPr>
          <a:xfrm>
            <a:off x="281067" y="3322784"/>
            <a:ext cx="6943600" cy="2874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19"/>
          <p:cNvSpPr txBox="1"/>
          <p:nvPr/>
        </p:nvSpPr>
        <p:spPr>
          <a:xfrm>
            <a:off x="287031" y="3322784"/>
            <a:ext cx="6943600" cy="4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i="1"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1" name="Google Shape;124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0727" y="3839905"/>
            <a:ext cx="3430027" cy="2266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72158" y="3822447"/>
            <a:ext cx="3078772" cy="2266167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19"/>
          <p:cNvSpPr txBox="1"/>
          <p:nvPr/>
        </p:nvSpPr>
        <p:spPr>
          <a:xfrm>
            <a:off x="7371067" y="3009833"/>
            <a:ext cx="4526400" cy="2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b="1"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3323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Empower human coder with NLP solution to</a:t>
            </a: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maximize their productivity</a:t>
            </a:r>
            <a:endParaRPr b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3323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Eliminate audit and investigation of health care provider</a:t>
            </a: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due to over-coding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3323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Increases customer satisfaction</a:t>
            </a: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by eliminating under-coding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4" name="Google Shape;1244;p19"/>
          <p:cNvCxnSpPr/>
          <p:nvPr/>
        </p:nvCxnSpPr>
        <p:spPr>
          <a:xfrm>
            <a:off x="7387300" y="3306633"/>
            <a:ext cx="0" cy="2788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1245" name="Google Shape;1245;p19"/>
          <p:cNvSpPr txBox="1"/>
          <p:nvPr/>
        </p:nvSpPr>
        <p:spPr>
          <a:xfrm>
            <a:off x="7757233" y="5825033"/>
            <a:ext cx="3856000" cy="3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 </a:t>
            </a:r>
            <a:r>
              <a:rPr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ICD Coding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0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AI Features for Pharma Consulting Platform using NLP  </a:t>
            </a:r>
            <a:endParaRPr/>
          </a:p>
        </p:txBody>
      </p:sp>
      <p:sp>
        <p:nvSpPr>
          <p:cNvPr id="1251" name="Google Shape;1251;p20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52" name="Google Shape;1252;p20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253" name="Google Shape;1253;p20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54" name="Google Shape;1254;p20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55" name="Google Shape;1255;p20"/>
          <p:cNvSpPr/>
          <p:nvPr/>
        </p:nvSpPr>
        <p:spPr>
          <a:xfrm>
            <a:off x="140733" y="805833"/>
            <a:ext cx="11894800" cy="5478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0"/>
          <p:cNvSpPr txBox="1"/>
          <p:nvPr/>
        </p:nvSpPr>
        <p:spPr>
          <a:xfrm>
            <a:off x="183200" y="907434"/>
            <a:ext cx="11825600" cy="90264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For a UK based pharma consultancy organization specializing in dynamic decision support and product/portfolio strategy.</a:t>
            </a:r>
            <a:endParaRPr i="1" sz="2133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0"/>
          <p:cNvSpPr txBox="1"/>
          <p:nvPr/>
        </p:nvSpPr>
        <p:spPr>
          <a:xfrm>
            <a:off x="113967" y="1708633"/>
            <a:ext cx="11894800" cy="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Build foundational functions/modules to provide trend and temporal analysis based on news and social media text data</a:t>
            </a:r>
            <a:endParaRPr i="1" sz="173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0"/>
          <p:cNvSpPr/>
          <p:nvPr/>
        </p:nvSpPr>
        <p:spPr>
          <a:xfrm>
            <a:off x="376367" y="2837100"/>
            <a:ext cx="3870000" cy="245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Pharma Consulting Platform :</a:t>
            </a:r>
            <a:endParaRPr b="1" i="1" sz="21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Executed</a:t>
            </a:r>
            <a:endParaRPr b="1" i="1" sz="213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0"/>
          <p:cNvSpPr/>
          <p:nvPr/>
        </p:nvSpPr>
        <p:spPr>
          <a:xfrm>
            <a:off x="5281500" y="2243733"/>
            <a:ext cx="6260400" cy="90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 Acquisition from News Media and Social Media</a:t>
            </a:r>
            <a:endParaRPr sz="21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0"/>
          <p:cNvSpPr/>
          <p:nvPr/>
        </p:nvSpPr>
        <p:spPr>
          <a:xfrm>
            <a:off x="5281500" y="3259733"/>
            <a:ext cx="6260400" cy="90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Named Entity Recognition (NER) on news data and tweets data</a:t>
            </a:r>
            <a:endParaRPr sz="21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0"/>
          <p:cNvSpPr/>
          <p:nvPr/>
        </p:nvSpPr>
        <p:spPr>
          <a:xfrm>
            <a:off x="5281500" y="4275733"/>
            <a:ext cx="6260400" cy="90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Sentiment Analysis for news and tweets data</a:t>
            </a:r>
            <a:endParaRPr sz="21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0"/>
          <p:cNvSpPr/>
          <p:nvPr/>
        </p:nvSpPr>
        <p:spPr>
          <a:xfrm>
            <a:off x="5281500" y="5291733"/>
            <a:ext cx="6260400" cy="90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Confidence Detection on news data and tweets data</a:t>
            </a:r>
            <a:endParaRPr sz="21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3" name="Google Shape;1263;p20"/>
          <p:cNvCxnSpPr>
            <a:stCxn id="1258" idx="3"/>
            <a:endCxn id="1259" idx="1"/>
          </p:cNvCxnSpPr>
          <p:nvPr/>
        </p:nvCxnSpPr>
        <p:spPr>
          <a:xfrm flipH="1" rot="10800000">
            <a:off x="4246367" y="2695000"/>
            <a:ext cx="1035000" cy="1369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4" name="Google Shape;1264;p20"/>
          <p:cNvCxnSpPr>
            <a:stCxn id="1258" idx="3"/>
            <a:endCxn id="1260" idx="1"/>
          </p:cNvCxnSpPr>
          <p:nvPr/>
        </p:nvCxnSpPr>
        <p:spPr>
          <a:xfrm flipH="1" rot="10800000">
            <a:off x="4246367" y="3711100"/>
            <a:ext cx="1035000" cy="353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5" name="Google Shape;1265;p20"/>
          <p:cNvCxnSpPr>
            <a:stCxn id="1258" idx="3"/>
            <a:endCxn id="1261" idx="1"/>
          </p:cNvCxnSpPr>
          <p:nvPr/>
        </p:nvCxnSpPr>
        <p:spPr>
          <a:xfrm>
            <a:off x="4246367" y="4064500"/>
            <a:ext cx="1035000" cy="66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6" name="Google Shape;1266;p20"/>
          <p:cNvCxnSpPr>
            <a:stCxn id="1258" idx="3"/>
            <a:endCxn id="1262" idx="1"/>
          </p:cNvCxnSpPr>
          <p:nvPr/>
        </p:nvCxnSpPr>
        <p:spPr>
          <a:xfrm>
            <a:off x="4246367" y="4064500"/>
            <a:ext cx="1035000" cy="1678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21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Medical Term Extraction from Clinical letters using NLP</a:t>
            </a:r>
            <a:endParaRPr/>
          </a:p>
        </p:txBody>
      </p:sp>
      <p:sp>
        <p:nvSpPr>
          <p:cNvPr id="1272" name="Google Shape;1272;p21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73" name="Google Shape;1273;p21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274" name="Google Shape;1274;p21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75" name="Google Shape;1275;p21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76" name="Google Shape;1276;p21"/>
          <p:cNvSpPr/>
          <p:nvPr/>
        </p:nvSpPr>
        <p:spPr>
          <a:xfrm>
            <a:off x="140733" y="805833"/>
            <a:ext cx="11894800" cy="5478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21"/>
          <p:cNvSpPr txBox="1"/>
          <p:nvPr/>
        </p:nvSpPr>
        <p:spPr>
          <a:xfrm>
            <a:off x="416733" y="985234"/>
            <a:ext cx="5447200" cy="533504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Objectives</a:t>
            </a:r>
            <a:endParaRPr b="1" i="1"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1"/>
          <p:cNvSpPr txBox="1"/>
          <p:nvPr/>
        </p:nvSpPr>
        <p:spPr>
          <a:xfrm>
            <a:off x="430533" y="1518834"/>
            <a:ext cx="5433400" cy="910594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23323" lvl="0" marL="609585" marR="0" rtl="0" algn="l">
              <a:spcBef>
                <a:spcPts val="667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Arial"/>
              <a:buChar char="●"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Extract key medical term from the clinical letters shared across medical practitioner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9" name="Google Shape;1279;p21"/>
          <p:cNvCxnSpPr/>
          <p:nvPr/>
        </p:nvCxnSpPr>
        <p:spPr>
          <a:xfrm flipH="1">
            <a:off x="6033033" y="1148000"/>
            <a:ext cx="10400" cy="475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1280" name="Google Shape;1280;p21"/>
          <p:cNvSpPr txBox="1"/>
          <p:nvPr/>
        </p:nvSpPr>
        <p:spPr>
          <a:xfrm>
            <a:off x="6283200" y="1447133"/>
            <a:ext cx="5447200" cy="287356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Dear Dr </a:t>
            </a:r>
            <a:endParaRPr sz="10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Clinic notes </a:t>
            </a:r>
            <a:endParaRPr sz="10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thanks for referring this lady who last year was awoken at night by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moderately fast regular palpitations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had a gradual offset. These symptoms have not recurred. She is otherwise well although is on treatment for hypertension. She stopped smoking 60 years ago and drinks rarely. Recent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thyroid function tests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shown a slightly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elevated TSH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but a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normal free thyroxine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Apart from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amlodipine 5 mg daily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she takes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simvastatin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calcium supplements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Her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ECG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showed sinus rhythm with a leftward axis. Ambulatory monitoring has shown sinus rhythm with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 degree heart block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lower rates and two short salvos of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atrial tachycardia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no more than 2 seconds. She was asymptomatic to these. I would pass her tape as within normal limits for the patient, and in the absence of ongoing symptoms would not suggest any specific treatment. I will arrange for an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echocardiogram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however, and will write back further with the results. If she does suffer further palpitations, a small dose of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bisoprolol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as </a:t>
            </a:r>
            <a:r>
              <a:rPr lang="en" sz="10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1.25 mg daily </a:t>
            </a:r>
            <a:r>
              <a:rPr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would be reasonable. With many thanks for your referral. </a:t>
            </a:r>
            <a:endParaRPr sz="10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Yours sincerely </a:t>
            </a:r>
            <a:endParaRPr sz="10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cc list Consultant </a:t>
            </a:r>
            <a:endParaRPr sz="10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21"/>
          <p:cNvSpPr txBox="1"/>
          <p:nvPr/>
        </p:nvSpPr>
        <p:spPr>
          <a:xfrm>
            <a:off x="6339000" y="985234"/>
            <a:ext cx="5447200" cy="533504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i="1"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1"/>
          <p:cNvSpPr/>
          <p:nvPr/>
        </p:nvSpPr>
        <p:spPr>
          <a:xfrm rot="5400000">
            <a:off x="8711967" y="3852700"/>
            <a:ext cx="238800" cy="429200"/>
          </a:xfrm>
          <a:prstGeom prst="bentArrow">
            <a:avLst>
              <a:gd fmla="val 25000" name="adj1"/>
              <a:gd fmla="val 25000" name="adj2"/>
              <a:gd fmla="val 25000" name="adj3"/>
              <a:gd fmla="val 38803" name="adj4"/>
            </a:avLst>
          </a:prstGeom>
          <a:solidFill>
            <a:srgbClr val="4472C4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3" name="Google Shape;1283;p21"/>
          <p:cNvGraphicFramePr/>
          <p:nvPr/>
        </p:nvGraphicFramePr>
        <p:xfrm>
          <a:off x="6283200" y="421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{4341B6BF-086A-490F-9F44-55C47A062FF5}</a:tableStyleId>
              </a:tblPr>
              <a:tblGrid>
                <a:gridCol w="2662175"/>
                <a:gridCol w="2896625"/>
              </a:tblGrid>
              <a:tr h="75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 and Symptoms : </a:t>
                      </a:r>
                      <a:r>
                        <a:rPr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Moderately fast regular palpitations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Diagnosis :</a:t>
                      </a:r>
                      <a:r>
                        <a:rPr b="1"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elevated TSH , normal free thyroxine , first degree heart block 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atrial tachycardia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Medication Ongoing </a:t>
                      </a:r>
                      <a:r>
                        <a:rPr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r>
                        <a:rPr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amlodipine 5mg daily, simvastatin and calcium supplements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Procedure Suggested :</a:t>
                      </a:r>
                      <a:r>
                        <a:rPr b="1"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echocardiogram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Procedure </a:t>
                      </a:r>
                      <a:r>
                        <a:rPr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r>
                        <a:rPr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thyroid function tests, ECG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Medication Suggested :</a:t>
                      </a:r>
                      <a:r>
                        <a:rPr lang="en" sz="1100" u="none" cap="none" strike="noStrike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bisoprolol 1.25 mg daily 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84" name="Google Shape;12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867" y="2457567"/>
            <a:ext cx="5558800" cy="3095133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21"/>
          <p:cNvSpPr txBox="1"/>
          <p:nvPr/>
        </p:nvSpPr>
        <p:spPr>
          <a:xfrm>
            <a:off x="458133" y="5609600"/>
            <a:ext cx="54472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</a:t>
            </a: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Mediterm Extraction Solution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2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Entity and Intent Detection for Nursing Notes using NLP   </a:t>
            </a:r>
            <a:endParaRPr/>
          </a:p>
        </p:txBody>
      </p:sp>
      <p:sp>
        <p:nvSpPr>
          <p:cNvPr id="1291" name="Google Shape;1291;p22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92" name="Google Shape;1292;p22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293" name="Google Shape;1293;p22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94" name="Google Shape;1294;p22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95" name="Google Shape;1295;p22"/>
          <p:cNvSpPr/>
          <p:nvPr/>
        </p:nvSpPr>
        <p:spPr>
          <a:xfrm>
            <a:off x="140733" y="805833"/>
            <a:ext cx="11894800" cy="5478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22"/>
          <p:cNvSpPr txBox="1"/>
          <p:nvPr/>
        </p:nvSpPr>
        <p:spPr>
          <a:xfrm>
            <a:off x="140733" y="784600"/>
            <a:ext cx="11894800" cy="53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Objective :</a:t>
            </a:r>
            <a:r>
              <a:rPr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Create a model than can generate entity and intent at par with human expert</a:t>
            </a:r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7" name="Google Shape;1297;p22"/>
          <p:cNvGrpSpPr/>
          <p:nvPr/>
        </p:nvGrpSpPr>
        <p:grpSpPr>
          <a:xfrm>
            <a:off x="665729" y="2287577"/>
            <a:ext cx="3816591" cy="3909307"/>
            <a:chOff x="2820225" y="891450"/>
            <a:chExt cx="3175200" cy="3175200"/>
          </a:xfrm>
        </p:grpSpPr>
        <p:sp>
          <p:nvSpPr>
            <p:cNvPr id="1298" name="Google Shape;1298;p22"/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fmla="val 5399801" name="adj1"/>
                <a:gd fmla="val 3012680" name="adj2"/>
                <a:gd fmla="val 6939" name="adj3"/>
              </a:avLst>
            </a:prstGeom>
            <a:solidFill>
              <a:srgbClr val="A1C3F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2"/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A1C3F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0" name="Google Shape;1300;p22"/>
          <p:cNvGrpSpPr/>
          <p:nvPr/>
        </p:nvGrpSpPr>
        <p:grpSpPr>
          <a:xfrm>
            <a:off x="3442528" y="4172821"/>
            <a:ext cx="1601424" cy="1126179"/>
            <a:chOff x="5130375" y="2422675"/>
            <a:chExt cx="1332300" cy="914700"/>
          </a:xfrm>
        </p:grpSpPr>
        <p:sp>
          <p:nvSpPr>
            <p:cNvPr id="1301" name="Google Shape;1301;p22"/>
            <p:cNvSpPr/>
            <p:nvPr/>
          </p:nvSpPr>
          <p:spPr>
            <a:xfrm>
              <a:off x="5130375" y="2707675"/>
              <a:ext cx="1332300" cy="6297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6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Each Sentence is traverse through High level models followed by Sub-level models</a:t>
              </a:r>
              <a:endParaRPr i="1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2"/>
            <p:cNvSpPr/>
            <p:nvPr/>
          </p:nvSpPr>
          <p:spPr>
            <a:xfrm>
              <a:off x="5130375" y="2422675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06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Two-level Approach</a:t>
              </a:r>
              <a:endParaRPr b="1" i="1" sz="10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3" name="Google Shape;1303;p22"/>
          <p:cNvGrpSpPr/>
          <p:nvPr/>
        </p:nvGrpSpPr>
        <p:grpSpPr>
          <a:xfrm>
            <a:off x="1841104" y="2063252"/>
            <a:ext cx="1601424" cy="1126179"/>
            <a:chOff x="3798075" y="709250"/>
            <a:chExt cx="1332300" cy="914700"/>
          </a:xfrm>
        </p:grpSpPr>
        <p:sp>
          <p:nvSpPr>
            <p:cNvPr id="1304" name="Google Shape;1304;p22"/>
            <p:cNvSpPr/>
            <p:nvPr/>
          </p:nvSpPr>
          <p:spPr>
            <a:xfrm>
              <a:off x="3798075" y="994250"/>
              <a:ext cx="1332300" cy="6297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6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Leveraging multiple NLP frameworks for smart detection</a:t>
              </a:r>
              <a:endParaRPr i="1"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2"/>
            <p:cNvSpPr/>
            <p:nvPr/>
          </p:nvSpPr>
          <p:spPr>
            <a:xfrm>
              <a:off x="3798075" y="709250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06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AI/ ML Driven</a:t>
              </a:r>
              <a:endParaRPr b="1" i="1" sz="10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6" name="Google Shape;1306;p22"/>
          <p:cNvGrpSpPr/>
          <p:nvPr/>
        </p:nvGrpSpPr>
        <p:grpSpPr>
          <a:xfrm>
            <a:off x="239680" y="4172821"/>
            <a:ext cx="1601424" cy="1126179"/>
            <a:chOff x="2465775" y="2422675"/>
            <a:chExt cx="1332300" cy="914700"/>
          </a:xfrm>
        </p:grpSpPr>
        <p:sp>
          <p:nvSpPr>
            <p:cNvPr id="1307" name="Google Shape;1307;p22"/>
            <p:cNvSpPr/>
            <p:nvPr/>
          </p:nvSpPr>
          <p:spPr>
            <a:xfrm>
              <a:off x="2465775" y="2707675"/>
              <a:ext cx="1332300" cy="6297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Easily scalable and can be modified to support multilingual input</a:t>
              </a:r>
              <a:endParaRPr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2"/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6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Multi-Lingual support</a:t>
              </a:r>
              <a:endParaRPr b="1" sz="10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9" name="Google Shape;1309;p22"/>
          <p:cNvSpPr txBox="1"/>
          <p:nvPr/>
        </p:nvSpPr>
        <p:spPr>
          <a:xfrm>
            <a:off x="728700" y="3430700"/>
            <a:ext cx="3685200" cy="1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endParaRPr b="1" sz="26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1" sz="26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2"/>
          <p:cNvSpPr/>
          <p:nvPr/>
        </p:nvSpPr>
        <p:spPr>
          <a:xfrm>
            <a:off x="5423800" y="1516100"/>
            <a:ext cx="6390800" cy="79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2"/>
          <p:cNvSpPr/>
          <p:nvPr/>
        </p:nvSpPr>
        <p:spPr>
          <a:xfrm>
            <a:off x="5423633" y="2735300"/>
            <a:ext cx="6390800" cy="79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2"/>
          <p:cNvSpPr/>
          <p:nvPr/>
        </p:nvSpPr>
        <p:spPr>
          <a:xfrm>
            <a:off x="5423633" y="3954500"/>
            <a:ext cx="6390800" cy="79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2"/>
          <p:cNvSpPr/>
          <p:nvPr/>
        </p:nvSpPr>
        <p:spPr>
          <a:xfrm>
            <a:off x="8505233" y="2314900"/>
            <a:ext cx="227600" cy="42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2"/>
          <p:cNvSpPr/>
          <p:nvPr/>
        </p:nvSpPr>
        <p:spPr>
          <a:xfrm>
            <a:off x="8505400" y="3524017"/>
            <a:ext cx="227600" cy="42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2"/>
          <p:cNvSpPr txBox="1"/>
          <p:nvPr/>
        </p:nvSpPr>
        <p:spPr>
          <a:xfrm>
            <a:off x="5503033" y="1497951"/>
            <a:ext cx="6232000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Can’t raise left upper limb, but right upper limb is okey. Both lower limb don’t perform default action.</a:t>
            </a:r>
            <a:endParaRPr sz="1600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22"/>
          <p:cNvSpPr txBox="1"/>
          <p:nvPr/>
        </p:nvSpPr>
        <p:spPr>
          <a:xfrm>
            <a:off x="5400300" y="2633700"/>
            <a:ext cx="6390800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can not raise left upper limb.</a:t>
            </a:r>
            <a:endParaRPr sz="16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right upper limb is okey. </a:t>
            </a:r>
            <a:endParaRPr sz="16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both lower limb do not perform default action.</a:t>
            </a:r>
            <a:endParaRPr sz="16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2"/>
          <p:cNvSpPr txBox="1"/>
          <p:nvPr/>
        </p:nvSpPr>
        <p:spPr>
          <a:xfrm>
            <a:off x="5405667" y="3829434"/>
            <a:ext cx="6086400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not raise </a:t>
            </a:r>
            <a:r>
              <a:rPr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left upper limb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: Intent -&gt; paralyzed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right upper limb</a:t>
            </a:r>
            <a:r>
              <a:rPr lang="en" sz="1600">
                <a:solidFill>
                  <a:srgbClr val="FFD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okey. </a:t>
            </a:r>
            <a:r>
              <a:rPr lang="en" sz="1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: Intent -&gt; not paralyzed</a:t>
            </a:r>
            <a:endParaRPr sz="16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both lower limb</a:t>
            </a:r>
            <a:r>
              <a:rPr lang="en" sz="1600">
                <a:solidFill>
                  <a:srgbClr val="FFD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not perform default action. 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Intent -&gt; paralyzed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2"/>
          <p:cNvSpPr txBox="1"/>
          <p:nvPr/>
        </p:nvSpPr>
        <p:spPr>
          <a:xfrm>
            <a:off x="5309967" y="4750400"/>
            <a:ext cx="66444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 u="sng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Results and Outcomes</a:t>
            </a:r>
            <a:endParaRPr b="1" i="1" sz="1733" u="sng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Calibri"/>
              <a:buChar char="●"/>
            </a:pP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AlgoAnalytics model </a:t>
            </a: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results are at par with IBM Watson results</a:t>
            </a:r>
            <a:endParaRPr b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Calibri"/>
              <a:buChar char="●"/>
            </a:pP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The model was able to</a:t>
            </a: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detect additional relevant entities, which were either not mentioned or missed in the list by human expert</a:t>
            </a:r>
            <a:endParaRPr b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2"/>
          <p:cNvSpPr txBox="1"/>
          <p:nvPr/>
        </p:nvSpPr>
        <p:spPr>
          <a:xfrm>
            <a:off x="304800" y="1422400"/>
            <a:ext cx="4992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Client: Research project with NTT Data Japan</a:t>
            </a:r>
            <a:endParaRPr b="1"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2"/>
          <p:cNvSpPr txBox="1"/>
          <p:nvPr/>
        </p:nvSpPr>
        <p:spPr>
          <a:xfrm>
            <a:off x="8712667" y="2425500"/>
            <a:ext cx="25612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Text Processing</a:t>
            </a:r>
            <a:endParaRPr b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22"/>
          <p:cNvSpPr txBox="1"/>
          <p:nvPr/>
        </p:nvSpPr>
        <p:spPr>
          <a:xfrm>
            <a:off x="8712667" y="3624567"/>
            <a:ext cx="25612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Entity Recognition </a:t>
            </a:r>
            <a:endParaRPr b="1" sz="14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Intent Detection</a:t>
            </a:r>
            <a:endParaRPr b="1" sz="14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23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Pathology Lab Report Parsing using NLP</a:t>
            </a:r>
            <a:endParaRPr/>
          </a:p>
        </p:txBody>
      </p:sp>
      <p:sp>
        <p:nvSpPr>
          <p:cNvPr id="1327" name="Google Shape;1327;p23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28" name="Google Shape;1328;p23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329" name="Google Shape;1329;p23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30" name="Google Shape;1330;p23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31" name="Google Shape;1331;p23"/>
          <p:cNvSpPr/>
          <p:nvPr/>
        </p:nvSpPr>
        <p:spPr>
          <a:xfrm>
            <a:off x="140733" y="805833"/>
            <a:ext cx="11894800" cy="5478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23"/>
          <p:cNvSpPr txBox="1"/>
          <p:nvPr/>
        </p:nvSpPr>
        <p:spPr>
          <a:xfrm>
            <a:off x="140733" y="805834"/>
            <a:ext cx="11894800" cy="5335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Objective :</a:t>
            </a:r>
            <a:r>
              <a:rPr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Extract relevant details from pathology lab reports </a:t>
            </a:r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3"/>
          <p:cNvSpPr/>
          <p:nvPr/>
        </p:nvSpPr>
        <p:spPr>
          <a:xfrm>
            <a:off x="389000" y="3665851"/>
            <a:ext cx="3033112" cy="106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Stage 1 : Identifying Terms and Patterns (Unsupervised Learning)</a:t>
            </a:r>
            <a:endParaRPr b="1"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3"/>
          <p:cNvSpPr/>
          <p:nvPr/>
        </p:nvSpPr>
        <p:spPr>
          <a:xfrm>
            <a:off x="389000" y="2212833"/>
            <a:ext cx="3033112" cy="106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Pathology Lab Reports </a:t>
            </a:r>
            <a:endParaRPr b="1"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23"/>
          <p:cNvSpPr/>
          <p:nvPr/>
        </p:nvSpPr>
        <p:spPr>
          <a:xfrm>
            <a:off x="389000" y="5118900"/>
            <a:ext cx="3033112" cy="106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Stage 2 : Classification of Text into specific Categories</a:t>
            </a:r>
            <a:endParaRPr b="1"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(Supervised Learning)</a:t>
            </a:r>
            <a:endParaRPr b="1"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6" name="Google Shape;1336;p23"/>
          <p:cNvCxnSpPr>
            <a:stCxn id="1334" idx="2"/>
            <a:endCxn id="1333" idx="0"/>
          </p:cNvCxnSpPr>
          <p:nvPr/>
        </p:nvCxnSpPr>
        <p:spPr>
          <a:xfrm>
            <a:off x="1905556" y="3280033"/>
            <a:ext cx="0" cy="3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7" name="Google Shape;1337;p23"/>
          <p:cNvCxnSpPr>
            <a:stCxn id="1333" idx="2"/>
            <a:endCxn id="1335" idx="0"/>
          </p:cNvCxnSpPr>
          <p:nvPr/>
        </p:nvCxnSpPr>
        <p:spPr>
          <a:xfrm>
            <a:off x="1905556" y="4733051"/>
            <a:ext cx="0" cy="3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8" name="Google Shape;1338;p23"/>
          <p:cNvSpPr txBox="1"/>
          <p:nvPr/>
        </p:nvSpPr>
        <p:spPr>
          <a:xfrm>
            <a:off x="287400" y="1362734"/>
            <a:ext cx="11638800" cy="820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The lab report parsing extracts the unstructured data from pathology lab reports and translate to structured data which is useful for downstream applications</a:t>
            </a:r>
            <a:endParaRPr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3"/>
          <p:cNvSpPr txBox="1"/>
          <p:nvPr/>
        </p:nvSpPr>
        <p:spPr>
          <a:xfrm>
            <a:off x="5009167" y="5800567"/>
            <a:ext cx="68156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</a:t>
            </a:r>
            <a:r>
              <a:rPr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Pathology Lab Parsing</a:t>
            </a:r>
            <a:endParaRPr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0" name="Google Shape;1340;p23"/>
          <p:cNvGrpSpPr/>
          <p:nvPr/>
        </p:nvGrpSpPr>
        <p:grpSpPr>
          <a:xfrm>
            <a:off x="7491800" y="2121690"/>
            <a:ext cx="4311200" cy="3760613"/>
            <a:chOff x="5618850" y="1591267"/>
            <a:chExt cx="3233400" cy="2820460"/>
          </a:xfrm>
        </p:grpSpPr>
        <p:grpSp>
          <p:nvGrpSpPr>
            <p:cNvPr id="1341" name="Google Shape;1341;p23"/>
            <p:cNvGrpSpPr/>
            <p:nvPr/>
          </p:nvGrpSpPr>
          <p:grpSpPr>
            <a:xfrm>
              <a:off x="5618850" y="1591267"/>
              <a:ext cx="3233400" cy="2812141"/>
              <a:chOff x="2961500" y="961400"/>
              <a:chExt cx="3221100" cy="3220500"/>
            </a:xfrm>
          </p:grpSpPr>
          <p:sp>
            <p:nvSpPr>
              <p:cNvPr id="1342" name="Google Shape;1342;p23"/>
              <p:cNvSpPr/>
              <p:nvPr/>
            </p:nvSpPr>
            <p:spPr>
              <a:xfrm>
                <a:off x="2961500" y="961400"/>
                <a:ext cx="3221100" cy="3220500"/>
              </a:xfrm>
              <a:prstGeom prst="ellipse">
                <a:avLst/>
              </a:prstGeom>
              <a:solidFill>
                <a:srgbClr val="0944A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23"/>
              <p:cNvSpPr txBox="1"/>
              <p:nvPr/>
            </p:nvSpPr>
            <p:spPr>
              <a:xfrm>
                <a:off x="3782900" y="1200950"/>
                <a:ext cx="15780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3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Better Patient Management for hospitals and medical agencies </a:t>
                </a:r>
                <a:endParaRPr sz="13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344" name="Google Shape;1344;p23"/>
            <p:cNvGrpSpPr/>
            <p:nvPr/>
          </p:nvGrpSpPr>
          <p:grpSpPr>
            <a:xfrm>
              <a:off x="6048066" y="2367915"/>
              <a:ext cx="2349537" cy="2043812"/>
              <a:chOff x="3401686" y="1841492"/>
              <a:chExt cx="2340600" cy="2340600"/>
            </a:xfrm>
          </p:grpSpPr>
          <p:sp>
            <p:nvSpPr>
              <p:cNvPr id="1345" name="Google Shape;1345;p23"/>
              <p:cNvSpPr/>
              <p:nvPr/>
            </p:nvSpPr>
            <p:spPr>
              <a:xfrm>
                <a:off x="3401686" y="1841492"/>
                <a:ext cx="2340600" cy="2340600"/>
              </a:xfrm>
              <a:prstGeom prst="ellipse">
                <a:avLst/>
              </a:prstGeom>
              <a:solidFill>
                <a:srgbClr val="0D5DDF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23"/>
              <p:cNvSpPr txBox="1"/>
              <p:nvPr/>
            </p:nvSpPr>
            <p:spPr>
              <a:xfrm>
                <a:off x="3833274" y="2126800"/>
                <a:ext cx="1477200" cy="53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3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Effective Patient Care </a:t>
                </a:r>
                <a:endParaRPr sz="13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347" name="Google Shape;1347;p23"/>
            <p:cNvGrpSpPr/>
            <p:nvPr/>
          </p:nvGrpSpPr>
          <p:grpSpPr>
            <a:xfrm>
              <a:off x="6443387" y="3098532"/>
              <a:ext cx="1482539" cy="1289891"/>
              <a:chOff x="3833620" y="2704915"/>
              <a:chExt cx="1476900" cy="1477200"/>
            </a:xfrm>
          </p:grpSpPr>
          <p:sp>
            <p:nvSpPr>
              <p:cNvPr id="1348" name="Google Shape;1348;p23"/>
              <p:cNvSpPr/>
              <p:nvPr/>
            </p:nvSpPr>
            <p:spPr>
              <a:xfrm>
                <a:off x="3833620" y="2704915"/>
                <a:ext cx="1476900" cy="1477200"/>
              </a:xfrm>
              <a:prstGeom prst="ellipse">
                <a:avLst/>
              </a:prstGeom>
              <a:solidFill>
                <a:srgbClr val="307BF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23"/>
              <p:cNvSpPr txBox="1"/>
              <p:nvPr/>
            </p:nvSpPr>
            <p:spPr>
              <a:xfrm>
                <a:off x="3957047" y="3143188"/>
                <a:ext cx="1230000" cy="6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3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Creating and Compiling Patient Record</a:t>
                </a:r>
                <a:endParaRPr sz="13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1350" name="Google Shape;13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9036" y="2619493"/>
            <a:ext cx="3681368" cy="27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24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Discharge Summary using NLP</a:t>
            </a:r>
            <a:endParaRPr/>
          </a:p>
        </p:txBody>
      </p:sp>
      <p:sp>
        <p:nvSpPr>
          <p:cNvPr id="1356" name="Google Shape;1356;p24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57" name="Google Shape;1357;p24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358" name="Google Shape;1358;p24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59" name="Google Shape;1359;p24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60" name="Google Shape;1360;p24"/>
          <p:cNvSpPr/>
          <p:nvPr/>
        </p:nvSpPr>
        <p:spPr>
          <a:xfrm>
            <a:off x="140733" y="805833"/>
            <a:ext cx="11894800" cy="5478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24"/>
          <p:cNvSpPr txBox="1"/>
          <p:nvPr/>
        </p:nvSpPr>
        <p:spPr>
          <a:xfrm>
            <a:off x="140733" y="805834"/>
            <a:ext cx="11894800" cy="5335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Objective :</a:t>
            </a:r>
            <a:r>
              <a:rPr lang="en"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Automate Discharge summary using information extraction approach</a:t>
            </a:r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2" name="Google Shape;1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9701" y="1954967"/>
            <a:ext cx="7184868" cy="38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24"/>
          <p:cNvSpPr txBox="1"/>
          <p:nvPr/>
        </p:nvSpPr>
        <p:spPr>
          <a:xfrm>
            <a:off x="80567" y="1280233"/>
            <a:ext cx="11894800" cy="1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Leveraging the power of AI to not only extract relevant information but also identify insights from the categorized text</a:t>
            </a:r>
            <a:endParaRPr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24"/>
          <p:cNvSpPr txBox="1"/>
          <p:nvPr/>
        </p:nvSpPr>
        <p:spPr>
          <a:xfrm>
            <a:off x="319033" y="4070134"/>
            <a:ext cx="4210400" cy="1782563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Color coding scheme for the Generated Discharge Summary:</a:t>
            </a:r>
            <a:endParaRPr sz="13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92" lvl="1" marL="745048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Calibri"/>
              <a:buAutoNum type="alphaLcPeriod"/>
            </a:pPr>
            <a:r>
              <a:rPr b="0" i="0" lang="en" sz="1333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Green Color</a:t>
            </a:r>
            <a:r>
              <a:rPr b="0" i="0" lang="en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b="0" i="0" lang="en" sz="13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 Able to find data from data source</a:t>
            </a:r>
            <a:endParaRPr b="0" i="0" sz="1333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92" lvl="1" marL="745048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AutoNum type="alphaLcPeriod"/>
            </a:pPr>
            <a:r>
              <a:rPr b="0" i="0" lang="en" sz="1333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Color</a:t>
            </a:r>
            <a:r>
              <a:rPr b="0" i="0" lang="en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b="0" i="0" lang="en" sz="13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Not able to find data from data source</a:t>
            </a:r>
            <a:endParaRPr b="0" i="0" sz="1333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92" lvl="1" marL="745048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Calibri"/>
              <a:buAutoNum type="alphaLcPeriod"/>
            </a:pPr>
            <a:r>
              <a:rPr b="0" i="0" lang="en" sz="1333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Blue Color </a:t>
            </a:r>
            <a:r>
              <a:rPr b="0" i="0" lang="en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333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Need to be filled by doctor</a:t>
            </a:r>
            <a:endParaRPr b="0" i="0" sz="1333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4"/>
          <p:cNvSpPr txBox="1"/>
          <p:nvPr/>
        </p:nvSpPr>
        <p:spPr>
          <a:xfrm>
            <a:off x="328100" y="1954967"/>
            <a:ext cx="4210400" cy="19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Multiple reports are taken as input fields for generating discharge summary</a:t>
            </a:r>
            <a:endParaRPr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28785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•"/>
            </a:pPr>
            <a:r>
              <a:rPr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CLINICAL_NOTE</a:t>
            </a:r>
            <a:endParaRPr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28785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•"/>
            </a:pPr>
            <a:r>
              <a:rPr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OPERATIVE_REPORT</a:t>
            </a:r>
            <a:endParaRPr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28785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•"/>
            </a:pPr>
            <a:r>
              <a:rPr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PATHOLOGY INVESTIGATION REPORT</a:t>
            </a:r>
            <a:endParaRPr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859" lvl="0" marL="287859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Arial"/>
              <a:buChar char="•"/>
            </a:pPr>
            <a:r>
              <a:rPr i="1" lang="en" sz="1733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RADIOLOGY INVESTIGATION REPORT</a:t>
            </a:r>
            <a:endParaRPr i="1" sz="1733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4"/>
          <p:cNvSpPr txBox="1"/>
          <p:nvPr/>
        </p:nvSpPr>
        <p:spPr>
          <a:xfrm>
            <a:off x="344333" y="5867700"/>
            <a:ext cx="11468000" cy="3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</a:t>
            </a: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Discharge Summary Application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5"/>
          <p:cNvSpPr txBox="1"/>
          <p:nvPr>
            <p:ph idx="1" type="body"/>
          </p:nvPr>
        </p:nvSpPr>
        <p:spPr>
          <a:xfrm>
            <a:off x="1" y="-129"/>
            <a:ext cx="12192000" cy="792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None/>
            </a:pPr>
            <a:r>
              <a:rPr lang="en" sz="2300">
                <a:latin typeface="Calibri"/>
                <a:ea typeface="Calibri"/>
                <a:cs typeface="Calibri"/>
                <a:sym typeface="Calibri"/>
              </a:rPr>
              <a:t>Patient Condition Prediction – Early Warning System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2" name="Google Shape;1372;p25"/>
          <p:cNvGraphicFramePr/>
          <p:nvPr/>
        </p:nvGraphicFramePr>
        <p:xfrm>
          <a:off x="1" y="792477"/>
          <a:ext cx="4186237" cy="3738422"/>
        </p:xfrm>
        <a:graphic>
          <a:graphicData uri="http://schemas.openxmlformats.org/presentationml/2006/ole">
            <mc:AlternateContent>
              <mc:Choice Requires="v">
                <p:oleObj r:id="rId4" imgH="3738422" imgW="4186237" progId="AcroExch.Document.DC" spid="_x0000_s1">
                  <p:embed/>
                </p:oleObj>
              </mc:Choice>
              <mc:Fallback>
                <p:oleObj r:id="rId5" imgH="3738422" imgW="4186237" progId="AcroExch.Document.DC">
                  <p:embed/>
                  <p:pic>
                    <p:nvPicPr>
                      <p:cNvPr id="1372" name="Google Shape;1372;p2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" y="792477"/>
                        <a:ext cx="4186237" cy="3738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73" name="Google Shape;137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03767" y="2377440"/>
            <a:ext cx="6131181" cy="26652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25"/>
          <p:cNvSpPr/>
          <p:nvPr/>
        </p:nvSpPr>
        <p:spPr>
          <a:xfrm>
            <a:off x="4186237" y="3488387"/>
            <a:ext cx="878307" cy="4433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TO-BE</a:t>
            </a:r>
            <a:endParaRPr/>
          </a:p>
        </p:txBody>
      </p:sp>
      <p:grpSp>
        <p:nvGrpSpPr>
          <p:cNvPr id="1375" name="Google Shape;1375;p25"/>
          <p:cNvGrpSpPr/>
          <p:nvPr/>
        </p:nvGrpSpPr>
        <p:grpSpPr>
          <a:xfrm>
            <a:off x="403694" y="5042829"/>
            <a:ext cx="11384612" cy="1313371"/>
            <a:chOff x="229722" y="147"/>
            <a:chExt cx="11384612" cy="1313371"/>
          </a:xfrm>
        </p:grpSpPr>
        <p:sp>
          <p:nvSpPr>
            <p:cNvPr id="1376" name="Google Shape;1376;p25"/>
            <p:cNvSpPr/>
            <p:nvPr/>
          </p:nvSpPr>
          <p:spPr>
            <a:xfrm>
              <a:off x="229722" y="147"/>
              <a:ext cx="3648940" cy="131337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5"/>
            <p:cNvSpPr txBox="1"/>
            <p:nvPr/>
          </p:nvSpPr>
          <p:spPr>
            <a:xfrm>
              <a:off x="229722" y="147"/>
              <a:ext cx="3648940" cy="1313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NEWS tends to give many false alarms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NEWS may not generate alarm until rapid deterioration is observed</a:t>
              </a:r>
              <a:endParaRPr/>
            </a:p>
          </p:txBody>
        </p:sp>
        <p:sp>
          <p:nvSpPr>
            <p:cNvPr id="1378" name="Google Shape;1378;p25"/>
            <p:cNvSpPr/>
            <p:nvPr/>
          </p:nvSpPr>
          <p:spPr>
            <a:xfrm>
              <a:off x="4097558" y="147"/>
              <a:ext cx="3648940" cy="1313371"/>
            </a:xfrm>
            <a:prstGeom prst="rect">
              <a:avLst/>
            </a:prstGeom>
            <a:solidFill>
              <a:srgbClr val="C47F6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5"/>
            <p:cNvSpPr txBox="1"/>
            <p:nvPr/>
          </p:nvSpPr>
          <p:spPr>
            <a:xfrm>
              <a:off x="4097558" y="147"/>
              <a:ext cx="3648940" cy="1313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predictive system, than detective system, based on physiological measurements of hospital inpatients</a:t>
              </a:r>
              <a:endParaRPr/>
            </a:p>
          </p:txBody>
        </p:sp>
        <p:sp>
          <p:nvSpPr>
            <p:cNvPr id="1380" name="Google Shape;1380;p25"/>
            <p:cNvSpPr/>
            <p:nvPr/>
          </p:nvSpPr>
          <p:spPr>
            <a:xfrm>
              <a:off x="7965394" y="147"/>
              <a:ext cx="3648940" cy="1313371"/>
            </a:xfrm>
            <a:prstGeom prst="rect">
              <a:avLst/>
            </a:prstGeom>
            <a:solidFill>
              <a:srgbClr val="A4A4A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5"/>
            <p:cNvSpPr txBox="1"/>
            <p:nvPr/>
          </p:nvSpPr>
          <p:spPr>
            <a:xfrm>
              <a:off x="7965394" y="147"/>
              <a:ext cx="3648940" cy="1313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Clinical: Prediction of medical condition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Operation: Generation of timely alerts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Research: Patient segmentation based on the patterns observed/emerged</a:t>
              </a:r>
              <a:endParaRPr/>
            </a:p>
          </p:txBody>
        </p:sp>
      </p:grpSp>
      <p:sp>
        <p:nvSpPr>
          <p:cNvPr id="1382" name="Google Shape;1382;p25"/>
          <p:cNvSpPr/>
          <p:nvPr/>
        </p:nvSpPr>
        <p:spPr>
          <a:xfrm>
            <a:off x="4186237" y="1288470"/>
            <a:ext cx="878307" cy="4433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AS-IS</a:t>
            </a:r>
            <a:endParaRPr/>
          </a:p>
        </p:txBody>
      </p:sp>
      <p:grpSp>
        <p:nvGrpSpPr>
          <p:cNvPr id="1383" name="Google Shape;1383;p25"/>
          <p:cNvGrpSpPr/>
          <p:nvPr/>
        </p:nvGrpSpPr>
        <p:grpSpPr>
          <a:xfrm>
            <a:off x="5203767" y="792476"/>
            <a:ext cx="6814261" cy="1435334"/>
            <a:chOff x="0" y="0"/>
            <a:chExt cx="6814261" cy="1435334"/>
          </a:xfrm>
        </p:grpSpPr>
        <p:cxnSp>
          <p:nvCxnSpPr>
            <p:cNvPr id="1384" name="Google Shape;1384;p25"/>
            <p:cNvCxnSpPr/>
            <p:nvPr/>
          </p:nvCxnSpPr>
          <p:spPr>
            <a:xfrm>
              <a:off x="0" y="478397"/>
              <a:ext cx="6814261" cy="0"/>
            </a:xfrm>
            <a:prstGeom prst="straightConnector1">
              <a:avLst/>
            </a:prstGeom>
            <a:noFill/>
            <a:ln cap="flat" cmpd="sng" w="25400">
              <a:solidFill>
                <a:srgbClr val="345A9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5" name="Google Shape;1385;p25"/>
            <p:cNvSpPr/>
            <p:nvPr/>
          </p:nvSpPr>
          <p:spPr>
            <a:xfrm>
              <a:off x="1771707" y="0"/>
              <a:ext cx="5042553" cy="478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5"/>
            <p:cNvSpPr txBox="1"/>
            <p:nvPr/>
          </p:nvSpPr>
          <p:spPr>
            <a:xfrm>
              <a:off x="1771707" y="0"/>
              <a:ext cx="5042553" cy="478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7625" lIns="47625" spcFirstLastPara="1" rIns="47625" wrap="square" tIns="4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1"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ational </a:t>
              </a:r>
              <a:r>
                <a:rPr b="1"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arly </a:t>
              </a:r>
              <a:r>
                <a:rPr b="1"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r>
                <a:rPr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arning </a:t>
              </a:r>
              <a:r>
                <a:rPr b="1"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ystem</a:t>
              </a:r>
              <a:endParaRPr/>
            </a:p>
          </p:txBody>
        </p:sp>
        <p:sp>
          <p:nvSpPr>
            <p:cNvPr id="1387" name="Google Shape;1387;p25"/>
            <p:cNvSpPr/>
            <p:nvPr/>
          </p:nvSpPr>
          <p:spPr>
            <a:xfrm>
              <a:off x="0" y="0"/>
              <a:ext cx="1771707" cy="478397"/>
            </a:xfrm>
            <a:prstGeom prst="round2SameRect">
              <a:avLst>
                <a:gd fmla="val 16670" name="adj1"/>
                <a:gd fmla="val 0" name="adj2"/>
              </a:avLst>
            </a:prstGeom>
            <a:solidFill>
              <a:srgbClr val="4372C3"/>
            </a:solidFill>
            <a:ln cap="flat" cmpd="sng" w="25400">
              <a:solidFill>
                <a:srgbClr val="4372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5"/>
            <p:cNvSpPr txBox="1"/>
            <p:nvPr/>
          </p:nvSpPr>
          <p:spPr>
            <a:xfrm>
              <a:off x="23358" y="23358"/>
              <a:ext cx="1724991" cy="455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NEWS</a:t>
              </a:r>
              <a:endParaRPr/>
            </a:p>
          </p:txBody>
        </p:sp>
        <p:sp>
          <p:nvSpPr>
            <p:cNvPr id="1389" name="Google Shape;1389;p25"/>
            <p:cNvSpPr/>
            <p:nvPr/>
          </p:nvSpPr>
          <p:spPr>
            <a:xfrm>
              <a:off x="0" y="478397"/>
              <a:ext cx="6814261" cy="95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5"/>
            <p:cNvSpPr txBox="1"/>
            <p:nvPr/>
          </p:nvSpPr>
          <p:spPr>
            <a:xfrm>
              <a:off x="0" y="478397"/>
              <a:ext cx="6814261" cy="956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Scoring system pertaining to patient medical condition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Based on the physiological parameters such as BP, RR, PR, O2S and TEMP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Magnitude of score depends on variation in parameter from the norm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Alert is generated based on the rules applied to aggregated score</a:t>
              </a:r>
              <a:endParaRPr/>
            </a:p>
          </p:txBody>
        </p:sp>
      </p:grpSp>
      <p:sp>
        <p:nvSpPr>
          <p:cNvPr id="1391" name="Google Shape;1391;p25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AlgoAnalytics Pvt. Ltd.</a:t>
            </a:r>
            <a:endParaRPr/>
          </a:p>
        </p:txBody>
      </p:sp>
      <p:sp>
        <p:nvSpPr>
          <p:cNvPr id="1392" name="Google Shape;139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Strictly Confidential</a:t>
            </a:r>
            <a:endParaRPr/>
          </a:p>
        </p:txBody>
      </p:sp>
      <p:sp>
        <p:nvSpPr>
          <p:cNvPr id="1393" name="Google Shape;139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26"/>
          <p:cNvSpPr txBox="1"/>
          <p:nvPr>
            <p:ph type="title"/>
          </p:nvPr>
        </p:nvSpPr>
        <p:spPr>
          <a:xfrm>
            <a:off x="80552" y="77740"/>
            <a:ext cx="12015600" cy="6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Patient Knowledge Graph </a:t>
            </a:r>
            <a:endParaRPr/>
          </a:p>
        </p:txBody>
      </p:sp>
      <p:sp>
        <p:nvSpPr>
          <p:cNvPr id="1399" name="Google Shape;1399;p26"/>
          <p:cNvSpPr txBox="1"/>
          <p:nvPr>
            <p:ph idx="11" type="ftr"/>
          </p:nvPr>
        </p:nvSpPr>
        <p:spPr>
          <a:xfrm>
            <a:off x="8712679" y="6356349"/>
            <a:ext cx="23984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© AlgoAnalytics .Pvt .Ltd | Page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0" name="Google Shape;1400;p26"/>
          <p:cNvSpPr txBox="1"/>
          <p:nvPr>
            <p:ph idx="12" type="sldNum"/>
          </p:nvPr>
        </p:nvSpPr>
        <p:spPr>
          <a:xfrm>
            <a:off x="10972800" y="6356351"/>
            <a:ext cx="3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401" name="Google Shape;1401;p26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AlgoAnalytics Pvt. Ltd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2" name="Google Shape;1402;p26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lang="en">
                <a:solidFill>
                  <a:srgbClr val="FFFFFF"/>
                </a:solidFill>
              </a:rPr>
              <a:t>Strictly Confidential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3" name="Google Shape;1403;p26"/>
          <p:cNvSpPr/>
          <p:nvPr/>
        </p:nvSpPr>
        <p:spPr>
          <a:xfrm>
            <a:off x="140733" y="680933"/>
            <a:ext cx="11894800" cy="5602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26"/>
          <p:cNvSpPr txBox="1"/>
          <p:nvPr/>
        </p:nvSpPr>
        <p:spPr>
          <a:xfrm>
            <a:off x="203200" y="711201"/>
            <a:ext cx="11712800" cy="137181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23323" lvl="0" marL="60958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Extract patient history and diagnosis from unstructured text to structured data </a:t>
            </a: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format viz. knowledge graph.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3323" lvl="0" marL="60958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Enables to </a:t>
            </a: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find the insights for individual patient </a:t>
            </a: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as well as </a:t>
            </a: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across patients through natural language queries.</a:t>
            </a:r>
            <a:endParaRPr b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5" name="Google Shape;14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934" y="1591068"/>
            <a:ext cx="4067068" cy="3770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5668" y="1597901"/>
            <a:ext cx="3860865" cy="3770665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26"/>
          <p:cNvSpPr txBox="1"/>
          <p:nvPr/>
        </p:nvSpPr>
        <p:spPr>
          <a:xfrm>
            <a:off x="311867" y="5361733"/>
            <a:ext cx="5581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Input : Multiple Medical documents </a:t>
            </a:r>
            <a:endParaRPr b="1" i="1" sz="16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(Diagnosis Details, Social History, Family History etc.) </a:t>
            </a:r>
            <a:endParaRPr b="1" i="1" sz="16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26"/>
          <p:cNvSpPr txBox="1"/>
          <p:nvPr/>
        </p:nvSpPr>
        <p:spPr>
          <a:xfrm>
            <a:off x="7595733" y="5361733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Knowledge Graph </a:t>
            </a:r>
            <a:endParaRPr b="1" i="1"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26"/>
          <p:cNvSpPr/>
          <p:nvPr/>
        </p:nvSpPr>
        <p:spPr>
          <a:xfrm>
            <a:off x="5287600" y="3132833"/>
            <a:ext cx="2189200" cy="3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26"/>
          <p:cNvSpPr txBox="1"/>
          <p:nvPr/>
        </p:nvSpPr>
        <p:spPr>
          <a:xfrm>
            <a:off x="344333" y="5926633"/>
            <a:ext cx="114680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Demo :</a:t>
            </a:r>
            <a:r>
              <a:rPr lang="en" sz="1867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67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Patient Knowledge Graph</a:t>
            </a:r>
            <a:endParaRPr sz="1867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416" name="Google Shape;1416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https://www.algoanalytics.com/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Onestop.ai</a:t>
            </a:r>
            <a:endParaRPr u="sng">
              <a:solidFill>
                <a:schemeClr val="hlink"/>
              </a:solidFill>
              <a:hlinkClick r:id="rId5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9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2020-05-20T11:36:27Z</dcterms:created>
  <dc:creator>Girish Patil</dc:creator>
</cp:coreProperties>
</file>